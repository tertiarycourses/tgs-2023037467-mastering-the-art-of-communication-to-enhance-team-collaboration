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rtiarycourses/TGS-2023037467-Mastering-the-Art-of-Communication-to-Enhance-Team-Collaborati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aDMtx5ivKK0"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eIho2S0ZahI"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hero-v10.png"/>
          <p:cNvPicPr>
            <a:picLocks noChangeAspect="1"/>
          </p:cNvPicPr>
          <p:nvPr/>
        </p:nvPicPr>
        <p:blipFill>
          <a:blip r:embed="rId2"/>
          <a:srcRect t="25" b="25"/>
          <a:stretch>
            <a:fillRect/>
          </a:stretch>
        </p:blipFill>
        <p:spPr>
          <a:xfrm>
            <a:off x="0" y="0"/>
            <a:ext cx="12191695" cy="6858000"/>
          </a:xfrm>
          <a:prstGeom prst="rect">
            <a:avLst/>
          </a:prstGeom>
        </p:spPr>
      </p:pic>
      <p:sp>
        <p:nvSpPr>
          <p:cNvPr id="4" name="Rectangle 3"/>
          <p:cNvSpPr/>
          <p:nvPr/>
        </p:nvSpPr>
        <p:spPr>
          <a:xfrm>
            <a:off x="0" y="0"/>
            <a:ext cx="6995160"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128016"/>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30352"/>
            <a:ext cx="5715000" cy="292608"/>
          </a:xfrm>
          <a:prstGeom prst="rect">
            <a:avLst/>
          </a:prstGeom>
          <a:noFill/>
        </p:spPr>
        <p:txBody>
          <a:bodyPr wrap="square" lIns="54864" rIns="54864" tIns="54864" bIns="54864" anchor="t">
            <a:spAutoFit/>
          </a:bodyPr>
          <a:lstStyle/>
          <a:p>
            <a:pPr algn="l"/>
            <a:r>
              <a:rPr sz="1000" b="1" i="0">
                <a:solidFill>
                  <a:srgbClr val="008C95"/>
                </a:solidFill>
                <a:latin typeface="Arial"/>
              </a:rPr>
              <a:t>WSQ | WORKPLACE COMMUNICATIONS</a:t>
            </a:r>
          </a:p>
        </p:txBody>
      </p:sp>
      <p:sp>
        <p:nvSpPr>
          <p:cNvPr id="7" name="TextBox 6"/>
          <p:cNvSpPr txBox="1"/>
          <p:nvPr/>
        </p:nvSpPr>
        <p:spPr>
          <a:xfrm>
            <a:off x="658368" y="1051560"/>
            <a:ext cx="5806440" cy="2057400"/>
          </a:xfrm>
          <a:prstGeom prst="rect">
            <a:avLst/>
          </a:prstGeom>
          <a:noFill/>
        </p:spPr>
        <p:txBody>
          <a:bodyPr wrap="square" lIns="54864" rIns="54864" tIns="54864" bIns="54864" anchor="t">
            <a:spAutoFit/>
          </a:bodyPr>
          <a:lstStyle/>
          <a:p>
            <a:pPr algn="l"/>
            <a:r>
              <a:rPr sz="3100" b="1" i="0">
                <a:solidFill>
                  <a:srgbClr val="0E2A47"/>
                </a:solidFill>
                <a:latin typeface="Arial"/>
              </a:rPr>
              <a:t>Mastering the Art of Communication to Enhance Team Collaboration and Customer Satisfaction</a:t>
            </a:r>
          </a:p>
        </p:txBody>
      </p:sp>
      <p:sp>
        <p:nvSpPr>
          <p:cNvPr id="8" name="TextBox 7"/>
          <p:cNvSpPr txBox="1"/>
          <p:nvPr/>
        </p:nvSpPr>
        <p:spPr>
          <a:xfrm>
            <a:off x="694944" y="3319272"/>
            <a:ext cx="5257800" cy="640080"/>
          </a:xfrm>
          <a:prstGeom prst="rect">
            <a:avLst/>
          </a:prstGeom>
          <a:noFill/>
        </p:spPr>
        <p:txBody>
          <a:bodyPr wrap="square" lIns="54864" rIns="54864" tIns="54864" bIns="54864" anchor="t">
            <a:spAutoFit/>
          </a:bodyPr>
          <a:lstStyle/>
          <a:p>
            <a:pPr algn="l"/>
            <a:r>
              <a:rPr sz="1700" b="0" i="1">
                <a:solidFill>
                  <a:srgbClr val="5C6677"/>
                </a:solidFill>
                <a:latin typeface="Arial"/>
              </a:rPr>
              <a:t>Turn every conversation into coordinated action—and every handoff into customer trust.</a:t>
            </a:r>
          </a:p>
        </p:txBody>
      </p:sp>
      <p:sp>
        <p:nvSpPr>
          <p:cNvPr id="9" name="TextBox 8"/>
          <p:cNvSpPr txBox="1"/>
          <p:nvPr/>
        </p:nvSpPr>
        <p:spPr>
          <a:xfrm>
            <a:off x="694944" y="4261104"/>
            <a:ext cx="5303520" cy="731520"/>
          </a:xfrm>
          <a:prstGeom prst="rect">
            <a:avLst/>
          </a:prstGeom>
          <a:noFill/>
        </p:spPr>
        <p:txBody>
          <a:bodyPr wrap="square" lIns="54864" rIns="54864" tIns="54864" bIns="54864" anchor="t">
            <a:spAutoFit/>
          </a:bodyPr>
          <a:lstStyle/>
          <a:p>
            <a:pPr algn="l"/>
            <a:r>
              <a:rPr sz="1200" b="0" i="0">
                <a:solidFill>
                  <a:srgbClr val="131B2A"/>
                </a:solidFill>
                <a:latin typeface="Arial"/>
              </a:rPr>
              <a:t>Course Code: TGS-2023037467
Trainer: Dr. Alfred Ang
Version v10.0 | 16 August 2026</a:t>
            </a:r>
          </a:p>
        </p:txBody>
      </p:sp>
      <p:sp>
        <p:nvSpPr>
          <p:cNvPr id="10" name="TextBox 9"/>
          <p:cNvSpPr txBox="1"/>
          <p:nvPr/>
        </p:nvSpPr>
        <p:spPr>
          <a:xfrm>
            <a:off x="694944" y="5696712"/>
            <a:ext cx="5349240" cy="548640"/>
          </a:xfrm>
          <a:prstGeom prst="rect">
            <a:avLst/>
          </a:prstGeom>
          <a:noFill/>
        </p:spPr>
        <p:txBody>
          <a:bodyPr wrap="square" lIns="54864" rIns="54864" tIns="54864" bIns="54864" anchor="t">
            <a:spAutoFit/>
          </a:bodyPr>
          <a:lstStyle/>
          <a:p>
            <a:pPr algn="l"/>
            <a:r>
              <a:rPr sz="1000" b="1" i="0">
                <a:solidFill>
                  <a:srgbClr val="0E2A47"/>
                </a:solidFill>
                <a:latin typeface="Arial"/>
              </a:rPr>
              <a:t>Tertiary Infotech Academy Pte Ltd | UEN 201200696W</a:t>
            </a:r>
          </a:p>
        </p:txBody>
      </p:sp>
      <p:sp>
        <p:nvSpPr>
          <p:cNvPr id="11" name="TextBox 1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2" name="TextBox 1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a:t>
            </a:r>
          </a:p>
        </p:txBody>
      </p:sp>
    </p:spTree>
  </p:cSld>
  <p:clrMapOvr>
    <a:masterClrMapping/>
  </p:clrMapOvr>
  <p:transition spd="slow">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658368"/>
            <a:ext cx="4480560" cy="365760"/>
          </a:xfrm>
          <a:prstGeom prst="rect">
            <a:avLst/>
          </a:prstGeom>
          <a:noFill/>
        </p:spPr>
        <p:txBody>
          <a:bodyPr wrap="square" lIns="54864" rIns="54864" tIns="54864" bIns="54864" anchor="t">
            <a:spAutoFit/>
          </a:bodyPr>
          <a:lstStyle/>
          <a:p>
            <a:pPr algn="l"/>
            <a:r>
              <a:rPr sz="1100" b="1" i="0">
                <a:solidFill>
                  <a:srgbClr val="6DDAD7"/>
                </a:solidFill>
                <a:latin typeface="Arial"/>
              </a:rPr>
              <a:t>SECTION 00</a:t>
            </a:r>
          </a:p>
        </p:txBody>
      </p:sp>
      <p:sp>
        <p:nvSpPr>
          <p:cNvPr id="4" name="TextBox 3"/>
          <p:cNvSpPr txBox="1"/>
          <p:nvPr/>
        </p:nvSpPr>
        <p:spPr>
          <a:xfrm>
            <a:off x="658368" y="1325880"/>
            <a:ext cx="5166360" cy="1965960"/>
          </a:xfrm>
          <a:prstGeom prst="rect">
            <a:avLst/>
          </a:prstGeom>
          <a:noFill/>
        </p:spPr>
        <p:txBody>
          <a:bodyPr wrap="square" lIns="54864" rIns="54864" tIns="54864" bIns="54864" anchor="t">
            <a:spAutoFit/>
          </a:bodyPr>
          <a:lstStyle/>
          <a:p>
            <a:pPr algn="l"/>
            <a:r>
              <a:rPr sz="3600" b="1" i="0">
                <a:solidFill>
                  <a:srgbClr val="FFFFFF"/>
                </a:solidFill>
                <a:latin typeface="Arial"/>
              </a:rPr>
              <a:t>Course Administration</a:t>
            </a:r>
          </a:p>
        </p:txBody>
      </p:sp>
      <p:sp>
        <p:nvSpPr>
          <p:cNvPr id="5" name="TextBox 4"/>
          <p:cNvSpPr txBox="1"/>
          <p:nvPr/>
        </p:nvSpPr>
        <p:spPr>
          <a:xfrm>
            <a:off x="685800" y="3675887"/>
            <a:ext cx="4937760" cy="960120"/>
          </a:xfrm>
          <a:prstGeom prst="rect">
            <a:avLst/>
          </a:prstGeom>
          <a:noFill/>
        </p:spPr>
        <p:txBody>
          <a:bodyPr wrap="square" lIns="54864" rIns="54864" tIns="54864" bIns="54864" anchor="t">
            <a:spAutoFit/>
          </a:bodyPr>
          <a:lstStyle/>
          <a:p>
            <a:pPr algn="l"/>
            <a:r>
              <a:rPr sz="1700" b="0" i="0">
                <a:solidFill>
                  <a:srgbClr val="D7E0EA"/>
                </a:solidFill>
                <a:latin typeface="Arial"/>
              </a:rPr>
              <a:t>Welcome | expectations | assessment | resources</a:t>
            </a:r>
          </a:p>
        </p:txBody>
      </p:sp>
      <p:sp>
        <p:nvSpPr>
          <p:cNvPr id="6" name="TextBox 5"/>
          <p:cNvSpPr txBox="1"/>
          <p:nvPr/>
        </p:nvSpPr>
        <p:spPr>
          <a:xfrm>
            <a:off x="685800" y="5175504"/>
            <a:ext cx="4983480" cy="640080"/>
          </a:xfrm>
          <a:prstGeom prst="rect">
            <a:avLst/>
          </a:prstGeom>
          <a:noFill/>
        </p:spPr>
        <p:txBody>
          <a:bodyPr wrap="square" lIns="54864" rIns="54864" tIns="54864" bIns="54864" anchor="t">
            <a:spAutoFit/>
          </a:bodyPr>
          <a:lstStyle/>
          <a:p>
            <a:pPr algn="l"/>
            <a:r>
              <a:rPr sz="1500" b="1" i="1">
                <a:solidFill>
                  <a:srgbClr val="6DDAD7"/>
                </a:solidFill>
                <a:latin typeface="Arial"/>
              </a:rPr>
              <a:t>The conversation is the work—make it observable, repeatable, and trustworthy.</a:t>
            </a:r>
          </a:p>
        </p:txBody>
      </p:sp>
      <p:sp>
        <p:nvSpPr>
          <p:cNvPr id="7" name="TextBox 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8" name="TextBox 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2</a:t>
            </a:r>
          </a:p>
        </p:txBody>
      </p:sp>
    </p:spTree>
  </p:cSld>
  <p:clrMapOvr>
    <a:masterClrMapping/>
  </p:clrMapOvr>
  <p:transition spd="slow">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MANDATORY DIGITAL ATTENDANCE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Digital Attendance | TRAQOM · SSG</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AM</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Scan and submit the morning attendance QR code.</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PM</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Scan and submit the afternoon attendance QR code.</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ASSESSMENT</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Complete the separate assessment digital attendance.</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75% MINIMUM</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Attendance and competent assessment outcome are funding requirements.</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a:t>
            </a:r>
          </a:p>
        </p:txBody>
      </p:sp>
    </p:spTree>
  </p:cSld>
  <p:clrMapOvr>
    <a:masterClrMapping/>
  </p:clrMapOvr>
  <p:transition spd="slow">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5C6677"/>
                </a:solidFill>
                <a:latin typeface="Arial"/>
              </a:rPr>
              <a:t>YOUR FACILITATOR</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About the Trainer</a:t>
            </a:r>
          </a:p>
        </p:txBody>
      </p:sp>
      <p:sp>
        <p:nvSpPr>
          <p:cNvPr id="5" name="Rounded Rectangle 4"/>
          <p:cNvSpPr/>
          <p:nvPr/>
        </p:nvSpPr>
        <p:spPr>
          <a:xfrm>
            <a:off x="685800" y="1572768"/>
            <a:ext cx="3337560" cy="438912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1965960"/>
            <a:ext cx="1554480" cy="1554480"/>
          </a:xfrm>
          <a:prstGeom prst="ellipse">
            <a:avLst/>
          </a:prstGeom>
          <a:solidFill>
            <a:srgbClr val="5C6677"/>
          </a:solidFill>
          <a:ln>
            <a:solidFill>
              <a:srgbClr val="5C667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258568"/>
            <a:ext cx="1554480" cy="731520"/>
          </a:xfrm>
          <a:prstGeom prst="rect">
            <a:avLst/>
          </a:prstGeom>
          <a:noFill/>
        </p:spPr>
        <p:txBody>
          <a:bodyPr wrap="square" lIns="54864" rIns="54864" tIns="54864" bIns="54864" anchor="ctr">
            <a:spAutoFit/>
          </a:bodyPr>
          <a:lstStyle/>
          <a:p>
            <a:pPr algn="ctr"/>
            <a:r>
              <a:rPr sz="3800" b="1" i="0">
                <a:solidFill>
                  <a:srgbClr val="FFFFFF"/>
                </a:solidFill>
                <a:latin typeface="Arial"/>
              </a:rPr>
              <a:t>?</a:t>
            </a:r>
          </a:p>
        </p:txBody>
      </p:sp>
      <p:sp>
        <p:nvSpPr>
          <p:cNvPr id="8" name="TextBox 7"/>
          <p:cNvSpPr txBox="1"/>
          <p:nvPr/>
        </p:nvSpPr>
        <p:spPr>
          <a:xfrm>
            <a:off x="960120" y="3822191"/>
            <a:ext cx="2788920" cy="502920"/>
          </a:xfrm>
          <a:prstGeom prst="rect">
            <a:avLst/>
          </a:prstGeom>
          <a:noFill/>
        </p:spPr>
        <p:txBody>
          <a:bodyPr wrap="square" lIns="54864" rIns="54864" tIns="54864" bIns="54864" anchor="t">
            <a:spAutoFit/>
          </a:bodyPr>
          <a:lstStyle/>
          <a:p>
            <a:pPr algn="ctr"/>
            <a:r>
              <a:rPr sz="2000" b="1" i="0">
                <a:solidFill>
                  <a:srgbClr val="131B2A"/>
                </a:solidFill>
                <a:latin typeface="Arial"/>
              </a:rPr>
              <a:t>General Trainer</a:t>
            </a:r>
          </a:p>
        </p:txBody>
      </p:sp>
      <p:sp>
        <p:nvSpPr>
          <p:cNvPr id="9" name="TextBox 8"/>
          <p:cNvSpPr txBox="1"/>
          <p:nvPr/>
        </p:nvSpPr>
        <p:spPr>
          <a:xfrm>
            <a:off x="960120" y="4480560"/>
            <a:ext cx="2788920" cy="822960"/>
          </a:xfrm>
          <a:prstGeom prst="rect">
            <a:avLst/>
          </a:prstGeom>
          <a:noFill/>
        </p:spPr>
        <p:txBody>
          <a:bodyPr wrap="square" lIns="54864" rIns="54864" tIns="54864" bIns="54864" anchor="t">
            <a:spAutoFit/>
          </a:bodyPr>
          <a:lstStyle/>
          <a:p>
            <a:pPr algn="ctr"/>
            <a:r>
              <a:rPr sz="1250" b="0" i="0">
                <a:solidFill>
                  <a:srgbClr val="5C6677"/>
                </a:solidFill>
                <a:latin typeface="Arial"/>
              </a:rPr>
              <a:t>Trainer profile template</a:t>
            </a:r>
          </a:p>
        </p:txBody>
      </p:sp>
      <p:sp>
        <p:nvSpPr>
          <p:cNvPr id="10" name="Rounded Rectangle 9"/>
          <p:cNvSpPr/>
          <p:nvPr/>
        </p:nvSpPr>
        <p:spPr>
          <a:xfrm>
            <a:off x="4389120" y="1572768"/>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1572768"/>
            <a:ext cx="91440" cy="62179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45152" y="1664208"/>
            <a:ext cx="1920240" cy="402336"/>
          </a:xfrm>
          <a:prstGeom prst="rect">
            <a:avLst/>
          </a:prstGeom>
          <a:noFill/>
        </p:spPr>
        <p:txBody>
          <a:bodyPr wrap="square" lIns="54864" rIns="54864" tIns="54864" bIns="54864" anchor="t">
            <a:spAutoFit/>
          </a:bodyPr>
          <a:lstStyle/>
          <a:p>
            <a:pPr algn="l"/>
            <a:r>
              <a:rPr sz="1000" b="1" i="0">
                <a:solidFill>
                  <a:srgbClr val="1F6FEB"/>
                </a:solidFill>
                <a:latin typeface="Arial"/>
              </a:rPr>
              <a:t>NAME</a:t>
            </a:r>
          </a:p>
        </p:txBody>
      </p:sp>
      <p:sp>
        <p:nvSpPr>
          <p:cNvPr id="13" name="TextBox 12"/>
          <p:cNvSpPr txBox="1"/>
          <p:nvPr/>
        </p:nvSpPr>
        <p:spPr>
          <a:xfrm>
            <a:off x="6537960" y="1645920"/>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14" name="Rounded Rectangle 13"/>
          <p:cNvSpPr/>
          <p:nvPr/>
        </p:nvSpPr>
        <p:spPr>
          <a:xfrm>
            <a:off x="4389120" y="2295144"/>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2295144"/>
            <a:ext cx="91440" cy="62179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2386584"/>
            <a:ext cx="1920240" cy="402336"/>
          </a:xfrm>
          <a:prstGeom prst="rect">
            <a:avLst/>
          </a:prstGeom>
          <a:noFill/>
        </p:spPr>
        <p:txBody>
          <a:bodyPr wrap="square" lIns="54864" rIns="54864" tIns="54864" bIns="54864" anchor="t">
            <a:spAutoFit/>
          </a:bodyPr>
          <a:lstStyle/>
          <a:p>
            <a:pPr algn="l"/>
            <a:r>
              <a:rPr sz="1000" b="1" i="0">
                <a:solidFill>
                  <a:srgbClr val="008C95"/>
                </a:solidFill>
                <a:latin typeface="Arial"/>
              </a:rPr>
              <a:t>TITLE / DESIGNATION</a:t>
            </a:r>
          </a:p>
        </p:txBody>
      </p:sp>
      <p:sp>
        <p:nvSpPr>
          <p:cNvPr id="17" name="TextBox 16"/>
          <p:cNvSpPr txBox="1"/>
          <p:nvPr/>
        </p:nvSpPr>
        <p:spPr>
          <a:xfrm>
            <a:off x="6537960" y="2368296"/>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18" name="Rounded Rectangle 17"/>
          <p:cNvSpPr/>
          <p:nvPr/>
        </p:nvSpPr>
        <p:spPr>
          <a:xfrm>
            <a:off x="4389120" y="3017520"/>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89120" y="3017520"/>
            <a:ext cx="91440" cy="62179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5152" y="3108960"/>
            <a:ext cx="1920240" cy="402336"/>
          </a:xfrm>
          <a:prstGeom prst="rect">
            <a:avLst/>
          </a:prstGeom>
          <a:noFill/>
        </p:spPr>
        <p:txBody>
          <a:bodyPr wrap="square" lIns="54864" rIns="54864" tIns="54864" bIns="54864" anchor="t">
            <a:spAutoFit/>
          </a:bodyPr>
          <a:lstStyle/>
          <a:p>
            <a:pPr algn="l"/>
            <a:r>
              <a:rPr sz="1000" b="1" i="0">
                <a:solidFill>
                  <a:srgbClr val="6F42C1"/>
                </a:solidFill>
                <a:latin typeface="Arial"/>
              </a:rPr>
              <a:t>QUALIFICATIONS</a:t>
            </a:r>
          </a:p>
        </p:txBody>
      </p:sp>
      <p:sp>
        <p:nvSpPr>
          <p:cNvPr id="21" name="TextBox 20"/>
          <p:cNvSpPr txBox="1"/>
          <p:nvPr/>
        </p:nvSpPr>
        <p:spPr>
          <a:xfrm>
            <a:off x="6537960" y="3090672"/>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22" name="Rounded Rectangle 21"/>
          <p:cNvSpPr/>
          <p:nvPr/>
        </p:nvSpPr>
        <p:spPr>
          <a:xfrm>
            <a:off x="4389120" y="3739896"/>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89120" y="3739896"/>
            <a:ext cx="91440" cy="6217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45152" y="3831336"/>
            <a:ext cx="1920240" cy="402336"/>
          </a:xfrm>
          <a:prstGeom prst="rect">
            <a:avLst/>
          </a:prstGeom>
          <a:noFill/>
        </p:spPr>
        <p:txBody>
          <a:bodyPr wrap="square" lIns="54864" rIns="54864" tIns="54864" bIns="54864" anchor="t">
            <a:spAutoFit/>
          </a:bodyPr>
          <a:lstStyle/>
          <a:p>
            <a:pPr algn="l"/>
            <a:r>
              <a:rPr sz="1000" b="1" i="0">
                <a:solidFill>
                  <a:srgbClr val="E68300"/>
                </a:solidFill>
                <a:latin typeface="Arial"/>
              </a:rPr>
              <a:t>AREAS OF EXPERTISE</a:t>
            </a:r>
          </a:p>
        </p:txBody>
      </p:sp>
      <p:sp>
        <p:nvSpPr>
          <p:cNvPr id="25" name="TextBox 24"/>
          <p:cNvSpPr txBox="1"/>
          <p:nvPr/>
        </p:nvSpPr>
        <p:spPr>
          <a:xfrm>
            <a:off x="6537960" y="3813048"/>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26" name="Rounded Rectangle 25"/>
          <p:cNvSpPr/>
          <p:nvPr/>
        </p:nvSpPr>
        <p:spPr>
          <a:xfrm>
            <a:off x="4389120" y="4462272"/>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0" y="4462272"/>
            <a:ext cx="91440" cy="62179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45152" y="4553712"/>
            <a:ext cx="1920240" cy="402336"/>
          </a:xfrm>
          <a:prstGeom prst="rect">
            <a:avLst/>
          </a:prstGeom>
          <a:noFill/>
        </p:spPr>
        <p:txBody>
          <a:bodyPr wrap="square" lIns="54864" rIns="54864" tIns="54864" bIns="54864" anchor="t">
            <a:spAutoFit/>
          </a:bodyPr>
          <a:lstStyle/>
          <a:p>
            <a:pPr algn="l"/>
            <a:r>
              <a:rPr sz="1000" b="1" i="0">
                <a:solidFill>
                  <a:srgbClr val="1F6FEB"/>
                </a:solidFill>
                <a:latin typeface="Arial"/>
              </a:rPr>
              <a:t>TRAINING EXPERIENCE</a:t>
            </a:r>
          </a:p>
        </p:txBody>
      </p:sp>
      <p:sp>
        <p:nvSpPr>
          <p:cNvPr id="29" name="TextBox 28"/>
          <p:cNvSpPr txBox="1"/>
          <p:nvPr/>
        </p:nvSpPr>
        <p:spPr>
          <a:xfrm>
            <a:off x="6537960" y="4535424"/>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30" name="Rounded Rectangle 29"/>
          <p:cNvSpPr/>
          <p:nvPr/>
        </p:nvSpPr>
        <p:spPr>
          <a:xfrm>
            <a:off x="4389120" y="5184648"/>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89120" y="5184648"/>
            <a:ext cx="91440" cy="62179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45152" y="5276088"/>
            <a:ext cx="1920240" cy="402336"/>
          </a:xfrm>
          <a:prstGeom prst="rect">
            <a:avLst/>
          </a:prstGeom>
          <a:noFill/>
        </p:spPr>
        <p:txBody>
          <a:bodyPr wrap="square" lIns="54864" rIns="54864" tIns="54864" bIns="54864" anchor="t">
            <a:spAutoFit/>
          </a:bodyPr>
          <a:lstStyle/>
          <a:p>
            <a:pPr algn="l"/>
            <a:r>
              <a:rPr sz="1000" b="1" i="0">
                <a:solidFill>
                  <a:srgbClr val="008C95"/>
                </a:solidFill>
                <a:latin typeface="Arial"/>
              </a:rPr>
              <a:t>CONTACT</a:t>
            </a:r>
          </a:p>
        </p:txBody>
      </p:sp>
      <p:sp>
        <p:nvSpPr>
          <p:cNvPr id="33" name="TextBox 32"/>
          <p:cNvSpPr txBox="1"/>
          <p:nvPr/>
        </p:nvSpPr>
        <p:spPr>
          <a:xfrm>
            <a:off x="6537960" y="5257800"/>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________________________________</a:t>
            </a:r>
          </a:p>
        </p:txBody>
      </p:sp>
      <p:sp>
        <p:nvSpPr>
          <p:cNvPr id="34" name="TextBox 33"/>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5" name="TextBox 34"/>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a:t>
            </a:r>
          </a:p>
        </p:txBody>
      </p:sp>
    </p:spTree>
  </p:cSld>
  <p:clrMapOvr>
    <a:masterClrMapping/>
  </p:clrMapOvr>
  <p:transition spd="slow">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YOUR FACILITATOR</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About the Trainer</a:t>
            </a:r>
          </a:p>
        </p:txBody>
      </p:sp>
      <p:sp>
        <p:nvSpPr>
          <p:cNvPr id="5" name="Rounded Rectangle 4"/>
          <p:cNvSpPr/>
          <p:nvPr/>
        </p:nvSpPr>
        <p:spPr>
          <a:xfrm>
            <a:off x="685800" y="1572768"/>
            <a:ext cx="3337560" cy="438912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1965960"/>
            <a:ext cx="1554480" cy="1554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258568"/>
            <a:ext cx="1554480" cy="731520"/>
          </a:xfrm>
          <a:prstGeom prst="rect">
            <a:avLst/>
          </a:prstGeom>
          <a:noFill/>
        </p:spPr>
        <p:txBody>
          <a:bodyPr wrap="square" lIns="54864" rIns="54864" tIns="54864" bIns="54864" anchor="ctr">
            <a:spAutoFit/>
          </a:bodyPr>
          <a:lstStyle/>
          <a:p>
            <a:pPr algn="ctr"/>
            <a:r>
              <a:rPr sz="3800" b="1" i="0">
                <a:solidFill>
                  <a:srgbClr val="FFFFFF"/>
                </a:solidFill>
                <a:latin typeface="Arial"/>
              </a:rPr>
              <a:t>AA</a:t>
            </a:r>
          </a:p>
        </p:txBody>
      </p:sp>
      <p:sp>
        <p:nvSpPr>
          <p:cNvPr id="8" name="TextBox 7"/>
          <p:cNvSpPr txBox="1"/>
          <p:nvPr/>
        </p:nvSpPr>
        <p:spPr>
          <a:xfrm>
            <a:off x="960120" y="3822191"/>
            <a:ext cx="2788920" cy="502920"/>
          </a:xfrm>
          <a:prstGeom prst="rect">
            <a:avLst/>
          </a:prstGeom>
          <a:noFill/>
        </p:spPr>
        <p:txBody>
          <a:bodyPr wrap="square" lIns="54864" rIns="54864" tIns="54864" bIns="54864" anchor="t">
            <a:spAutoFit/>
          </a:bodyPr>
          <a:lstStyle/>
          <a:p>
            <a:pPr algn="ctr"/>
            <a:r>
              <a:rPr sz="2000" b="1" i="0">
                <a:solidFill>
                  <a:srgbClr val="131B2A"/>
                </a:solidFill>
                <a:latin typeface="Arial"/>
              </a:rPr>
              <a:t>Dr. Alfred Ang</a:t>
            </a:r>
          </a:p>
        </p:txBody>
      </p:sp>
      <p:sp>
        <p:nvSpPr>
          <p:cNvPr id="9" name="TextBox 8"/>
          <p:cNvSpPr txBox="1"/>
          <p:nvPr/>
        </p:nvSpPr>
        <p:spPr>
          <a:xfrm>
            <a:off x="960120" y="4480560"/>
            <a:ext cx="2788920" cy="822960"/>
          </a:xfrm>
          <a:prstGeom prst="rect">
            <a:avLst/>
          </a:prstGeom>
          <a:noFill/>
        </p:spPr>
        <p:txBody>
          <a:bodyPr wrap="square" lIns="54864" rIns="54864" tIns="54864" bIns="54864" anchor="t">
            <a:spAutoFit/>
          </a:bodyPr>
          <a:lstStyle/>
          <a:p>
            <a:pPr algn="ctr"/>
            <a:r>
              <a:rPr sz="1250" b="0" i="0">
                <a:solidFill>
                  <a:srgbClr val="5C6677"/>
                </a:solidFill>
                <a:latin typeface="Arial"/>
              </a:rPr>
              <a:t>Principal Trainer | Tertiary Infotech Academy</a:t>
            </a:r>
          </a:p>
        </p:txBody>
      </p:sp>
      <p:sp>
        <p:nvSpPr>
          <p:cNvPr id="10" name="Rounded Rectangle 9"/>
          <p:cNvSpPr/>
          <p:nvPr/>
        </p:nvSpPr>
        <p:spPr>
          <a:xfrm>
            <a:off x="4389120" y="1572768"/>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1572768"/>
            <a:ext cx="91440" cy="62179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45152" y="1664208"/>
            <a:ext cx="1920240" cy="402336"/>
          </a:xfrm>
          <a:prstGeom prst="rect">
            <a:avLst/>
          </a:prstGeom>
          <a:noFill/>
        </p:spPr>
        <p:txBody>
          <a:bodyPr wrap="square" lIns="54864" rIns="54864" tIns="54864" bIns="54864" anchor="t">
            <a:spAutoFit/>
          </a:bodyPr>
          <a:lstStyle/>
          <a:p>
            <a:pPr algn="l"/>
            <a:r>
              <a:rPr sz="1000" b="1" i="0">
                <a:solidFill>
                  <a:srgbClr val="1F6FEB"/>
                </a:solidFill>
                <a:latin typeface="Arial"/>
              </a:rPr>
              <a:t>ROLE</a:t>
            </a:r>
          </a:p>
        </p:txBody>
      </p:sp>
      <p:sp>
        <p:nvSpPr>
          <p:cNvPr id="13" name="TextBox 12"/>
          <p:cNvSpPr txBox="1"/>
          <p:nvPr/>
        </p:nvSpPr>
        <p:spPr>
          <a:xfrm>
            <a:off x="6537960" y="1645920"/>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Principal Trainer and learning architect</a:t>
            </a:r>
          </a:p>
        </p:txBody>
      </p:sp>
      <p:sp>
        <p:nvSpPr>
          <p:cNvPr id="14" name="Rounded Rectangle 13"/>
          <p:cNvSpPr/>
          <p:nvPr/>
        </p:nvSpPr>
        <p:spPr>
          <a:xfrm>
            <a:off x="4389120" y="2295144"/>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2295144"/>
            <a:ext cx="91440" cy="62179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2386584"/>
            <a:ext cx="1920240" cy="402336"/>
          </a:xfrm>
          <a:prstGeom prst="rect">
            <a:avLst/>
          </a:prstGeom>
          <a:noFill/>
        </p:spPr>
        <p:txBody>
          <a:bodyPr wrap="square" lIns="54864" rIns="54864" tIns="54864" bIns="54864" anchor="t">
            <a:spAutoFit/>
          </a:bodyPr>
          <a:lstStyle/>
          <a:p>
            <a:pPr algn="l"/>
            <a:r>
              <a:rPr sz="1000" b="1" i="0">
                <a:solidFill>
                  <a:srgbClr val="008C95"/>
                </a:solidFill>
                <a:latin typeface="Arial"/>
              </a:rPr>
              <a:t>SPECIALISM</a:t>
            </a:r>
          </a:p>
        </p:txBody>
      </p:sp>
      <p:sp>
        <p:nvSpPr>
          <p:cNvPr id="17" name="TextBox 16"/>
          <p:cNvSpPr txBox="1"/>
          <p:nvPr/>
        </p:nvSpPr>
        <p:spPr>
          <a:xfrm>
            <a:off x="6537960" y="2368296"/>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Workplace communication, AI and digital transformation</a:t>
            </a:r>
          </a:p>
        </p:txBody>
      </p:sp>
      <p:sp>
        <p:nvSpPr>
          <p:cNvPr id="18" name="Rounded Rectangle 17"/>
          <p:cNvSpPr/>
          <p:nvPr/>
        </p:nvSpPr>
        <p:spPr>
          <a:xfrm>
            <a:off x="4389120" y="3017520"/>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89120" y="3017520"/>
            <a:ext cx="91440" cy="62179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5152" y="3108960"/>
            <a:ext cx="1920240" cy="402336"/>
          </a:xfrm>
          <a:prstGeom prst="rect">
            <a:avLst/>
          </a:prstGeom>
          <a:noFill/>
        </p:spPr>
        <p:txBody>
          <a:bodyPr wrap="square" lIns="54864" rIns="54864" tIns="54864" bIns="54864" anchor="t">
            <a:spAutoFit/>
          </a:bodyPr>
          <a:lstStyle/>
          <a:p>
            <a:pPr algn="l"/>
            <a:r>
              <a:rPr sz="1000" b="1" i="0">
                <a:solidFill>
                  <a:srgbClr val="6F42C1"/>
                </a:solidFill>
                <a:latin typeface="Arial"/>
              </a:rPr>
              <a:t>APPROACH</a:t>
            </a:r>
          </a:p>
        </p:txBody>
      </p:sp>
      <p:sp>
        <p:nvSpPr>
          <p:cNvPr id="21" name="TextBox 20"/>
          <p:cNvSpPr txBox="1"/>
          <p:nvPr/>
        </p:nvSpPr>
        <p:spPr>
          <a:xfrm>
            <a:off x="6537960" y="3090672"/>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Evidence-led, scenario-rich and outcomes focused</a:t>
            </a:r>
          </a:p>
        </p:txBody>
      </p:sp>
      <p:sp>
        <p:nvSpPr>
          <p:cNvPr id="22" name="Rounded Rectangle 21"/>
          <p:cNvSpPr/>
          <p:nvPr/>
        </p:nvSpPr>
        <p:spPr>
          <a:xfrm>
            <a:off x="4389120" y="3739896"/>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89120" y="3739896"/>
            <a:ext cx="91440" cy="6217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45152" y="3831336"/>
            <a:ext cx="1920240" cy="402336"/>
          </a:xfrm>
          <a:prstGeom prst="rect">
            <a:avLst/>
          </a:prstGeom>
          <a:noFill/>
        </p:spPr>
        <p:txBody>
          <a:bodyPr wrap="square" lIns="54864" rIns="54864" tIns="54864" bIns="54864" anchor="t">
            <a:spAutoFit/>
          </a:bodyPr>
          <a:lstStyle/>
          <a:p>
            <a:pPr algn="l"/>
            <a:r>
              <a:rPr sz="1000" b="1" i="0">
                <a:solidFill>
                  <a:srgbClr val="E68300"/>
                </a:solidFill>
                <a:latin typeface="Arial"/>
              </a:rPr>
              <a:t>FACILITATION</a:t>
            </a:r>
          </a:p>
        </p:txBody>
      </p:sp>
      <p:sp>
        <p:nvSpPr>
          <p:cNvPr id="25" name="TextBox 24"/>
          <p:cNvSpPr txBox="1"/>
          <p:nvPr/>
        </p:nvSpPr>
        <p:spPr>
          <a:xfrm>
            <a:off x="6537960" y="3813048"/>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Coaching, role play, feedback and applied practice</a:t>
            </a:r>
          </a:p>
        </p:txBody>
      </p:sp>
      <p:sp>
        <p:nvSpPr>
          <p:cNvPr id="26" name="Rounded Rectangle 25"/>
          <p:cNvSpPr/>
          <p:nvPr/>
        </p:nvSpPr>
        <p:spPr>
          <a:xfrm>
            <a:off x="4389120" y="4462272"/>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0" y="4462272"/>
            <a:ext cx="91440" cy="62179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45152" y="4553712"/>
            <a:ext cx="1920240" cy="402336"/>
          </a:xfrm>
          <a:prstGeom prst="rect">
            <a:avLst/>
          </a:prstGeom>
          <a:noFill/>
        </p:spPr>
        <p:txBody>
          <a:bodyPr wrap="square" lIns="54864" rIns="54864" tIns="54864" bIns="54864" anchor="t">
            <a:spAutoFit/>
          </a:bodyPr>
          <a:lstStyle/>
          <a:p>
            <a:pPr algn="l"/>
            <a:r>
              <a:rPr sz="1000" b="1" i="0">
                <a:solidFill>
                  <a:srgbClr val="1F6FEB"/>
                </a:solidFill>
                <a:latin typeface="Arial"/>
              </a:rPr>
              <a:t>ORGANISATION</a:t>
            </a:r>
          </a:p>
        </p:txBody>
      </p:sp>
      <p:sp>
        <p:nvSpPr>
          <p:cNvPr id="29" name="TextBox 28"/>
          <p:cNvSpPr txBox="1"/>
          <p:nvPr/>
        </p:nvSpPr>
        <p:spPr>
          <a:xfrm>
            <a:off x="6537960" y="4535424"/>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Tertiary Infotech Academy Pte Ltd</a:t>
            </a:r>
          </a:p>
        </p:txBody>
      </p:sp>
      <p:sp>
        <p:nvSpPr>
          <p:cNvPr id="30" name="Rounded Rectangle 29"/>
          <p:cNvSpPr/>
          <p:nvPr/>
        </p:nvSpPr>
        <p:spPr>
          <a:xfrm>
            <a:off x="4389120" y="5184648"/>
            <a:ext cx="7132320" cy="62179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89120" y="5184648"/>
            <a:ext cx="91440" cy="62179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45152" y="5276088"/>
            <a:ext cx="1920240" cy="402336"/>
          </a:xfrm>
          <a:prstGeom prst="rect">
            <a:avLst/>
          </a:prstGeom>
          <a:noFill/>
        </p:spPr>
        <p:txBody>
          <a:bodyPr wrap="square" lIns="54864" rIns="54864" tIns="54864" bIns="54864" anchor="t">
            <a:spAutoFit/>
          </a:bodyPr>
          <a:lstStyle/>
          <a:p>
            <a:pPr algn="l"/>
            <a:r>
              <a:rPr sz="1000" b="1" i="0">
                <a:solidFill>
                  <a:srgbClr val="008C95"/>
                </a:solidFill>
                <a:latin typeface="Arial"/>
              </a:rPr>
              <a:t>CONTACT</a:t>
            </a:r>
          </a:p>
        </p:txBody>
      </p:sp>
      <p:sp>
        <p:nvSpPr>
          <p:cNvPr id="33" name="TextBox 32"/>
          <p:cNvSpPr txBox="1"/>
          <p:nvPr/>
        </p:nvSpPr>
        <p:spPr>
          <a:xfrm>
            <a:off x="6537960" y="5257800"/>
            <a:ext cx="4663440" cy="438912"/>
          </a:xfrm>
          <a:prstGeom prst="rect">
            <a:avLst/>
          </a:prstGeom>
          <a:noFill/>
        </p:spPr>
        <p:txBody>
          <a:bodyPr wrap="square" lIns="54864" rIns="54864" tIns="54864" bIns="54864" anchor="t">
            <a:spAutoFit/>
          </a:bodyPr>
          <a:lstStyle/>
          <a:p>
            <a:pPr algn="l"/>
            <a:r>
              <a:rPr sz="1200" b="0" i="0">
                <a:solidFill>
                  <a:srgbClr val="131B2A"/>
                </a:solidFill>
                <a:latin typeface="Arial"/>
              </a:rPr>
              <a:t>enquiry@tertiaryinfotech.com</a:t>
            </a:r>
          </a:p>
        </p:txBody>
      </p:sp>
      <p:sp>
        <p:nvSpPr>
          <p:cNvPr id="34" name="TextBox 33"/>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5" name="TextBox 34"/>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a:t>
            </a:r>
          </a:p>
        </p:txBody>
      </p:sp>
    </p:spTree>
  </p:cSld>
  <p:clrMapOvr>
    <a:masterClrMapping/>
  </p:clrMapOvr>
  <p:transition spd="slow">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LEARNER INTRODUCTION</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Let’s Know Each Other</a:t>
            </a:r>
          </a:p>
        </p:txBody>
      </p:sp>
      <p:sp>
        <p:nvSpPr>
          <p:cNvPr id="5" name="Oval 4"/>
          <p:cNvSpPr/>
          <p:nvPr/>
        </p:nvSpPr>
        <p:spPr>
          <a:xfrm>
            <a:off x="685800" y="1572768"/>
            <a:ext cx="402336" cy="402336"/>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91056"/>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7" name="TextBox 6"/>
          <p:cNvSpPr txBox="1"/>
          <p:nvPr/>
        </p:nvSpPr>
        <p:spPr>
          <a:xfrm>
            <a:off x="1298448" y="1554480"/>
            <a:ext cx="9966960" cy="530352"/>
          </a:xfrm>
          <a:prstGeom prst="rect">
            <a:avLst/>
          </a:prstGeom>
          <a:noFill/>
        </p:spPr>
        <p:txBody>
          <a:bodyPr wrap="square" lIns="54864" rIns="54864" tIns="54864" bIns="54864" anchor="t">
            <a:spAutoFit/>
          </a:bodyPr>
          <a:lstStyle/>
          <a:p>
            <a:pPr algn="l"/>
            <a:r>
              <a:rPr sz="1700" b="1" i="0">
                <a:solidFill>
                  <a:srgbClr val="131B2A"/>
                </a:solidFill>
                <a:latin typeface="Arial"/>
              </a:rPr>
              <a:t>Name and role</a:t>
            </a:r>
          </a:p>
        </p:txBody>
      </p:sp>
      <p:sp>
        <p:nvSpPr>
          <p:cNvPr id="8" name="Oval 7"/>
          <p:cNvSpPr/>
          <p:nvPr/>
        </p:nvSpPr>
        <p:spPr>
          <a:xfrm>
            <a:off x="685800" y="2560320"/>
            <a:ext cx="402336" cy="402336"/>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0" name="TextBox 9"/>
          <p:cNvSpPr txBox="1"/>
          <p:nvPr/>
        </p:nvSpPr>
        <p:spPr>
          <a:xfrm>
            <a:off x="1298448" y="2542032"/>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A communication moment you want to improve</a:t>
            </a:r>
          </a:p>
        </p:txBody>
      </p:sp>
      <p:sp>
        <p:nvSpPr>
          <p:cNvPr id="11" name="Oval 10"/>
          <p:cNvSpPr/>
          <p:nvPr/>
        </p:nvSpPr>
        <p:spPr>
          <a:xfrm>
            <a:off x="685800" y="3547872"/>
            <a:ext cx="402336" cy="402336"/>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566160"/>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13" name="TextBox 12"/>
          <p:cNvSpPr txBox="1"/>
          <p:nvPr/>
        </p:nvSpPr>
        <p:spPr>
          <a:xfrm>
            <a:off x="1298448" y="3529584"/>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One customer or team outcome that matters</a:t>
            </a:r>
          </a:p>
        </p:txBody>
      </p:sp>
      <p:sp>
        <p:nvSpPr>
          <p:cNvPr id="14" name="Oval 13"/>
          <p:cNvSpPr/>
          <p:nvPr/>
        </p:nvSpPr>
        <p:spPr>
          <a:xfrm>
            <a:off x="685800" y="4535424"/>
            <a:ext cx="402336" cy="402336"/>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53712"/>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16" name="TextBox 15"/>
          <p:cNvSpPr txBox="1"/>
          <p:nvPr/>
        </p:nvSpPr>
        <p:spPr>
          <a:xfrm>
            <a:off x="1298448" y="4517136"/>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What makes you feel heard at work</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a:t>
            </a:r>
          </a:p>
        </p:txBody>
      </p:sp>
    </p:spTree>
  </p:cSld>
  <p:clrMapOvr>
    <a:masterClrMapping/>
  </p:clrMapOvr>
  <p:transition spd="slow">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HOW WE WILL WORK</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Ground Rules</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BE PRESENT</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Devices silent; give the speaker full attention.</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BE CURIOUS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Ask before assuming; challenge ideas with respect.</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BE PRACTICAL</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Test language in realistic workplace scenarios.</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BE SAFE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Keep shared cases confidential and give specific feedback.</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a:t>
            </a:r>
          </a:p>
        </p:txBody>
      </p:sp>
    </p:spTree>
  </p:cSld>
  <p:clrMapOvr>
    <a:masterClrMapping/>
  </p:clrMapOvr>
  <p:transition spd="slow">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COURSE OUTLINE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Two-Day Learning Journey</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Evaluate practices</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Benchmark evidence</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Design the plan</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Diagnose barriers</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Coach and sustain</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a:t>
            </a:r>
          </a:p>
        </p:txBody>
      </p:sp>
    </p:spTree>
  </p:cSld>
  <p:clrMapOvr>
    <a:masterClrMapping/>
  </p:clrMapOvr>
  <p:transition spd="slow">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WHAT YOU WILL BE ABLE TO DO</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Learning Outcomes</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LO1</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Evaluate workplace communications practices for the organisation.</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LO2</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Develop a communications plan to implement communication strategies.</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LO3</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Identify solutions to address gaps and barriers in workplace communications.</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CUSTOMER LENS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Connect internal collaboration to visible customer confidence.</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a:t>
            </a:r>
          </a:p>
        </p:txBody>
      </p:sp>
    </p:spTree>
  </p:cSld>
  <p:clrMapOvr>
    <a:masterClrMapping/>
  </p:clrMapOvr>
  <p:transition spd="slow">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WSQ COMPETENCY MAP</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Skills Framework Alignment</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TSC</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Workplace Communications
RET-COM-4002-1.1</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KNOWLEDGE</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K1-K5: practices, tools, culture, evaluation, coaching</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ABILITIES</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A1-A3: benchmark, analyse trends, develop plan</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a:t>
            </a:r>
          </a:p>
        </p:txBody>
      </p:sp>
    </p:spTree>
  </p:cSld>
  <p:clrMapOvr>
    <a:masterClrMapping/>
  </p:clrMapOvr>
  <p:transition spd="slow">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9:00 AM-6:00 PM</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Lesson Plan</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Day 1 | evaluate + benchmark</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Day 1 | activities 01-03</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Day 2 | plan + barriers</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Day 2 | activities 04-08</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Day 2 | WA + CS, 4-6 PM</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a:t>
            </a:r>
          </a:p>
        </p:txBody>
      </p:sp>
    </p:spTree>
  </p:cSld>
  <p:clrMapOvr>
    <a:masterClrMapping/>
  </p:clrMapOvr>
  <p:transition spd="slow">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B42318"/>
                </a:solidFill>
                <a:latin typeface="Arial"/>
              </a:rPr>
              <a:t>ASSESSMENT READINESS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Briefing for Assessment</a:t>
            </a:r>
          </a:p>
        </p:txBody>
      </p:sp>
      <p:sp>
        <p:nvSpPr>
          <p:cNvPr id="5" name="Oval 4"/>
          <p:cNvSpPr/>
          <p:nvPr/>
        </p:nvSpPr>
        <p:spPr>
          <a:xfrm>
            <a:off x="685800" y="1572768"/>
            <a:ext cx="402336" cy="402336"/>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91056"/>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7" name="TextBox 6"/>
          <p:cNvSpPr txBox="1"/>
          <p:nvPr/>
        </p:nvSpPr>
        <p:spPr>
          <a:xfrm>
            <a:off x="1298448" y="1554480"/>
            <a:ext cx="9966960" cy="530352"/>
          </a:xfrm>
          <a:prstGeom prst="rect">
            <a:avLst/>
          </a:prstGeom>
          <a:noFill/>
        </p:spPr>
        <p:txBody>
          <a:bodyPr wrap="square" lIns="54864" rIns="54864" tIns="54864" bIns="54864" anchor="t">
            <a:spAutoFit/>
          </a:bodyPr>
          <a:lstStyle/>
          <a:p>
            <a:pPr algn="l"/>
            <a:r>
              <a:rPr sz="1700" b="1" i="0">
                <a:solidFill>
                  <a:srgbClr val="131B2A"/>
                </a:solidFill>
                <a:latin typeface="Arial"/>
              </a:rPr>
              <a:t>Individual, summative, open book; no discussion</a:t>
            </a:r>
          </a:p>
        </p:txBody>
      </p:sp>
      <p:sp>
        <p:nvSpPr>
          <p:cNvPr id="8" name="Oval 7"/>
          <p:cNvSpPr/>
          <p:nvPr/>
        </p:nvSpPr>
        <p:spPr>
          <a:xfrm>
            <a:off x="685800" y="2560320"/>
            <a:ext cx="402336" cy="402336"/>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0" name="TextBox 9"/>
          <p:cNvSpPr txBox="1"/>
          <p:nvPr/>
        </p:nvSpPr>
        <p:spPr>
          <a:xfrm>
            <a:off x="1298448" y="2542032"/>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Use only approved course materials; phones and other materials under the table</a:t>
            </a:r>
          </a:p>
        </p:txBody>
      </p:sp>
      <p:sp>
        <p:nvSpPr>
          <p:cNvPr id="11" name="Oval 10"/>
          <p:cNvSpPr/>
          <p:nvPr/>
        </p:nvSpPr>
        <p:spPr>
          <a:xfrm>
            <a:off x="685800" y="3547872"/>
            <a:ext cx="402336" cy="402336"/>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566160"/>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13" name="TextBox 12"/>
          <p:cNvSpPr txBox="1"/>
          <p:nvPr/>
        </p:nvSpPr>
        <p:spPr>
          <a:xfrm>
            <a:off x="1298448" y="3529584"/>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Written Assessment: 1 hour; Case Study: 1 hour</a:t>
            </a:r>
          </a:p>
        </p:txBody>
      </p:sp>
      <p:sp>
        <p:nvSpPr>
          <p:cNvPr id="14" name="Oval 13"/>
          <p:cNvSpPr/>
          <p:nvPr/>
        </p:nvSpPr>
        <p:spPr>
          <a:xfrm>
            <a:off x="685800" y="4535424"/>
            <a:ext cx="402336" cy="402336"/>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53712"/>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16" name="TextBox 15"/>
          <p:cNvSpPr txBox="1"/>
          <p:nvPr/>
        </p:nvSpPr>
        <p:spPr>
          <a:xfrm>
            <a:off x="1298448" y="4517136"/>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Submit on the LMS and sign the Assessment Summary Record</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a:t>
            </a:r>
          </a:p>
        </p:txBody>
      </p:sp>
    </p:spTree>
  </p:cSld>
  <p:clrMapOvr>
    <a:masterClrMapping/>
  </p:clrMapOvr>
  <p:transition spd="slow">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OPEN BOOK | INDIVIDUAL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Assessment and Funding</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WA | 1 HOUR</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Five open-ended questions covering K1-K5.</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CASE STUDY | 1 HOUR</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Three scenario questions covering A1-A3.</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COMPETENCE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All required criteria competent; reassessment and appeal rights apply.</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a:t>
            </a:r>
          </a:p>
        </p:txBody>
      </p:sp>
    </p:spTree>
  </p:cSld>
  <p:clrMapOvr>
    <a:masterClrMapping/>
  </p:clrMapOvr>
  <p:transition spd="slow">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B42318"/>
                </a:solidFill>
                <a:latin typeface="Arial"/>
              </a:rPr>
              <a:t>ASSESSMENT PROCESS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Assessment Flow</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TRAQOM</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Assessment attendance</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WA then CS</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Submit on LMS</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Sign summary record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14</a:t>
            </a:r>
          </a:p>
        </p:txBody>
      </p:sp>
    </p:spTree>
  </p:cSld>
  <p:clrMapOvr>
    <a:masterClrMapping/>
  </p:clrMapOvr>
  <p:transition spd="slow">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LEARNER RESOURCES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Access the Course Activities</a:t>
            </a:r>
          </a:p>
        </p:txBody>
      </p:sp>
      <p:sp>
        <p:nvSpPr>
          <p:cNvPr id="5" name="TextBox 4"/>
          <p:cNvSpPr txBox="1"/>
          <p:nvPr/>
        </p:nvSpPr>
        <p:spPr>
          <a:xfrm>
            <a:off x="713232" y="1508760"/>
            <a:ext cx="10652760" cy="457200"/>
          </a:xfrm>
          <a:prstGeom prst="rect">
            <a:avLst/>
          </a:prstGeom>
          <a:noFill/>
        </p:spPr>
        <p:txBody>
          <a:bodyPr wrap="square" lIns="54864" rIns="54864" tIns="54864" bIns="54864" anchor="t">
            <a:spAutoFit/>
          </a:bodyPr>
          <a:lstStyle/>
          <a:p>
            <a:pPr algn="l"/>
            <a:r>
              <a:rPr sz="1500" b="0" i="0">
                <a:solidFill>
                  <a:srgbClr val="131B2A"/>
                </a:solidFill>
                <a:latin typeface="Arial"/>
              </a:rPr>
              <a:t>Every activity has its own folder with a realistic scenario, role-play playbook, worksheet, and acceptance checklist in Markdown and PDF.</a:t>
            </a:r>
          </a:p>
        </p:txBody>
      </p:sp>
      <p:sp>
        <p:nvSpPr>
          <p:cNvPr id="6" name="Rounded Rectangle 5"/>
          <p:cNvSpPr/>
          <p:nvPr/>
        </p:nvSpPr>
        <p:spPr>
          <a:xfrm>
            <a:off x="749808" y="2331720"/>
            <a:ext cx="5120640" cy="21488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2331720"/>
            <a:ext cx="5120640" cy="128016"/>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697480"/>
            <a:ext cx="4526280" cy="438912"/>
          </a:xfrm>
          <a:prstGeom prst="rect">
            <a:avLst/>
          </a:prstGeom>
          <a:noFill/>
        </p:spPr>
        <p:txBody>
          <a:bodyPr wrap="square" lIns="54864" rIns="54864" tIns="54864" bIns="54864" anchor="t">
            <a:spAutoFit/>
          </a:bodyPr>
          <a:lstStyle/>
          <a:p>
            <a:pPr algn="l"/>
            <a:r>
              <a:rPr sz="1400" b="1" i="0">
                <a:solidFill>
                  <a:srgbClr val="008C95"/>
                </a:solidFill>
                <a:latin typeface="Arial"/>
              </a:rPr>
              <a:t>OPTION A | CLONE</a:t>
            </a:r>
          </a:p>
        </p:txBody>
      </p:sp>
      <p:sp>
        <p:nvSpPr>
          <p:cNvPr id="9" name="TextBox 8"/>
          <p:cNvSpPr txBox="1"/>
          <p:nvPr/>
        </p:nvSpPr>
        <p:spPr>
          <a:xfrm>
            <a:off x="1042416" y="3429000"/>
            <a:ext cx="4526280" cy="685800"/>
          </a:xfrm>
          <a:prstGeom prst="rect">
            <a:avLst/>
          </a:prstGeom>
          <a:noFill/>
        </p:spPr>
        <p:txBody>
          <a:bodyPr wrap="square" lIns="54864" rIns="54864" tIns="54864" bIns="54864" anchor="t">
            <a:spAutoFit/>
          </a:bodyPr>
          <a:lstStyle/>
          <a:p>
            <a:pPr algn="l"/>
            <a:r>
              <a:rPr sz="1300" b="0" i="0">
                <a:solidFill>
                  <a:srgbClr val="131B2A"/>
                </a:solidFill>
                <a:latin typeface="Consolas"/>
              </a:rPr>
              <a:t>git clone https://github.com/tertiarycourses/TGS-2023037467-Mastering-the-Art-of-Communication-to-Enhance-Team-Collaboration.git</a:t>
            </a:r>
          </a:p>
        </p:txBody>
      </p:sp>
      <p:sp>
        <p:nvSpPr>
          <p:cNvPr id="10" name="Rounded Rectangle 9"/>
          <p:cNvSpPr/>
          <p:nvPr/>
        </p:nvSpPr>
        <p:spPr>
          <a:xfrm>
            <a:off x="6281928" y="2331720"/>
            <a:ext cx="5120640" cy="21488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5120640" cy="128016"/>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74536" y="2697480"/>
            <a:ext cx="4526280" cy="438912"/>
          </a:xfrm>
          <a:prstGeom prst="rect">
            <a:avLst/>
          </a:prstGeom>
          <a:noFill/>
        </p:spPr>
        <p:txBody>
          <a:bodyPr wrap="square" lIns="54864" rIns="54864" tIns="54864" bIns="54864" anchor="t">
            <a:spAutoFit/>
          </a:bodyPr>
          <a:lstStyle/>
          <a:p>
            <a:pPr algn="l"/>
            <a:r>
              <a:rPr sz="1400" b="1" i="0">
                <a:solidFill>
                  <a:srgbClr val="6F42C1"/>
                </a:solidFill>
                <a:latin typeface="Arial"/>
              </a:rPr>
              <a:t>OPTION B | DOWNLOAD</a:t>
            </a:r>
          </a:p>
        </p:txBody>
      </p:sp>
      <p:sp>
        <p:nvSpPr>
          <p:cNvPr id="13" name="TextBox 12"/>
          <p:cNvSpPr txBox="1"/>
          <p:nvPr/>
        </p:nvSpPr>
        <p:spPr>
          <a:xfrm>
            <a:off x="6574536" y="3429000"/>
            <a:ext cx="4526280" cy="685800"/>
          </a:xfrm>
          <a:prstGeom prst="rect">
            <a:avLst/>
          </a:prstGeom>
          <a:noFill/>
        </p:spPr>
        <p:txBody>
          <a:bodyPr wrap="square" lIns="54864" rIns="54864" tIns="54864" bIns="54864" anchor="t">
            <a:spAutoFit/>
          </a:bodyPr>
          <a:lstStyle/>
          <a:p>
            <a:pPr algn="l"/>
            <a:r>
              <a:rPr sz="1300" b="0" i="0">
                <a:solidFill>
                  <a:srgbClr val="131B2A"/>
                </a:solidFill>
                <a:latin typeface="Arial"/>
              </a:rPr>
              <a:t>Open GitHub &gt; Code &gt; Download ZIP</a:t>
            </a:r>
          </a:p>
        </p:txBody>
      </p:sp>
      <p:sp>
        <p:nvSpPr>
          <p:cNvPr id="14" name="TextBox 13">
            <a:hlinkClick r:id="rId2"/>
          </p:cNvPr>
          <p:cNvSpPr txBox="1"/>
          <p:nvPr/>
        </p:nvSpPr>
        <p:spPr>
          <a:xfrm>
            <a:off x="749808" y="4983480"/>
            <a:ext cx="10515600" cy="594360"/>
          </a:xfrm>
          <a:prstGeom prst="rect">
            <a:avLst/>
          </a:prstGeom>
          <a:noFill/>
        </p:spPr>
        <p:txBody>
          <a:bodyPr wrap="square" lIns="54864" rIns="54864" tIns="54864" bIns="54864" anchor="t">
            <a:spAutoFit/>
          </a:bodyPr>
          <a:lstStyle/>
          <a:p>
            <a:pPr algn="ctr"/>
            <a:r>
              <a:rPr sz="1200" b="1" i="0">
                <a:solidFill>
                  <a:srgbClr val="1F6FEB"/>
                </a:solidFill>
                <a:latin typeface="Arial"/>
              </a:rPr>
              <a:t>https://github.com/tertiarycourses/TGS-2023037467-Mastering-the-Art-of-Communication-to-Enhance-Team-Collaboration</a:t>
            </a:r>
          </a:p>
        </p:txBody>
      </p:sp>
      <p:sp>
        <p:nvSpPr>
          <p:cNvPr id="15" name="TextBox 14"/>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6" name="TextBox 15"/>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15</a:t>
            </a:r>
          </a:p>
        </p:txBody>
      </p:sp>
    </p:spTree>
  </p:cSld>
  <p:clrMapOvr>
    <a:masterClrMapping/>
  </p:clrMapOvr>
  <p:transition spd="slow">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mmunication-audit-v10.png"/>
          <p:cNvPicPr>
            <a:picLocks noChangeAspect="1"/>
          </p:cNvPicPr>
          <p:nvPr/>
        </p:nvPicPr>
        <p:blipFill>
          <a:blip r:embed="rId2"/>
          <a:srcRect l="24186" r="24186"/>
          <a:stretch>
            <a:fillRect/>
          </a:stretch>
        </p:blipFill>
        <p:spPr>
          <a:xfrm>
            <a:off x="5897880" y="0"/>
            <a:ext cx="6291072" cy="6858000"/>
          </a:xfrm>
          <a:prstGeom prst="rect">
            <a:avLst/>
          </a:prstGeom>
        </p:spPr>
      </p:pic>
      <p:sp>
        <p:nvSpPr>
          <p:cNvPr id="4" name="Rectangle 3"/>
          <p:cNvSpPr/>
          <p:nvPr/>
        </p:nvSpPr>
        <p:spPr>
          <a:xfrm>
            <a:off x="5303520" y="0"/>
            <a:ext cx="2011680"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58368"/>
            <a:ext cx="4480560" cy="365760"/>
          </a:xfrm>
          <a:prstGeom prst="rect">
            <a:avLst/>
          </a:prstGeom>
          <a:noFill/>
        </p:spPr>
        <p:txBody>
          <a:bodyPr wrap="square" lIns="54864" rIns="54864" tIns="54864" bIns="54864" anchor="t">
            <a:spAutoFit/>
          </a:bodyPr>
          <a:lstStyle/>
          <a:p>
            <a:pPr algn="l"/>
            <a:r>
              <a:rPr sz="1100" b="1" i="0">
                <a:solidFill>
                  <a:srgbClr val="6DDAD7"/>
                </a:solidFill>
                <a:latin typeface="Arial"/>
              </a:rPr>
              <a:t>SECTION 01</a:t>
            </a:r>
          </a:p>
        </p:txBody>
      </p:sp>
      <p:sp>
        <p:nvSpPr>
          <p:cNvPr id="6" name="TextBox 5"/>
          <p:cNvSpPr txBox="1"/>
          <p:nvPr/>
        </p:nvSpPr>
        <p:spPr>
          <a:xfrm>
            <a:off x="658368" y="1325880"/>
            <a:ext cx="5166360" cy="1965960"/>
          </a:xfrm>
          <a:prstGeom prst="rect">
            <a:avLst/>
          </a:prstGeom>
          <a:noFill/>
        </p:spPr>
        <p:txBody>
          <a:bodyPr wrap="square" lIns="54864" rIns="54864" tIns="54864" bIns="54864" anchor="t">
            <a:spAutoFit/>
          </a:bodyPr>
          <a:lstStyle/>
          <a:p>
            <a:pPr algn="l"/>
            <a:r>
              <a:rPr sz="3600" b="1" i="0">
                <a:solidFill>
                  <a:srgbClr val="FFFFFF"/>
                </a:solidFill>
                <a:latin typeface="Arial"/>
              </a:rPr>
              <a:t>Evaluate Workplace Communications Practices</a:t>
            </a:r>
          </a:p>
        </p:txBody>
      </p:sp>
      <p:sp>
        <p:nvSpPr>
          <p:cNvPr id="7" name="TextBox 6"/>
          <p:cNvSpPr txBox="1"/>
          <p:nvPr/>
        </p:nvSpPr>
        <p:spPr>
          <a:xfrm>
            <a:off x="685800" y="3675887"/>
            <a:ext cx="4937760" cy="960120"/>
          </a:xfrm>
          <a:prstGeom prst="rect">
            <a:avLst/>
          </a:prstGeom>
          <a:noFill/>
        </p:spPr>
        <p:txBody>
          <a:bodyPr wrap="square" lIns="54864" rIns="54864" tIns="54864" bIns="54864" anchor="t">
            <a:spAutoFit/>
          </a:bodyPr>
          <a:lstStyle/>
          <a:p>
            <a:pPr algn="l"/>
            <a:r>
              <a:rPr sz="1700" b="0" i="0">
                <a:solidFill>
                  <a:srgbClr val="D7E0EA"/>
                </a:solidFill>
                <a:latin typeface="Arial"/>
              </a:rPr>
              <a:t>Best practices | tools and channels | culture | evidence | benchmarks | K1, K2, K3, K4, A1</a:t>
            </a:r>
          </a:p>
        </p:txBody>
      </p:sp>
      <p:sp>
        <p:nvSpPr>
          <p:cNvPr id="8" name="TextBox 7"/>
          <p:cNvSpPr txBox="1"/>
          <p:nvPr/>
        </p:nvSpPr>
        <p:spPr>
          <a:xfrm>
            <a:off x="685800" y="5175504"/>
            <a:ext cx="4983480" cy="640080"/>
          </a:xfrm>
          <a:prstGeom prst="rect">
            <a:avLst/>
          </a:prstGeom>
          <a:noFill/>
        </p:spPr>
        <p:txBody>
          <a:bodyPr wrap="square" lIns="54864" rIns="54864" tIns="54864" bIns="54864" anchor="t">
            <a:spAutoFit/>
          </a:bodyPr>
          <a:lstStyle/>
          <a:p>
            <a:pPr algn="l"/>
            <a:r>
              <a:rPr sz="1500" b="1" i="1">
                <a:solidFill>
                  <a:srgbClr val="6DDAD7"/>
                </a:solidFill>
                <a:latin typeface="Arial"/>
              </a:rPr>
              <a:t>The conversation is the work—make it observable, repeatable, and trustworthy.</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16</a:t>
            </a:r>
          </a:p>
        </p:txBody>
      </p:sp>
    </p:spTree>
  </p:cSld>
  <p:clrMapOvr>
    <a:masterClrMapping/>
  </p:clrMapOvr>
  <p:transition spd="slow">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Communication Is a Meaning System</a:t>
            </a:r>
          </a:p>
        </p:txBody>
      </p:sp>
      <p:pic>
        <p:nvPicPr>
          <p:cNvPr id="5" name="Picture 4" descr="communication-audit-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 message is not complete when it is sent; it is complete when shared meaning is confirmed.</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Intent begins the message</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Encoding turns intent into words and signals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Noise changes what is received</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Feedback closes the meaning gap</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17</a:t>
            </a:r>
          </a:p>
        </p:txBody>
      </p:sp>
    </p:spTree>
  </p:cSld>
  <p:clrMapOvr>
    <a:masterClrMapping/>
  </p:clrMapOvr>
  <p:transition spd="slow">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Communication Is a Meaning System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Intent begins the message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Encoding turns intent into words and signals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Noise changes what is received</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Feedback closes the meaning gap</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18</a:t>
            </a:r>
          </a:p>
        </p:txBody>
      </p:sp>
    </p:spTree>
  </p:cSld>
  <p:clrMapOvr>
    <a:masterClrMapping/>
  </p:clrMapOvr>
  <p:transition spd="slow">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Communication Is a Meaning System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the handoff failure: a small cue that shared meaning is breaking.</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Uncorrected ambiguity becomes rework, silence, conflict, or a broken customer promise.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Use a closed loop: send, receive, reflect, confirm.</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19</a:t>
            </a:r>
          </a:p>
        </p:txBody>
      </p:sp>
    </p:spTree>
  </p:cSld>
  <p:clrMapOvr>
    <a:masterClrMapping/>
  </p:clrMapOvr>
  <p:transition spd="slow">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COMMUNICATION GURU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A message is not complete when it is sent; it is complete when shared meaning is confirmed.</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pitch line, then prove it through the use a closed loop: send, receive, reflect, confirm.</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20</a:t>
            </a:r>
          </a:p>
        </p:txBody>
      </p:sp>
    </p:spTree>
  </p:cSld>
  <p:clrMapOvr>
    <a:masterClrMapping/>
  </p:clrMapOvr>
  <p:transition spd="slow">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The 7 Cs of Credible Messages</a:t>
            </a:r>
          </a:p>
        </p:txBody>
      </p:sp>
      <p:pic>
        <p:nvPicPr>
          <p:cNvPr id="5" name="Picture 4" descr="active-listening-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Clarity is kindness under pressure.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Clear: one main idea</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Concise: remove friction</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Concrete: show evidence</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Correct: protect trust</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21</a:t>
            </a:r>
          </a:p>
        </p:txBody>
      </p:sp>
    </p:spTree>
  </p:cSld>
  <p:clrMapOvr>
    <a:masterClrMapping/>
  </p:clrMapOvr>
  <p:transition spd="slow">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The 7 Cs of Credible Messages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Clear: one main idea</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Concise: remove friction</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Concrete: show evidence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Correct: protect trust</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22</a:t>
            </a:r>
          </a:p>
        </p:txBody>
      </p:sp>
    </p:spTree>
  </p:cSld>
  <p:clrMapOvr>
    <a:masterClrMapping/>
  </p:clrMapOvr>
  <p:transition spd="slow">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The 7 Cs of Credible Messages | Meaning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Clarify</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Respond</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Confirm</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23</a:t>
            </a:r>
          </a:p>
        </p:txBody>
      </p:sp>
    </p:spTree>
  </p:cSld>
  <p:clrMapOvr>
    <a:masterClrMapping/>
  </p:clrMapOvr>
  <p:transition spd="slow">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COMMUNICATION GURU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“Clarity is kindness under pressure.”</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pitch line, then prove it through the rewrite around audience, purpose, context, action, timing.</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24</a:t>
            </a:r>
          </a:p>
        </p:txBody>
      </p:sp>
    </p:spTree>
  </p:cSld>
  <p:clrMapOvr>
    <a:masterClrMapping/>
  </p:clrMapOvr>
  <p:transition spd="slow">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Active Listening: Listen-Paraphrase-Ask</a:t>
            </a:r>
          </a:p>
        </p:txBody>
      </p:sp>
      <p:pic>
        <p:nvPicPr>
          <p:cNvPr id="5" name="Picture 4" descr="channel-choice-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People cooperate after they feel understood—not merely after they have been instructed.</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Give full attention</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Hear facts and emotion</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Paraphrase meaning, not words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Ask an open clarifying question</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25</a:t>
            </a:r>
          </a:p>
        </p:txBody>
      </p:sp>
    </p:spTree>
  </p:cSld>
  <p:clrMapOvr>
    <a:masterClrMapping/>
  </p:clrMapOvr>
  <p:transition spd="slow">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Active Listening: Listen-Paraphrase-Ask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Give full attention</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Hear facts and emotion</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Paraphrase meaning, not words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Ask an open clarifying question</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26</a:t>
            </a:r>
          </a:p>
        </p:txBody>
      </p:sp>
    </p:spTree>
  </p:cSld>
  <p:clrMapOvr>
    <a:masterClrMapping/>
  </p:clrMapOvr>
  <p:transition spd="slow">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Active Listening: Listen-Paraphrase-Ask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the unheard colleague: a small cue that shared meaning is breaking.</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Uncorrected ambiguity becomes rework, silence, conflict, or a broken customer promise.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Listen without rehearsing; reflect; clarify; then respond.</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27</a:t>
            </a:r>
          </a:p>
        </p:txBody>
      </p:sp>
    </p:spTree>
  </p:cSld>
  <p:clrMapOvr>
    <a:masterClrMapping/>
  </p:clrMapOvr>
  <p:transition spd="slow">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008C95"/>
                </a:solidFill>
                <a:latin typeface="Arial"/>
              </a:rPr>
              <a:t>COMMUNICATION GURU PITCH</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“People cooperate after they feel understood—not merely after they have been instructed.”</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pitch line, then prove it through the listen without rehearsing; reflect; clarify; then respond.</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008C95"/>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28</a:t>
            </a:r>
          </a:p>
        </p:txBody>
      </p:sp>
    </p:spTree>
  </p:cSld>
  <p:clrMapOvr>
    <a:masterClrMapping/>
  </p:clrMapOvr>
  <p:transition spd="slow">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B42318"/>
                </a:solidFill>
                <a:latin typeface="Arial"/>
              </a:rPr>
              <a:t>WATCH | NOTICE | DEBRIEF</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The Art of Active Listening | Harvard Business Review Guide</a:t>
            </a:r>
          </a:p>
        </p:txBody>
      </p:sp>
      <p:sp>
        <p:nvSpPr>
          <p:cNvPr id="5" name="Rounded Rectangle 4"/>
          <p:cNvSpPr/>
          <p:nvPr/>
        </p:nvSpPr>
        <p:spPr>
          <a:xfrm>
            <a:off x="731520" y="1572768"/>
            <a:ext cx="10725912" cy="4251960"/>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234440" y="2286000"/>
            <a:ext cx="1691640" cy="1691640"/>
          </a:xfrm>
          <a:prstGeom prst="ellipse">
            <a:avLst/>
          </a:prstGeom>
          <a:solidFill>
            <a:srgbClr val="B42318"/>
          </a:solidFill>
          <a:ln>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Triangle 6"/>
          <p:cNvSpPr/>
          <p:nvPr/>
        </p:nvSpPr>
        <p:spPr>
          <a:xfrm>
            <a:off x="1847088" y="2743200"/>
            <a:ext cx="530352" cy="658368"/>
          </a:xfrm>
          <a:prstGeom prst="rtTriangle">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46120" y="2075688"/>
            <a:ext cx="7269480" cy="502920"/>
          </a:xfrm>
          <a:prstGeom prst="rect">
            <a:avLst/>
          </a:prstGeom>
          <a:noFill/>
        </p:spPr>
        <p:txBody>
          <a:bodyPr wrap="square" lIns="54864" rIns="54864" tIns="54864" bIns="54864" anchor="t">
            <a:spAutoFit/>
          </a:bodyPr>
          <a:lstStyle/>
          <a:p>
            <a:pPr algn="l"/>
            <a:r>
              <a:rPr sz="1200" b="1" i="0">
                <a:solidFill>
                  <a:srgbClr val="6DDAD7"/>
                </a:solidFill>
                <a:latin typeface="Arial"/>
              </a:rPr>
              <a:t>CLICK TO PLAY ON YOUTUBE</a:t>
            </a:r>
          </a:p>
        </p:txBody>
      </p:sp>
      <p:sp>
        <p:nvSpPr>
          <p:cNvPr id="9" name="TextBox 8">
            <a:hlinkClick r:id="rId2"/>
          </p:cNvPr>
          <p:cNvSpPr txBox="1"/>
          <p:nvPr/>
        </p:nvSpPr>
        <p:spPr>
          <a:xfrm>
            <a:off x="3246120" y="2697480"/>
            <a:ext cx="7269480" cy="914400"/>
          </a:xfrm>
          <a:prstGeom prst="rect">
            <a:avLst/>
          </a:prstGeom>
          <a:noFill/>
        </p:spPr>
        <p:txBody>
          <a:bodyPr wrap="square" lIns="54864" rIns="54864" tIns="54864" bIns="54864" anchor="t">
            <a:spAutoFit/>
          </a:bodyPr>
          <a:lstStyle/>
          <a:p>
            <a:pPr algn="l"/>
            <a:r>
              <a:rPr sz="2300" b="1" i="0">
                <a:solidFill>
                  <a:srgbClr val="FFFFFF"/>
                </a:solidFill>
                <a:latin typeface="Arial"/>
              </a:rPr>
              <a:t>The Art of Active Listening | Harvard Business Review Guide</a:t>
            </a:r>
          </a:p>
        </p:txBody>
      </p:sp>
      <p:sp>
        <p:nvSpPr>
          <p:cNvPr id="10" name="TextBox 9"/>
          <p:cNvSpPr txBox="1"/>
          <p:nvPr/>
        </p:nvSpPr>
        <p:spPr>
          <a:xfrm>
            <a:off x="3246120" y="3840480"/>
            <a:ext cx="7040880" cy="685800"/>
          </a:xfrm>
          <a:prstGeom prst="rect">
            <a:avLst/>
          </a:prstGeom>
          <a:noFill/>
        </p:spPr>
        <p:txBody>
          <a:bodyPr wrap="square" lIns="54864" rIns="54864" tIns="54864" bIns="54864" anchor="t">
            <a:spAutoFit/>
          </a:bodyPr>
          <a:lstStyle/>
          <a:p>
            <a:pPr algn="l"/>
            <a:r>
              <a:rPr sz="1400" b="0" i="0">
                <a:solidFill>
                  <a:srgbClr val="D7E0EA"/>
                </a:solidFill>
                <a:latin typeface="Arial"/>
              </a:rPr>
              <a:t>Duration 6:37 | Listen beyond agreement: identify focus, missing context, and the speaker's need.</a:t>
            </a:r>
          </a:p>
        </p:txBody>
      </p:sp>
      <p:sp>
        <p:nvSpPr>
          <p:cNvPr id="11" name="TextBox 10"/>
          <p:cNvSpPr txBox="1"/>
          <p:nvPr/>
        </p:nvSpPr>
        <p:spPr>
          <a:xfrm>
            <a:off x="1234440" y="5166360"/>
            <a:ext cx="9646920" cy="310896"/>
          </a:xfrm>
          <a:prstGeom prst="rect">
            <a:avLst/>
          </a:prstGeom>
          <a:noFill/>
        </p:spPr>
        <p:txBody>
          <a:bodyPr wrap="square" lIns="54864" rIns="54864" tIns="54864" bIns="54864" anchor="t">
            <a:spAutoFit/>
          </a:bodyPr>
          <a:lstStyle/>
          <a:p>
            <a:pPr algn="l"/>
            <a:r>
              <a:rPr sz="900" b="1" i="0">
                <a:solidFill>
                  <a:srgbClr val="6DDAD7"/>
                </a:solidFill>
                <a:latin typeface="Arial"/>
              </a:rPr>
              <a:t>https://www.youtube.com/watch?v=aDMtx5ivKK0</a:t>
            </a:r>
          </a:p>
        </p:txBody>
      </p:sp>
      <p:sp>
        <p:nvSpPr>
          <p:cNvPr id="12" name="TextBox 11"/>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3" name="TextBox 12"/>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29</a:t>
            </a:r>
          </a:p>
        </p:txBody>
      </p:sp>
    </p:spTree>
  </p:cSld>
  <p:clrMapOvr>
    <a:masterClrMapping/>
  </p:clrMapOvr>
  <p:transition spd="slow">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Nonverbal Alignment</a:t>
            </a:r>
          </a:p>
        </p:txBody>
      </p:sp>
      <p:pic>
        <p:nvPicPr>
          <p:cNvPr id="5" name="Picture 4" descr="customer-recovery-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When words and signals disagree, trust follows the signal.</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Posture signals openness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Facial expression signals safety</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Tone carries intent</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Timing and silence create space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30</a:t>
            </a:r>
          </a:p>
        </p:txBody>
      </p:sp>
    </p:spTree>
  </p:cSld>
  <p:clrMapOvr>
    <a:masterClrMapping/>
  </p:clrMapOvr>
  <p:transition spd="slow">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Nonverbal Alignment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Posture signals openness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Facial expression signals safety</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Tone carries intent</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Timing and silence create space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31</a:t>
            </a:r>
          </a:p>
        </p:txBody>
      </p:sp>
    </p:spTree>
  </p:cSld>
  <p:clrMapOvr>
    <a:masterClrMapping/>
  </p:clrMapOvr>
  <p:transition spd="slow">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Nonverbal Alignment | Meaning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Clarify</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Respond</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Confirm</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32</a:t>
            </a:r>
          </a:p>
        </p:txBody>
      </p:sp>
    </p:spTree>
  </p:cSld>
  <p:clrMapOvr>
    <a:masterClrMapping/>
  </p:clrMapOvr>
  <p:transition spd="slow">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COMMUNICATION GURU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“When words and signals disagree, trust follows the signal.”</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pitch line, then prove it through the align voice, face, posture, pace, and context.</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33</a:t>
            </a:r>
          </a:p>
        </p:txBody>
      </p:sp>
    </p:spTree>
  </p:cSld>
  <p:clrMapOvr>
    <a:masterClrMapping/>
  </p:clrMapOvr>
  <p:transition spd="slow">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Choose the Channel by Communication Richness</a:t>
            </a:r>
          </a:p>
        </p:txBody>
      </p:sp>
      <p:pic>
        <p:nvPicPr>
          <p:cNvPr id="5" name="Picture 4" descr="communication-audit-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The best channel is the one that protects meaning at the speed the situation requires.</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Urgency: how fast must meaning move?</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Ambiguity: how much nuance is needed?</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Reach: who must receive it?</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Record: what evidence must remain?</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34</a:t>
            </a:r>
          </a:p>
        </p:txBody>
      </p:sp>
    </p:spTree>
  </p:cSld>
  <p:clrMapOvr>
    <a:masterClrMapping/>
  </p:clrMapOvr>
  <p:transition spd="slow">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Choose the Channel by Communication Richness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Urgency: how fast must meaning move?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Ambiguity: how much nuance is needed?</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Reach: who must receive it?</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Record: what evidence must remain?</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35</a:t>
            </a:r>
          </a:p>
        </p:txBody>
      </p:sp>
    </p:spTree>
  </p:cSld>
  <p:clrMapOvr>
    <a:masterClrMapping/>
  </p:clrMapOvr>
  <p:transition spd="slow">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Choose the Channel by Communication Richness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the wrong channel: a small cue that shared meaning is breaking.</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Uncorrected ambiguity becomes rework, silence, conflict, or a broken customer promise.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Match rich channels to ambiguity; persistent channels to record and scale.</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36</a:t>
            </a:r>
          </a:p>
        </p:txBody>
      </p:sp>
    </p:spTree>
  </p:cSld>
  <p:clrMapOvr>
    <a:masterClrMapping/>
  </p:clrMapOvr>
  <p:transition spd="slow">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008C95"/>
                </a:solidFill>
                <a:latin typeface="Arial"/>
              </a:rPr>
              <a:t>COMMUNICATION GURU PITCH</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“The best channel is the one that protects meaning at the speed the situation requires.”</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pitch line, then prove it through the match rich channels to ambiguity; persistent channels to record and scale.</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008C95"/>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37</a:t>
            </a:r>
          </a:p>
        </p:txBody>
      </p:sp>
    </p:spTree>
  </p:cSld>
  <p:clrMapOvr>
    <a:masterClrMapping/>
  </p:clrMapOvr>
  <p:transition spd="slow">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Digital Communication Without Context Loss</a:t>
            </a:r>
          </a:p>
        </p:txBody>
      </p:sp>
      <p:pic>
        <p:nvPicPr>
          <p:cNvPr id="5" name="Picture 4" descr="active-listening-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Digital speed is useful only when it does not outrun understanding.</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Lead with purpose</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Make the ask visible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Separate facts from interpretations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Escalate from text when emotion or ambiguity rises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38</a:t>
            </a:r>
          </a:p>
        </p:txBody>
      </p:sp>
    </p:spTree>
  </p:cSld>
  <p:clrMapOvr>
    <a:masterClrMapping/>
  </p:clrMapOvr>
  <p:transition spd="slow">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Digital Communication Without Context Loss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Lead with purpose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Make the ask visible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Separate facts from interpretations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Escalate from text when emotion or ambiguity rises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39</a:t>
            </a:r>
          </a:p>
        </p:txBody>
      </p:sp>
    </p:spTree>
  </p:cSld>
  <p:clrMapOvr>
    <a:masterClrMapping/>
  </p:clrMapOvr>
  <p:transition spd="slow">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Digital Communication Without Context Loss | Meaning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Clarify</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Respond</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Confirm</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40</a:t>
            </a:r>
          </a:p>
        </p:txBody>
      </p:sp>
    </p:spTree>
  </p:cSld>
  <p:clrMapOvr>
    <a:masterClrMapping/>
  </p:clrMapOvr>
  <p:transition spd="slow">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COMMUNICATION GURU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Digital speed is useful only when it does not outrun understanding.</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pitch line, then prove it through the use subject, context, action, owner, deadline; move to voice for nuance.</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41</a:t>
            </a:r>
          </a:p>
        </p:txBody>
      </p:sp>
    </p:spTree>
  </p:cSld>
  <p:clrMapOvr>
    <a:masterClrMapping/>
  </p:clrMapOvr>
  <p:transition spd="slow">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Culture Shapes Who Speaks and How</a:t>
            </a:r>
          </a:p>
        </p:txBody>
      </p:sp>
      <p:pic>
        <p:nvPicPr>
          <p:cNvPr id="5" name="Picture 4" descr="channel-choice-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Silence can mean agreement, uncertainty, respect, or fear—never guess when you can ask.</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Power distance</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Direct versus indirect expression</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Individual versus collective orientation</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Tolerance for uncertainty</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42</a:t>
            </a:r>
          </a:p>
        </p:txBody>
      </p:sp>
    </p:spTree>
  </p:cSld>
  <p:clrMapOvr>
    <a:masterClrMapping/>
  </p:clrMapOvr>
  <p:transition spd="slow">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Culture Shapes Who Speaks and How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Power distance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Direct versus indirect expression</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Individual versus collective orientation</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Tolerance for uncertainty</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43</a:t>
            </a:r>
          </a:p>
        </p:txBody>
      </p:sp>
    </p:spTree>
  </p:cSld>
  <p:clrMapOvr>
    <a:masterClrMapping/>
  </p:clrMapOvr>
  <p:transition spd="slow">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Culture Shapes Who Speaks and How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the silent meeting: a small cue that shared meaning is breaking.</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Uncorrected ambiguity becomes rework, silence, conflict, or a broken customer promise.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Invite multiple channels, normalize dissent, and clarify decision rules.</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44</a:t>
            </a:r>
          </a:p>
        </p:txBody>
      </p:sp>
    </p:spTree>
  </p:cSld>
  <p:clrMapOvr>
    <a:masterClrMapping/>
  </p:clrMapOvr>
  <p:transition spd="slow">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COMMUNICATION GURU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“Silence can mean agreement, uncertainty, respect, or fear—never guess when you can ask.”</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pitch line, then prove it through the invite multiple channels, normalize dissent, and clarify decision rules.</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45</a:t>
            </a:r>
          </a:p>
        </p:txBody>
      </p:sp>
    </p:spTree>
  </p:cSld>
  <p:clrMapOvr>
    <a:masterClrMapping/>
  </p:clrMapOvr>
  <p:transition spd="slow">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Audit Workplace Communication</a:t>
            </a:r>
          </a:p>
        </p:txBody>
      </p:sp>
      <p:pic>
        <p:nvPicPr>
          <p:cNvPr id="5" name="Picture 4" descr="customer-recovery-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What gets discussed may improve; what gets measured can be managed.</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Collect: surveys, interviews, observations, artefacts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Map: audience, channel, message, handoff</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Measure: reach, understanding, action, trust</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Benchmark: current state, target, external practice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46</a:t>
            </a:r>
          </a:p>
        </p:txBody>
      </p:sp>
    </p:spTree>
  </p:cSld>
  <p:clrMapOvr>
    <a:masterClrMapping/>
  </p:clrMapOvr>
  <p:transition spd="slow">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Audit Workplace Communication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Collect: surveys, interviews, observations, artefacts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Map: audience, channel, message, handoff</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Measure: reach, understanding, action, trust</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Benchmark: current state, target, external practice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47</a:t>
            </a:r>
          </a:p>
        </p:txBody>
      </p:sp>
    </p:spTree>
  </p:cSld>
  <p:clrMapOvr>
    <a:masterClrMapping/>
  </p:clrMapOvr>
  <p:transition spd="slow">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Audit Workplace Communication | Meaning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Clarify</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Respond</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Confirm</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48</a:t>
            </a:r>
          </a:p>
        </p:txBody>
      </p:sp>
    </p:spTree>
  </p:cSld>
  <p:clrMapOvr>
    <a:masterClrMapping/>
  </p:clrMapOvr>
  <p:transition spd="slow">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008C95"/>
                </a:solidFill>
                <a:latin typeface="Arial"/>
              </a:rPr>
              <a:t>COMMUNICATION GURU PITCH</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“What gets discussed may improve; what gets measured can be managed.”</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pitch line, then prove it through the triangulate evidence and benchmark suitability, not popularity.</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008C95"/>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49</a:t>
            </a:r>
          </a:p>
        </p:txBody>
      </p:sp>
    </p:spTree>
  </p:cSld>
  <p:clrMapOvr>
    <a:masterClrMapping/>
  </p:clrMapOvr>
  <p:transition spd="slow">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Communication Drives Customer Satisfaction</a:t>
            </a:r>
          </a:p>
        </p:txBody>
      </p:sp>
      <p:pic>
        <p:nvPicPr>
          <p:cNvPr id="5" name="Picture 4" descr="communication-audit-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The customer experiences the quality of your internal conversations.</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Internal clarity reduces handoff errors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Expectation setting reduces surprise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Empathy protects dignity</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Closed-loop recovery restores confidence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50</a:t>
            </a:r>
          </a:p>
        </p:txBody>
      </p:sp>
    </p:spTree>
  </p:cSld>
  <p:clrMapOvr>
    <a:masterClrMapping/>
  </p:clrMapOvr>
  <p:transition spd="slow">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Communication Drives Customer Satisfaction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Internal clarity reduces handoff errors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Expectation setting reduces surprise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Empathy protects dignity</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Closed-loop recovery restores confidence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51</a:t>
            </a:r>
          </a:p>
        </p:txBody>
      </p:sp>
    </p:spTree>
  </p:cSld>
  <p:clrMapOvr>
    <a:masterClrMapping/>
  </p:clrMapOvr>
  <p:transition spd="slow">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Communication Drives Customer Satisfaction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the service recovery: a small cue that shared meaning is breaking.</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Uncorrected ambiguity becomes rework, silence, conflict, or a broken customer promise.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Acknowledge, clarify, own, act, update, and confirm recovery.</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52</a:t>
            </a:r>
          </a:p>
        </p:txBody>
      </p:sp>
    </p:spTree>
  </p:cSld>
  <p:clrMapOvr>
    <a:masterClrMapping/>
  </p:clrMapOvr>
  <p:transition spd="slow">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COMMUNICATION GURU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The customer experiences the quality of your internal conversations.</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pitch line, then prove it through the acknowledge, clarify, own, act, update, and confirm recovery.</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53</a:t>
            </a:r>
          </a:p>
        </p:txBody>
      </p:sp>
    </p:spTree>
  </p:cSld>
  <p:clrMapOvr>
    <a:masterClrMapping/>
  </p:clrMapOvr>
  <p:transition spd="slow">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Activity 01 | Communication Audit at EverBright Electronics</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K1, K2, K3, K4, A1</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EverBright Electronics assembles smart-home devices in Singapore. Sales promises customised delivery dates, Operations works from a weekly spreadsheet, and Customer Care learns of delays only after customers call. Employee pulse comments show that junior staff hesitate to challenge optimistic deadlines. Three enterprise customers have escalated late orders in the last month.</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Audit lead, Sales representative, Operations planner.</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communication journey map and evidence-based gap analysis.</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Uses at least three evidence types.</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scenario, role cards, playbook, questions, worksheets, and acceptance criteria are in the Learner Guide and activity PDF pack.</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54</a:t>
            </a:r>
          </a:p>
        </p:txBody>
      </p:sp>
    </p:spTree>
  </p:cSld>
  <p:clrMapOvr>
    <a:masterClrMapping/>
  </p:clrMapOvr>
  <p:transition spd="slow">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200" b="1" i="0">
                <a:solidFill>
                  <a:srgbClr val="131B2A"/>
                </a:solidFill>
                <a:latin typeface="Arial"/>
              </a:rPr>
              <a:t>Activity 02 | Active Listening and Customer Recovery at NovaCare Clinics</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K1, K5, A1</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A patient arrives for a specialist appointment that was moved by the call centre but not updated in the clinic schedule. The patient has taken unpaid leave and is visibly frustrated. The receptionist has a full queue, the nurse knows a slot may open, and the duty manager must restore trust without promising what the clinic cannot deliver.</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Customer/patient, Frontline receptionist, Duty manager.</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observer scorecard and recovery conversation script.</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No interruption during the customer's opening.</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scenario, role cards, playbook, questions, worksheets, and acceptance criteria are in the Learner Guide and activity PDF pack.</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55</a:t>
            </a:r>
          </a:p>
        </p:txBody>
      </p:sp>
    </p:spTree>
  </p:cSld>
  <p:clrMapOvr>
    <a:masterClrMapping/>
  </p:clrMapOvr>
  <p:transition spd="slow">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Activity 03 | Channel Choice for a Time-Critical Hotel Service Failure</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K2, K4, A1</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At Meridian Bay Hotel, a water-pressure problem affects 28 rooms during a sold-out weekend. Engineering needs 45 minutes to diagnose it. Front Office must brief guests, Housekeeping needs room-impact data, and the General Manager wants a record of decisions. Previous incidents produced conflicting chat messages and duplicate compensation offers.</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Incident lead, Engineering lead, Front Office manager.</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channel decision matrix and incident huddle script.</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Each channel choice is justified.</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scenario, role cards, playbook, questions, worksheets, and acceptance criteria are in the Learner Guide and activity PDF pack.</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56</a:t>
            </a:r>
          </a:p>
        </p:txBody>
      </p:sp>
    </p:spTree>
  </p:cSld>
  <p:clrMapOvr>
    <a:masterClrMapping/>
  </p:clrMapOvr>
  <p:transition spd="slow">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67D58"/>
                </a:solidFill>
                <a:latin typeface="Arial"/>
              </a:rPr>
              <a:t>EVIDENCE CHECK</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Topic 1 | Evidence of competence</a:t>
            </a:r>
          </a:p>
        </p:txBody>
      </p:sp>
      <p:sp>
        <p:nvSpPr>
          <p:cNvPr id="5" name="Rounded Rectangle 4"/>
          <p:cNvSpPr/>
          <p:nvPr/>
        </p:nvSpPr>
        <p:spPr>
          <a:xfrm>
            <a:off x="713232" y="1920240"/>
            <a:ext cx="10771632" cy="3063240"/>
          </a:xfrm>
          <a:prstGeom prst="roundRect">
            <a:avLst/>
          </a:prstGeom>
          <a:solidFill>
            <a:srgbClr val="E8F7EE"/>
          </a:solidFill>
          <a:ln>
            <a:solidFill>
              <a:srgbClr val="B7E1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286000"/>
            <a:ext cx="10012680" cy="457200"/>
          </a:xfrm>
          <a:prstGeom prst="rect">
            <a:avLst/>
          </a:prstGeom>
          <a:noFill/>
        </p:spPr>
        <p:txBody>
          <a:bodyPr wrap="square" lIns="54864" rIns="54864" tIns="54864" bIns="54864" anchor="t">
            <a:spAutoFit/>
          </a:bodyPr>
          <a:lstStyle/>
          <a:p>
            <a:pPr algn="l"/>
            <a:r>
              <a:rPr sz="1500" b="1" i="0">
                <a:solidFill>
                  <a:srgbClr val="167D58"/>
                </a:solidFill>
                <a:latin typeface="Arial"/>
              </a:rPr>
              <a:t>PROOF OF SHARED MEANING</a:t>
            </a:r>
          </a:p>
        </p:txBody>
      </p:sp>
      <p:sp>
        <p:nvSpPr>
          <p:cNvPr id="7" name="TextBox 6"/>
          <p:cNvSpPr txBox="1"/>
          <p:nvPr/>
        </p:nvSpPr>
        <p:spPr>
          <a:xfrm>
            <a:off x="1051560" y="2971800"/>
            <a:ext cx="10012680" cy="1325880"/>
          </a:xfrm>
          <a:prstGeom prst="rect">
            <a:avLst/>
          </a:prstGeom>
          <a:noFill/>
        </p:spPr>
        <p:txBody>
          <a:bodyPr wrap="square" lIns="54864" rIns="54864" tIns="54864" bIns="54864" anchor="ctr">
            <a:spAutoFit/>
          </a:bodyPr>
          <a:lstStyle/>
          <a:p>
            <a:pPr algn="l"/>
            <a:r>
              <a:rPr sz="2400" b="1" i="0">
                <a:solidFill>
                  <a:srgbClr val="131B2A"/>
                </a:solidFill>
                <a:latin typeface="Arial"/>
              </a:rPr>
              <a:t>A recommendation is credible when the evidence, audience need, channel choice, behaviour, owner, and measure all point in the same direction.</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57</a:t>
            </a:r>
          </a:p>
        </p:txBody>
      </p:sp>
    </p:spTree>
  </p:cSld>
  <p:clrMapOvr>
    <a:masterClrMapping/>
  </p:clrMapOvr>
  <p:transition spd="slow">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93408"/>
            <a:ext cx="12191695" cy="1645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48840"/>
            <a:ext cx="12191695" cy="1051560"/>
          </a:xfrm>
          <a:prstGeom prst="rect">
            <a:avLst/>
          </a:prstGeom>
          <a:noFill/>
        </p:spPr>
        <p:txBody>
          <a:bodyPr wrap="square" lIns="54864" rIns="54864" tIns="54864" bIns="54864" anchor="t">
            <a:spAutoFit/>
          </a:bodyPr>
          <a:lstStyle/>
          <a:p>
            <a:pPr algn="ctr"/>
            <a:r>
              <a:rPr sz="4400" b="1" i="0">
                <a:solidFill>
                  <a:srgbClr val="0E2A47"/>
                </a:solidFill>
                <a:latin typeface="Arial"/>
              </a:rPr>
              <a:t>Lunch Break</a:t>
            </a:r>
          </a:p>
        </p:txBody>
      </p:sp>
      <p:sp>
        <p:nvSpPr>
          <p:cNvPr id="6" name="TextBox 5"/>
          <p:cNvSpPr txBox="1"/>
          <p:nvPr/>
        </p:nvSpPr>
        <p:spPr>
          <a:xfrm>
            <a:off x="0" y="3520440"/>
            <a:ext cx="12191695" cy="548640"/>
          </a:xfrm>
          <a:prstGeom prst="rect">
            <a:avLst/>
          </a:prstGeom>
          <a:noFill/>
        </p:spPr>
        <p:txBody>
          <a:bodyPr wrap="square" lIns="54864" rIns="54864" tIns="54864" bIns="54864" anchor="t">
            <a:spAutoFit/>
          </a:bodyPr>
          <a:lstStyle/>
          <a:p>
            <a:pPr algn="ctr"/>
            <a:r>
              <a:rPr sz="1900" b="1" i="0">
                <a:solidFill>
                  <a:srgbClr val="E68300"/>
                </a:solidFill>
                <a:latin typeface="Arial"/>
              </a:rPr>
              <a:t>60 minutes</a:t>
            </a:r>
          </a:p>
        </p:txBody>
      </p:sp>
      <p:sp>
        <p:nvSpPr>
          <p:cNvPr id="7" name="TextBox 6"/>
          <p:cNvSpPr txBox="1"/>
          <p:nvPr/>
        </p:nvSpPr>
        <p:spPr>
          <a:xfrm>
            <a:off x="1965960" y="4617720"/>
            <a:ext cx="8229600" cy="502920"/>
          </a:xfrm>
          <a:prstGeom prst="rect">
            <a:avLst/>
          </a:prstGeom>
          <a:noFill/>
        </p:spPr>
        <p:txBody>
          <a:bodyPr wrap="square" lIns="54864" rIns="54864" tIns="54864" bIns="54864" anchor="t">
            <a:spAutoFit/>
          </a:bodyPr>
          <a:lstStyle/>
          <a:p>
            <a:pPr algn="ctr"/>
            <a:r>
              <a:rPr sz="1500" b="0" i="1">
                <a:solidFill>
                  <a:srgbClr val="5C6677"/>
                </a:solidFill>
                <a:latin typeface="Arial"/>
              </a:rPr>
              <a:t>Pause the noise. Return with attention.</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58</a:t>
            </a:r>
          </a:p>
        </p:txBody>
      </p:sp>
    </p:spTree>
  </p:cSld>
  <p:clrMapOvr>
    <a:masterClrMapping/>
  </p:clrMapOvr>
  <p:transition spd="slow">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lan-launch-v10.png"/>
          <p:cNvPicPr>
            <a:picLocks noChangeAspect="1"/>
          </p:cNvPicPr>
          <p:nvPr/>
        </p:nvPicPr>
        <p:blipFill>
          <a:blip r:embed="rId2"/>
          <a:srcRect l="24186" r="24186"/>
          <a:stretch>
            <a:fillRect/>
          </a:stretch>
        </p:blipFill>
        <p:spPr>
          <a:xfrm>
            <a:off x="5897880" y="0"/>
            <a:ext cx="6291072" cy="6858000"/>
          </a:xfrm>
          <a:prstGeom prst="rect">
            <a:avLst/>
          </a:prstGeom>
        </p:spPr>
      </p:pic>
      <p:sp>
        <p:nvSpPr>
          <p:cNvPr id="4" name="Rectangle 3"/>
          <p:cNvSpPr/>
          <p:nvPr/>
        </p:nvSpPr>
        <p:spPr>
          <a:xfrm>
            <a:off x="5303520" y="0"/>
            <a:ext cx="2011680"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58368"/>
            <a:ext cx="4480560" cy="365760"/>
          </a:xfrm>
          <a:prstGeom prst="rect">
            <a:avLst/>
          </a:prstGeom>
          <a:noFill/>
        </p:spPr>
        <p:txBody>
          <a:bodyPr wrap="square" lIns="54864" rIns="54864" tIns="54864" bIns="54864" anchor="t">
            <a:spAutoFit/>
          </a:bodyPr>
          <a:lstStyle/>
          <a:p>
            <a:pPr algn="l"/>
            <a:r>
              <a:rPr sz="1100" b="1" i="0">
                <a:solidFill>
                  <a:srgbClr val="6DDAD7"/>
                </a:solidFill>
                <a:latin typeface="Arial"/>
              </a:rPr>
              <a:t>SECTION 02</a:t>
            </a:r>
          </a:p>
        </p:txBody>
      </p:sp>
      <p:sp>
        <p:nvSpPr>
          <p:cNvPr id="6" name="TextBox 5"/>
          <p:cNvSpPr txBox="1"/>
          <p:nvPr/>
        </p:nvSpPr>
        <p:spPr>
          <a:xfrm>
            <a:off x="658368" y="1325880"/>
            <a:ext cx="5166360" cy="1965960"/>
          </a:xfrm>
          <a:prstGeom prst="rect">
            <a:avLst/>
          </a:prstGeom>
          <a:noFill/>
        </p:spPr>
        <p:txBody>
          <a:bodyPr wrap="square" lIns="54864" rIns="54864" tIns="54864" bIns="54864" anchor="t">
            <a:spAutoFit/>
          </a:bodyPr>
          <a:lstStyle/>
          <a:p>
            <a:pPr algn="l"/>
            <a:r>
              <a:rPr sz="3600" b="1" i="0">
                <a:solidFill>
                  <a:srgbClr val="FFFFFF"/>
                </a:solidFill>
                <a:latin typeface="Arial"/>
              </a:rPr>
              <a:t>Develop a Communications Plan</a:t>
            </a:r>
          </a:p>
        </p:txBody>
      </p:sp>
      <p:sp>
        <p:nvSpPr>
          <p:cNvPr id="7" name="TextBox 6"/>
          <p:cNvSpPr txBox="1"/>
          <p:nvPr/>
        </p:nvSpPr>
        <p:spPr>
          <a:xfrm>
            <a:off x="685800" y="3675887"/>
            <a:ext cx="4937760" cy="960120"/>
          </a:xfrm>
          <a:prstGeom prst="rect">
            <a:avLst/>
          </a:prstGeom>
          <a:noFill/>
        </p:spPr>
        <p:txBody>
          <a:bodyPr wrap="square" lIns="54864" rIns="54864" tIns="54864" bIns="54864" anchor="t">
            <a:spAutoFit/>
          </a:bodyPr>
          <a:lstStyle/>
          <a:p>
            <a:pPr algn="l"/>
            <a:r>
              <a:rPr sz="1700" b="0" i="0">
                <a:solidFill>
                  <a:srgbClr val="D7E0EA"/>
                </a:solidFill>
                <a:latin typeface="Arial"/>
              </a:rPr>
              <a:t>goals | audiences | messages | channels | cadence | measures | K3, K4, A2, A3</a:t>
            </a:r>
          </a:p>
        </p:txBody>
      </p:sp>
      <p:sp>
        <p:nvSpPr>
          <p:cNvPr id="8" name="TextBox 7"/>
          <p:cNvSpPr txBox="1"/>
          <p:nvPr/>
        </p:nvSpPr>
        <p:spPr>
          <a:xfrm>
            <a:off x="685800" y="5175504"/>
            <a:ext cx="4983480" cy="640080"/>
          </a:xfrm>
          <a:prstGeom prst="rect">
            <a:avLst/>
          </a:prstGeom>
          <a:noFill/>
        </p:spPr>
        <p:txBody>
          <a:bodyPr wrap="square" lIns="54864" rIns="54864" tIns="54864" bIns="54864" anchor="t">
            <a:spAutoFit/>
          </a:bodyPr>
          <a:lstStyle/>
          <a:p>
            <a:pPr algn="l"/>
            <a:r>
              <a:rPr sz="1500" b="1" i="1">
                <a:solidFill>
                  <a:srgbClr val="6DDAD7"/>
                </a:solidFill>
                <a:latin typeface="Arial"/>
              </a:rPr>
              <a:t>The conversation is the work—make it observable, repeatable, and trustworthy.</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59</a:t>
            </a:r>
          </a:p>
        </p:txBody>
      </p:sp>
    </p:spTree>
  </p:cSld>
  <p:clrMapOvr>
    <a:masterClrMapping/>
  </p:clrMapOvr>
  <p:transition spd="slow">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 Plan Is a Behaviour-Change System</a:t>
            </a:r>
          </a:p>
        </p:txBody>
      </p:sp>
      <p:pic>
        <p:nvPicPr>
          <p:cNvPr id="5" name="Picture 4" descr="plan-launch-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 communication plan is not a calendar of messages; it is an architecture for coordinated action.</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Business outcome</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Audience behaviour</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Message and proof</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Channel and cadence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60</a:t>
            </a:r>
          </a:p>
        </p:txBody>
      </p:sp>
    </p:spTree>
  </p:cSld>
  <p:clrMapOvr>
    <a:masterClrMapping/>
  </p:clrMapOvr>
  <p:transition spd="slow">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 Plan Is a Behaviour-Change System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Business outcome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Audience behaviour</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Message and proof</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Channel and cadence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61</a:t>
            </a:r>
          </a:p>
        </p:txBody>
      </p:sp>
    </p:spTree>
  </p:cSld>
  <p:clrMapOvr>
    <a:masterClrMapping/>
  </p:clrMapOvr>
  <p:transition spd="slow">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 Plan Is a Behaviour-Change System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the announcement-only plan: a small cue that shared meaning is breaking.</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Uncorrected ambiguity becomes rework, silence, conflict, or a broken customer promise.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Start with the behaviour that must change, not the channel you want to use.</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62</a:t>
            </a:r>
          </a:p>
        </p:txBody>
      </p:sp>
    </p:spTree>
  </p:cSld>
  <p:clrMapOvr>
    <a:masterClrMapping/>
  </p:clrMapOvr>
  <p:transition spd="slow">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COMMUNICATION GURU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“A communication plan is not a calendar of messages; it is an architecture for coordinated action.”</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pitch line, then prove it through the start with the behaviour that must change, not the channel you want to use.</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63</a:t>
            </a:r>
          </a:p>
        </p:txBody>
      </p:sp>
    </p:spTree>
  </p:cSld>
  <p:clrMapOvr>
    <a:masterClrMapping/>
  </p:clrMapOvr>
  <p:transition spd="slow">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Set Outcome-Based Objectives</a:t>
            </a:r>
          </a:p>
        </p:txBody>
      </p:sp>
      <p:pic>
        <p:nvPicPr>
          <p:cNvPr id="5" name="Picture 4" descr="team-handoff-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If the objective cannot be observed, the message cannot be improved.</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Specific audience</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Observable action</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Measurable result</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Time boundary</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64</a:t>
            </a:r>
          </a:p>
        </p:txBody>
      </p:sp>
    </p:spTree>
  </p:cSld>
  <p:clrMapOvr>
    <a:masterClrMapping/>
  </p:clrMapOvr>
  <p:transition spd="slow">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Set Outcome-Based Objectives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Specific audience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Observable action</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Measurable result</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Time boundary</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65</a:t>
            </a:r>
          </a:p>
        </p:txBody>
      </p:sp>
    </p:spTree>
  </p:cSld>
  <p:clrMapOvr>
    <a:masterClrMapping/>
  </p:clrMapOvr>
  <p:transition spd="slow">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Set Outcome-Based Objectives | Meaning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Clarify</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Respond</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Confirm</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66</a:t>
            </a:r>
          </a:p>
        </p:txBody>
      </p:sp>
    </p:spTree>
  </p:cSld>
  <p:clrMapOvr>
    <a:masterClrMapping/>
  </p:clrMapOvr>
  <p:transition spd="slow">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008C95"/>
                </a:solidFill>
                <a:latin typeface="Arial"/>
              </a:rPr>
              <a:t>COMMUNICATION GURU PITCH</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“If the objective cannot be observed, the message cannot be improved.”</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pitch line, then prove it through the write objectives as audience + behaviour + measure + deadline.</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008C95"/>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67</a:t>
            </a:r>
          </a:p>
        </p:txBody>
      </p:sp>
    </p:spTree>
  </p:cSld>
  <p:clrMapOvr>
    <a:masterClrMapping/>
  </p:clrMapOvr>
  <p:transition spd="slow">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Read the Environment</a:t>
            </a:r>
          </a:p>
        </p:txBody>
      </p:sp>
      <p:pic>
        <p:nvPicPr>
          <p:cNvPr id="5" name="Picture 4" descr="communication-audit-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Context is the invisible audience in every message.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External trends and customer expectations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Workforce composition and engagement</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Technology and channel patterns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Operational risk and change load</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68</a:t>
            </a:r>
          </a:p>
        </p:txBody>
      </p:sp>
    </p:spTree>
  </p:cSld>
  <p:clrMapOvr>
    <a:masterClrMapping/>
  </p:clrMapOvr>
  <p:transition spd="slow">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Read the Environment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External trends and customer expectations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Workforce composition and engagement</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Technology and channel patterns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Operational risk and change load</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69</a:t>
            </a:r>
          </a:p>
        </p:txBody>
      </p:sp>
    </p:spTree>
  </p:cSld>
  <p:clrMapOvr>
    <a:masterClrMapping/>
  </p:clrMapOvr>
  <p:transition spd="slow">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Read the Environment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the trend blind spot: a small cue that shared meaning is breaking.</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Uncorrected ambiguity becomes rework, silence, conflict, or a broken customer promise.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Use evidence to decide what employees need, fear, and can realistically absorb.</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70</a:t>
            </a:r>
          </a:p>
        </p:txBody>
      </p:sp>
    </p:spTree>
  </p:cSld>
  <p:clrMapOvr>
    <a:masterClrMapping/>
  </p:clrMapOvr>
  <p:transition spd="slow">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COMMUNICATION GURU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Context is the invisible audience in every message.</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pitch line, then prove it through the use evidence to decide what employees need, fear, and can realistically absorb.</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71</a:t>
            </a:r>
          </a:p>
        </p:txBody>
      </p:sp>
    </p:spTree>
  </p:cSld>
  <p:clrMapOvr>
    <a:masterClrMapping/>
  </p:clrMapOvr>
  <p:transition spd="slow">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Segment Audiences by Need and Influence</a:t>
            </a:r>
          </a:p>
        </p:txBody>
      </p:sp>
      <p:pic>
        <p:nvPicPr>
          <p:cNvPr id="5" name="Picture 4" descr="plan-launch-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There is no such thing as a general audience—only people with different stakes.</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Decision makers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People who implement</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People affected</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Advocates and resistors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72</a:t>
            </a:r>
          </a:p>
        </p:txBody>
      </p:sp>
    </p:spTree>
  </p:cSld>
  <p:clrMapOvr>
    <a:masterClrMapping/>
  </p:clrMapOvr>
  <p:transition spd="slow">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Segment Audiences by Need and Influence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Decision makers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People who implement</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People affected</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Advocates and resistors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73</a:t>
            </a:r>
          </a:p>
        </p:txBody>
      </p:sp>
    </p:spTree>
  </p:cSld>
  <p:clrMapOvr>
    <a:masterClrMapping/>
  </p:clrMapOvr>
  <p:transition spd="slow">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Segment Audiences by Need and Influence | Meaning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Clarify</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Respond</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Confirm</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74</a:t>
            </a:r>
          </a:p>
        </p:txBody>
      </p:sp>
    </p:spTree>
  </p:cSld>
  <p:clrMapOvr>
    <a:masterClrMapping/>
  </p:clrMapOvr>
  <p:transition spd="slow">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COMMUNICATION GURU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“There is no such thing as a general audience—only people with different stakes.”</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pitch line, then prove it through the map influence, impact, current belief, desired action, and preferred channel.</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75</a:t>
            </a:r>
          </a:p>
        </p:txBody>
      </p:sp>
    </p:spTree>
  </p:cSld>
  <p:clrMapOvr>
    <a:masterClrMapping/>
  </p:clrMapOvr>
  <p:transition spd="slow">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Design a Message House</a:t>
            </a:r>
          </a:p>
        </p:txBody>
      </p:sp>
      <p:pic>
        <p:nvPicPr>
          <p:cNvPr id="5" name="Picture 4" descr="team-handoff-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Strong messages are simple enough to repeat and substantial enough to trust.</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Core promise</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Three proof pillars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Audience relevance</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Clear call to action</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76</a:t>
            </a:r>
          </a:p>
        </p:txBody>
      </p:sp>
    </p:spTree>
  </p:cSld>
  <p:clrMapOvr>
    <a:masterClrMapping/>
  </p:clrMapOvr>
  <p:transition spd="slow">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Design a Message House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Core promise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Three proof pillars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Audience relevance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Clear call to action</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77</a:t>
            </a:r>
          </a:p>
        </p:txBody>
      </p:sp>
    </p:spTree>
  </p:cSld>
  <p:clrMapOvr>
    <a:masterClrMapping/>
  </p:clrMapOvr>
  <p:transition spd="slow">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Design a Message House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the inconsistent messaging: a small cue that shared meaning is breaking.</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Uncorrected ambiguity becomes rework, silence, conflict, or a broken customer promise.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Create one spine; tailor examples and tone without changing the truth.</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78</a:t>
            </a:r>
          </a:p>
        </p:txBody>
      </p:sp>
    </p:spTree>
  </p:cSld>
  <p:clrMapOvr>
    <a:masterClrMapping/>
  </p:clrMapOvr>
  <p:transition spd="slow">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008C95"/>
                </a:solidFill>
                <a:latin typeface="Arial"/>
              </a:rPr>
              <a:t>COMMUNICATION GURU PITCH</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“Strong messages are simple enough to repeat and substantial enough to trust.”</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pitch line, then prove it through the create one spine; tailor examples and tone without changing the truth.</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008C95"/>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79</a:t>
            </a:r>
          </a:p>
        </p:txBody>
      </p:sp>
    </p:spTree>
  </p:cSld>
  <p:clrMapOvr>
    <a:masterClrMapping/>
  </p:clrMapOvr>
  <p:transition spd="slow">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Build a Channel Portfolio</a:t>
            </a:r>
          </a:p>
        </p:txBody>
      </p:sp>
      <p:pic>
        <p:nvPicPr>
          <p:cNvPr id="5" name="Picture 4" descr="communication-audit-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One message, many moments: repetition works when each channel adds value.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Face-to-face for ambiguity and trust</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Video/voice for nuance at distance</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Written channels for scale and record</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Visuals for patterns and recall</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80</a:t>
            </a:r>
          </a:p>
        </p:txBody>
      </p:sp>
    </p:spTree>
  </p:cSld>
  <p:clrMapOvr>
    <a:masterClrMapping/>
  </p:clrMapOvr>
  <p:transition spd="slow">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Build a Channel Portfolio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Face-to-face for ambiguity and trust</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Video/voice for nuance at distance</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Written channels for scale and record</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Visuals for patterns and recall</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81</a:t>
            </a:r>
          </a:p>
        </p:txBody>
      </p:sp>
    </p:spTree>
  </p:cSld>
  <p:clrMapOvr>
    <a:masterClrMapping/>
  </p:clrMapOvr>
  <p:transition spd="slow">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Build a Channel Portfolio | Meaning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Clarify</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Respond</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Confirm</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82</a:t>
            </a:r>
          </a:p>
        </p:txBody>
      </p:sp>
    </p:spTree>
  </p:cSld>
  <p:clrMapOvr>
    <a:masterClrMapping/>
  </p:clrMapOvr>
  <p:transition spd="slow">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COMMUNICATION GURU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One message, many moments: repetition works when each channel adds value.</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pitch line, then prove it through the assign each channel a role; remove duplicate noise.</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83</a:t>
            </a:r>
          </a:p>
        </p:txBody>
      </p:sp>
    </p:spTree>
  </p:cSld>
  <p:clrMapOvr>
    <a:masterClrMapping/>
  </p:clrMapOvr>
  <p:transition spd="slow">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Assign Cadence, Ownership, and Escalation</a:t>
            </a:r>
          </a:p>
        </p:txBody>
      </p:sp>
      <p:pic>
        <p:nvPicPr>
          <p:cNvPr id="5" name="Picture 4" descr="plan-launch-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 plan without ownership is a wish with formatting.</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Owner and approver</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Send date and response window</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Listening mechanism</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Escalation trigger</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84</a:t>
            </a:r>
          </a:p>
        </p:txBody>
      </p:sp>
    </p:spTree>
  </p:cSld>
  <p:clrMapOvr>
    <a:masterClrMapping/>
  </p:clrMapOvr>
  <p:transition spd="slow">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Assign Cadence, Ownership, and Escalation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Owner and approver</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Send date and response window</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Listening mechanism</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Escalation trigger</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85</a:t>
            </a:r>
          </a:p>
        </p:txBody>
      </p:sp>
    </p:spTree>
  </p:cSld>
  <p:clrMapOvr>
    <a:masterClrMapping/>
  </p:clrMapOvr>
  <p:transition spd="slow">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Assign Cadence, Ownership, and Escalation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the ownerless update: a small cue that shared meaning is breaking.</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Uncorrected ambiguity becomes rework, silence, conflict, or a broken customer promise.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Use a RACI-like operating rhythm and pre-agreed escalation path.</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86</a:t>
            </a:r>
          </a:p>
        </p:txBody>
      </p:sp>
    </p:spTree>
  </p:cSld>
  <p:clrMapOvr>
    <a:masterClrMapping/>
  </p:clrMapOvr>
  <p:transition spd="slow">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COMMUNICATION GURU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“A plan without ownership is a wish with formatting.”</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pitch line, then prove it through the use a raci-like operating rhythm and pre-agreed escalation path.</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87</a:t>
            </a:r>
          </a:p>
        </p:txBody>
      </p:sp>
    </p:spTree>
  </p:cSld>
  <p:clrMapOvr>
    <a:masterClrMapping/>
  </p:clrMapOvr>
  <p:transition spd="slow">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Measure Reach, Understanding, Action, and Trust</a:t>
            </a:r>
          </a:p>
        </p:txBody>
      </p:sp>
      <p:pic>
        <p:nvPicPr>
          <p:cNvPr id="5" name="Picture 4" descr="team-handoff-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Clicks measure contact; behaviour measures communication.</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Reach: who received it?</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Understanding: what did they take away?</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Action: what changed?</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Trust: do they believe and speak up?</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88</a:t>
            </a:r>
          </a:p>
        </p:txBody>
      </p:sp>
    </p:spTree>
  </p:cSld>
  <p:clrMapOvr>
    <a:masterClrMapping/>
  </p:clrMapOvr>
  <p:transition spd="slow">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200" b="1" i="0">
                <a:solidFill>
                  <a:srgbClr val="131B2A"/>
                </a:solidFill>
                <a:latin typeface="Arial"/>
              </a:rPr>
              <a:t>Measure Reach, Understanding, Action, and Trust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Reach: who received it?</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Understanding: what did they take away?</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Action: what changed?</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Trust: do they believe and speak up?</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89</a:t>
            </a:r>
          </a:p>
        </p:txBody>
      </p:sp>
    </p:spTree>
  </p:cSld>
  <p:clrMapOvr>
    <a:masterClrMapping/>
  </p:clrMapOvr>
  <p:transition spd="slow">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Measure Reach, Understanding, Action, and Trust | Meaning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Clarify</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Respond</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Confirm</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90</a:t>
            </a:r>
          </a:p>
        </p:txBody>
      </p:sp>
    </p:spTree>
  </p:cSld>
  <p:clrMapOvr>
    <a:masterClrMapping/>
  </p:clrMapOvr>
  <p:transition spd="slow">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008C95"/>
                </a:solidFill>
                <a:latin typeface="Arial"/>
              </a:rPr>
              <a:t>COMMUNICATION GURU PITCH</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“Clicks measure contact; behaviour measures communication.”</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pitch line, then prove it through the use leading and lagging indicators with a learning loop.</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008C95"/>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91</a:t>
            </a:r>
          </a:p>
        </p:txBody>
      </p:sp>
    </p:spTree>
  </p:cSld>
  <p:clrMapOvr>
    <a:masterClrMapping/>
  </p:clrMapOvr>
  <p:transition spd="slow">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Activity 04 | Audience and Objective Design for GreenLoop Logistics</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K3, K4, A2, A3</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GreenLoop Logistics is introducing route-optimisation software that changes driver schedules and customer delivery windows. Union representatives worry about workload, dispatchers fear losing autonomy, drivers want practical support, and key customers want reliability. Engagement data shows lower trust among night-shift employees and higher mobile usage than email readership.</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Change communication lead, Operations sponsor, Driver representative.</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trend and statistics interpretation and audience map.</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Uses provided evidence rather than stereotypes.</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scenario, role cards, playbook, questions, worksheets, and acceptance criteria are in the Learner Guide and activity PDF pack.</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92</a:t>
            </a:r>
          </a:p>
        </p:txBody>
      </p:sp>
    </p:spTree>
  </p:cSld>
  <p:clrMapOvr>
    <a:masterClrMapping/>
  </p:clrMapOvr>
  <p:transition spd="slow">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Activity 05 | Build the HarborCare Communications Plan</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K2, K3, K4, A2, A3</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HarborCare Home Services is consolidating two service teams while launching a same-day customer callback standard. Employees need clarity on roles; supervisors need coaching tools; customers need confidence that continuity will improve. The launch is six weeks away, and previous changes suffered from announcement-heavy communication with little listening.</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Communication planner, Executive sponsor, People manager.</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one-page communication plan and message house.</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All plan fields have owners.</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scenario, role cards, playbook, questions, worksheets, and acceptance criteria are in the Learner Guide and activity PDF pack.</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93</a:t>
            </a:r>
          </a:p>
        </p:txBody>
      </p:sp>
    </p:spTree>
  </p:cSld>
  <p:clrMapOvr>
    <a:masterClrMapping/>
  </p:clrMapOvr>
  <p:transition spd="slow">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67D58"/>
                </a:solidFill>
                <a:latin typeface="Arial"/>
              </a:rPr>
              <a:t>EVIDENCE CHECK</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Topic 2 | Evidence of competence</a:t>
            </a:r>
          </a:p>
        </p:txBody>
      </p:sp>
      <p:sp>
        <p:nvSpPr>
          <p:cNvPr id="5" name="Rounded Rectangle 4"/>
          <p:cNvSpPr/>
          <p:nvPr/>
        </p:nvSpPr>
        <p:spPr>
          <a:xfrm>
            <a:off x="713232" y="1920240"/>
            <a:ext cx="10771632" cy="3063240"/>
          </a:xfrm>
          <a:prstGeom prst="roundRect">
            <a:avLst/>
          </a:prstGeom>
          <a:solidFill>
            <a:srgbClr val="E8F7EE"/>
          </a:solidFill>
          <a:ln>
            <a:solidFill>
              <a:srgbClr val="B7E1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286000"/>
            <a:ext cx="10012680" cy="457200"/>
          </a:xfrm>
          <a:prstGeom prst="rect">
            <a:avLst/>
          </a:prstGeom>
          <a:noFill/>
        </p:spPr>
        <p:txBody>
          <a:bodyPr wrap="square" lIns="54864" rIns="54864" tIns="54864" bIns="54864" anchor="t">
            <a:spAutoFit/>
          </a:bodyPr>
          <a:lstStyle/>
          <a:p>
            <a:pPr algn="l"/>
            <a:r>
              <a:rPr sz="1500" b="1" i="0">
                <a:solidFill>
                  <a:srgbClr val="167D58"/>
                </a:solidFill>
                <a:latin typeface="Arial"/>
              </a:rPr>
              <a:t>PROOF OF SHARED MEANING</a:t>
            </a:r>
          </a:p>
        </p:txBody>
      </p:sp>
      <p:sp>
        <p:nvSpPr>
          <p:cNvPr id="7" name="TextBox 6"/>
          <p:cNvSpPr txBox="1"/>
          <p:nvPr/>
        </p:nvSpPr>
        <p:spPr>
          <a:xfrm>
            <a:off x="1051560" y="2971800"/>
            <a:ext cx="10012680" cy="1325880"/>
          </a:xfrm>
          <a:prstGeom prst="rect">
            <a:avLst/>
          </a:prstGeom>
          <a:noFill/>
        </p:spPr>
        <p:txBody>
          <a:bodyPr wrap="square" lIns="54864" rIns="54864" tIns="54864" bIns="54864" anchor="ctr">
            <a:spAutoFit/>
          </a:bodyPr>
          <a:lstStyle/>
          <a:p>
            <a:pPr algn="l"/>
            <a:r>
              <a:rPr sz="2400" b="1" i="0">
                <a:solidFill>
                  <a:srgbClr val="131B2A"/>
                </a:solidFill>
                <a:latin typeface="Arial"/>
              </a:rPr>
              <a:t>A recommendation is credible when the evidence, audience need, channel choice, behaviour, owner, and measure all point in the same direction.</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94</a:t>
            </a:r>
          </a:p>
        </p:txBody>
      </p:sp>
    </p:spTree>
  </p:cSld>
  <p:clrMapOvr>
    <a:masterClrMapping/>
  </p:clrMapOvr>
  <p:transition spd="slow">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93408"/>
            <a:ext cx="12191695" cy="16459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48840"/>
            <a:ext cx="12191695" cy="1051560"/>
          </a:xfrm>
          <a:prstGeom prst="rect">
            <a:avLst/>
          </a:prstGeom>
          <a:noFill/>
        </p:spPr>
        <p:txBody>
          <a:bodyPr wrap="square" lIns="54864" rIns="54864" tIns="54864" bIns="54864" anchor="t">
            <a:spAutoFit/>
          </a:bodyPr>
          <a:lstStyle/>
          <a:p>
            <a:pPr algn="ctr"/>
            <a:r>
              <a:rPr sz="4400" b="1" i="0">
                <a:solidFill>
                  <a:srgbClr val="0E2A47"/>
                </a:solidFill>
                <a:latin typeface="Arial"/>
              </a:rPr>
              <a:t>Afternoon Break</a:t>
            </a:r>
          </a:p>
        </p:txBody>
      </p:sp>
      <p:sp>
        <p:nvSpPr>
          <p:cNvPr id="6" name="TextBox 5"/>
          <p:cNvSpPr txBox="1"/>
          <p:nvPr/>
        </p:nvSpPr>
        <p:spPr>
          <a:xfrm>
            <a:off x="0" y="3520440"/>
            <a:ext cx="12191695" cy="548640"/>
          </a:xfrm>
          <a:prstGeom prst="rect">
            <a:avLst/>
          </a:prstGeom>
          <a:noFill/>
        </p:spPr>
        <p:txBody>
          <a:bodyPr wrap="square" lIns="54864" rIns="54864" tIns="54864" bIns="54864" anchor="t">
            <a:spAutoFit/>
          </a:bodyPr>
          <a:lstStyle/>
          <a:p>
            <a:pPr algn="ctr"/>
            <a:r>
              <a:rPr sz="1900" b="1" i="0">
                <a:solidFill>
                  <a:srgbClr val="E68300"/>
                </a:solidFill>
                <a:latin typeface="Arial"/>
              </a:rPr>
              <a:t>10 minutes</a:t>
            </a:r>
          </a:p>
        </p:txBody>
      </p:sp>
      <p:sp>
        <p:nvSpPr>
          <p:cNvPr id="7" name="TextBox 6"/>
          <p:cNvSpPr txBox="1"/>
          <p:nvPr/>
        </p:nvSpPr>
        <p:spPr>
          <a:xfrm>
            <a:off x="1965960" y="4617720"/>
            <a:ext cx="8229600" cy="502920"/>
          </a:xfrm>
          <a:prstGeom prst="rect">
            <a:avLst/>
          </a:prstGeom>
          <a:noFill/>
        </p:spPr>
        <p:txBody>
          <a:bodyPr wrap="square" lIns="54864" rIns="54864" tIns="54864" bIns="54864" anchor="t">
            <a:spAutoFit/>
          </a:bodyPr>
          <a:lstStyle/>
          <a:p>
            <a:pPr algn="ctr"/>
            <a:r>
              <a:rPr sz="1500" b="0" i="1">
                <a:solidFill>
                  <a:srgbClr val="5C6677"/>
                </a:solidFill>
                <a:latin typeface="Arial"/>
              </a:rPr>
              <a:t>Pause the noise. Return with attention.</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95</a:t>
            </a:r>
          </a:p>
        </p:txBody>
      </p:sp>
    </p:spTree>
  </p:cSld>
  <p:clrMapOvr>
    <a:masterClrMapping/>
  </p:clrMapOvr>
  <p:transition spd="slow">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hybrid-repair-v10.png"/>
          <p:cNvPicPr>
            <a:picLocks noChangeAspect="1"/>
          </p:cNvPicPr>
          <p:nvPr/>
        </p:nvPicPr>
        <p:blipFill>
          <a:blip r:embed="rId2"/>
          <a:srcRect l="24186" r="24186"/>
          <a:stretch>
            <a:fillRect/>
          </a:stretch>
        </p:blipFill>
        <p:spPr>
          <a:xfrm>
            <a:off x="5897880" y="0"/>
            <a:ext cx="6291072" cy="6858000"/>
          </a:xfrm>
          <a:prstGeom prst="rect">
            <a:avLst/>
          </a:prstGeom>
        </p:spPr>
      </p:pic>
      <p:sp>
        <p:nvSpPr>
          <p:cNvPr id="4" name="Rectangle 3"/>
          <p:cNvSpPr/>
          <p:nvPr/>
        </p:nvSpPr>
        <p:spPr>
          <a:xfrm>
            <a:off x="5303520" y="0"/>
            <a:ext cx="2011680"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58368"/>
            <a:ext cx="4480560" cy="365760"/>
          </a:xfrm>
          <a:prstGeom prst="rect">
            <a:avLst/>
          </a:prstGeom>
          <a:noFill/>
        </p:spPr>
        <p:txBody>
          <a:bodyPr wrap="square" lIns="54864" rIns="54864" tIns="54864" bIns="54864" anchor="t">
            <a:spAutoFit/>
          </a:bodyPr>
          <a:lstStyle/>
          <a:p>
            <a:pPr algn="l"/>
            <a:r>
              <a:rPr sz="1100" b="1" i="0">
                <a:solidFill>
                  <a:srgbClr val="6DDAD7"/>
                </a:solidFill>
                <a:latin typeface="Arial"/>
              </a:rPr>
              <a:t>SECTION 03</a:t>
            </a:r>
          </a:p>
        </p:txBody>
      </p:sp>
      <p:sp>
        <p:nvSpPr>
          <p:cNvPr id="6" name="TextBox 5"/>
          <p:cNvSpPr txBox="1"/>
          <p:nvPr/>
        </p:nvSpPr>
        <p:spPr>
          <a:xfrm>
            <a:off x="658368" y="1325880"/>
            <a:ext cx="5166360" cy="1965960"/>
          </a:xfrm>
          <a:prstGeom prst="rect">
            <a:avLst/>
          </a:prstGeom>
          <a:noFill/>
        </p:spPr>
        <p:txBody>
          <a:bodyPr wrap="square" lIns="54864" rIns="54864" tIns="54864" bIns="54864" anchor="t">
            <a:spAutoFit/>
          </a:bodyPr>
          <a:lstStyle/>
          <a:p>
            <a:pPr algn="l"/>
            <a:r>
              <a:rPr sz="3600" b="1" i="0">
                <a:solidFill>
                  <a:srgbClr val="FFFFFF"/>
                </a:solidFill>
                <a:latin typeface="Arial"/>
              </a:rPr>
              <a:t>Address Communication Gaps and Barriers</a:t>
            </a:r>
          </a:p>
        </p:txBody>
      </p:sp>
      <p:sp>
        <p:nvSpPr>
          <p:cNvPr id="7" name="TextBox 6"/>
          <p:cNvSpPr txBox="1"/>
          <p:nvPr/>
        </p:nvSpPr>
        <p:spPr>
          <a:xfrm>
            <a:off x="685800" y="3675887"/>
            <a:ext cx="4937760" cy="960120"/>
          </a:xfrm>
          <a:prstGeom prst="rect">
            <a:avLst/>
          </a:prstGeom>
          <a:noFill/>
        </p:spPr>
        <p:txBody>
          <a:bodyPr wrap="square" lIns="54864" rIns="54864" tIns="54864" bIns="54864" anchor="t">
            <a:spAutoFit/>
          </a:bodyPr>
          <a:lstStyle/>
          <a:p>
            <a:pPr algn="l"/>
            <a:r>
              <a:rPr sz="1700" b="0" i="0">
                <a:solidFill>
                  <a:srgbClr val="D7E0EA"/>
                </a:solidFill>
                <a:latin typeface="Arial"/>
              </a:rPr>
              <a:t>diagnosis | difficult conversations | coaching | solutions | K5, A3</a:t>
            </a:r>
          </a:p>
        </p:txBody>
      </p:sp>
      <p:sp>
        <p:nvSpPr>
          <p:cNvPr id="8" name="TextBox 7"/>
          <p:cNvSpPr txBox="1"/>
          <p:nvPr/>
        </p:nvSpPr>
        <p:spPr>
          <a:xfrm>
            <a:off x="685800" y="5175504"/>
            <a:ext cx="4983480" cy="640080"/>
          </a:xfrm>
          <a:prstGeom prst="rect">
            <a:avLst/>
          </a:prstGeom>
          <a:noFill/>
        </p:spPr>
        <p:txBody>
          <a:bodyPr wrap="square" lIns="54864" rIns="54864" tIns="54864" bIns="54864" anchor="t">
            <a:spAutoFit/>
          </a:bodyPr>
          <a:lstStyle/>
          <a:p>
            <a:pPr algn="l"/>
            <a:r>
              <a:rPr sz="1500" b="1" i="1">
                <a:solidFill>
                  <a:srgbClr val="6DDAD7"/>
                </a:solidFill>
                <a:latin typeface="Arial"/>
              </a:rPr>
              <a:t>The conversation is the work—make it observable, repeatable, and trustworthy.</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96</a:t>
            </a:r>
          </a:p>
        </p:txBody>
      </p:sp>
    </p:spTree>
  </p:cSld>
  <p:clrMapOvr>
    <a:masterClrMapping/>
  </p:clrMapOvr>
  <p:transition spd="slow">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Diagnose the Barrier Before Prescribing</a:t>
            </a:r>
          </a:p>
        </p:txBody>
      </p:sp>
      <p:pic>
        <p:nvPicPr>
          <p:cNvPr id="5" name="Picture 4" descr="hybrid-repair-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Miscommunication is a symptom; diagnosis finds the system that produced it.</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Physical and access barriers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Language and knowledge barriers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Emotional and psychological barriers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Structural and cultural barriers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97</a:t>
            </a:r>
          </a:p>
        </p:txBody>
      </p:sp>
    </p:spTree>
  </p:cSld>
  <p:clrMapOvr>
    <a:masterClrMapping/>
  </p:clrMapOvr>
  <p:transition spd="slow">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Diagnose the Barrier Before Prescribing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Physical and access barriers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Language and knowledge barriers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Emotional and psychological barriers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Structural and cultural barriers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98</a:t>
            </a:r>
          </a:p>
        </p:txBody>
      </p:sp>
    </p:spTree>
  </p:cSld>
  <p:clrMapOvr>
    <a:masterClrMapping/>
  </p:clrMapOvr>
  <p:transition spd="slow">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Diagnose the Barrier Before Prescribing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the quick-fix training: a small cue that shared meaning is breaking.</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Uncorrected ambiguity becomes rework, silence, conflict, or a broken customer promise.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Locate where meaning broke: sender, message, channel, receiver, feedback, or context.</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99</a:t>
            </a:r>
          </a:p>
        </p:txBody>
      </p:sp>
    </p:spTree>
  </p:cSld>
  <p:clrMapOvr>
    <a:masterClrMapping/>
  </p:clrMapOvr>
  <p:transition spd="slow">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008C95"/>
                </a:solidFill>
                <a:latin typeface="Arial"/>
              </a:rPr>
              <a:t>COMMUNICATION GURU PITCH</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“Miscommunication is a symptom; diagnosis finds the system that produced it.”</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pitch line, then prove it through the locate where meaning broke: sender, message, channel, receiver, feedback, or context.</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008C95"/>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100</a:t>
            </a:r>
          </a:p>
        </p:txBody>
      </p:sp>
    </p:spTree>
  </p:cSld>
  <p:clrMapOvr>
    <a:masterClrMapping/>
  </p:clrMapOvr>
  <p:transition spd="slow">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Regulate Before You Communicate</a:t>
            </a:r>
          </a:p>
        </p:txBody>
      </p:sp>
      <p:pic>
        <p:nvPicPr>
          <p:cNvPr id="5" name="Picture 4" descr="customer-recovery-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You cannot de-escalate a room you are still escalating inside yourself.</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Notice the trigger</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Name the emotion</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Pause and breathe</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Choose the next useful move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101</a:t>
            </a:r>
          </a:p>
        </p:txBody>
      </p:sp>
    </p:spTree>
  </p:cSld>
  <p:clrMapOvr>
    <a:masterClrMapping/>
  </p:clrMapOvr>
  <p:transition spd="slow">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Regulate Before You Communicate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Notice the trigger</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Name the emotion</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Pause and breathe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Choose the next useful move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102</a:t>
            </a:r>
          </a:p>
        </p:txBody>
      </p:sp>
    </p:spTree>
  </p:cSld>
  <p:clrMapOvr>
    <a:masterClrMapping/>
  </p:clrMapOvr>
  <p:transition spd="slow">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Regulate Before You Communicate | Meaning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Clarify</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Respond</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Confirm</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103</a:t>
            </a:r>
          </a:p>
        </p:txBody>
      </p:sp>
    </p:spTree>
  </p:cSld>
  <p:clrMapOvr>
    <a:masterClrMapping/>
  </p:clrMapOvr>
  <p:transition spd="slow">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COMMUNICATION GURU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You cannot de-escalate a room you are still escalating inside yourself.</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pitch line, then prove it through the pause, clarify, make one point, and check the response.</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104</a:t>
            </a:r>
          </a:p>
        </p:txBody>
      </p:sp>
    </p:spTree>
  </p:cSld>
  <p:clrMapOvr>
    <a:masterClrMapping/>
  </p:clrMapOvr>
  <p:transition spd="slow">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Bridge Cultural and Language Differences</a:t>
            </a:r>
          </a:p>
        </p:txBody>
      </p:sp>
      <p:pic>
        <p:nvPicPr>
          <p:cNvPr id="5" name="Picture 4" descr="coaching-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Curiosity is the shortest bridge across difference.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Use plain language</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Avoid idioms and assumptions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Invite clarification without shame</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Confirm shared interpretation</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105</a:t>
            </a:r>
          </a:p>
        </p:txBody>
      </p:sp>
    </p:spTree>
  </p:cSld>
  <p:clrMapOvr>
    <a:masterClrMapping/>
  </p:clrMapOvr>
  <p:transition spd="slow">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Bridge Cultural and Language Differences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Use plain language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Avoid idioms and assumptions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Invite clarification without shame</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Confirm shared interpretation</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106</a:t>
            </a:r>
          </a:p>
        </p:txBody>
      </p:sp>
    </p:spTree>
  </p:cSld>
  <p:clrMapOvr>
    <a:masterClrMapping/>
  </p:clrMapOvr>
  <p:transition spd="slow">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Bridge Cultural and Language Differences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the cross-cultural misread: a small cue that shared meaning is breaking.</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Uncorrected ambiguity becomes rework, silence, conflict, or a broken customer promise.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Ask what the message means in context; offer multiple ways to respond.</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107</a:t>
            </a:r>
          </a:p>
        </p:txBody>
      </p:sp>
    </p:spTree>
  </p:cSld>
  <p:clrMapOvr>
    <a:masterClrMapping/>
  </p:clrMapOvr>
  <p:transition spd="slow">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COMMUNICATION GURU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“Curiosity is the shortest bridge across difference.”</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pitch line, then prove it through the ask what the message means in context; offer multiple ways to respond.</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108</a:t>
            </a:r>
          </a:p>
        </p:txBody>
      </p:sp>
    </p:spTree>
  </p:cSld>
  <p:clrMapOvr>
    <a:masterClrMapping/>
  </p:clrMapOvr>
  <p:transition spd="slow">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Assertive Communication with I-Statements</a:t>
            </a:r>
          </a:p>
        </p:txBody>
      </p:sp>
      <p:pic>
        <p:nvPicPr>
          <p:cNvPr id="5" name="Picture 4" descr="hybrid-repair-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Assertiveness is clarity with respect—for yourself and the relationship.</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State observable behaviour</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Name the impact or feeling</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Explain why it matters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Request a specific alternative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109</a:t>
            </a:r>
          </a:p>
        </p:txBody>
      </p:sp>
    </p:spTree>
  </p:cSld>
  <p:clrMapOvr>
    <a:masterClrMapping/>
  </p:clrMapOvr>
  <p:transition spd="slow">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Assertive Communication with I-Statements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State observable behaviour</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Name the impact or feeling</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Explain why it matters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Request a specific alternative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110</a:t>
            </a:r>
          </a:p>
        </p:txBody>
      </p:sp>
    </p:spTree>
  </p:cSld>
  <p:clrMapOvr>
    <a:masterClrMapping/>
  </p:clrMapOvr>
  <p:transition spd="slow">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Assertive Communication with I-Statements | Meaning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Clarify</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Respond</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Confirm</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111</a:t>
            </a:r>
          </a:p>
        </p:txBody>
      </p:sp>
    </p:spTree>
  </p:cSld>
  <p:clrMapOvr>
    <a:masterClrMapping/>
  </p:clrMapOvr>
  <p:transition spd="slow">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008C95"/>
                </a:solidFill>
                <a:latin typeface="Arial"/>
              </a:rPr>
              <a:t>COMMUNICATION GURU PITCH</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“Assertiveness is clarity with respect—for yourself and the relationship.”</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pitch line, then prove it through the use: when x happens, i feel/observe y because z. i request a.</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008C95"/>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112</a:t>
            </a:r>
          </a:p>
        </p:txBody>
      </p:sp>
    </p:spTree>
  </p:cSld>
  <p:clrMapOvr>
    <a:masterClrMapping/>
  </p:clrMapOvr>
  <p:transition spd="slow">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B42318"/>
                </a:solidFill>
                <a:latin typeface="Arial"/>
              </a:rPr>
              <a:t>WATCH | NOTICE | DEBRIEF</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How to Speak So That People Want to Listen | Julian Treasure | TED</a:t>
            </a:r>
          </a:p>
        </p:txBody>
      </p:sp>
      <p:sp>
        <p:nvSpPr>
          <p:cNvPr id="5" name="Rounded Rectangle 4"/>
          <p:cNvSpPr/>
          <p:nvPr/>
        </p:nvSpPr>
        <p:spPr>
          <a:xfrm>
            <a:off x="731520" y="1572768"/>
            <a:ext cx="10725912" cy="4251960"/>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234440" y="2286000"/>
            <a:ext cx="1691640" cy="1691640"/>
          </a:xfrm>
          <a:prstGeom prst="ellipse">
            <a:avLst/>
          </a:prstGeom>
          <a:solidFill>
            <a:srgbClr val="B42318"/>
          </a:solidFill>
          <a:ln>
            <a:solidFill>
              <a:srgbClr val="B4231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Triangle 6"/>
          <p:cNvSpPr/>
          <p:nvPr/>
        </p:nvSpPr>
        <p:spPr>
          <a:xfrm>
            <a:off x="1847088" y="2743200"/>
            <a:ext cx="530352" cy="658368"/>
          </a:xfrm>
          <a:prstGeom prst="rtTriangle">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46120" y="2075688"/>
            <a:ext cx="7269480" cy="502920"/>
          </a:xfrm>
          <a:prstGeom prst="rect">
            <a:avLst/>
          </a:prstGeom>
          <a:noFill/>
        </p:spPr>
        <p:txBody>
          <a:bodyPr wrap="square" lIns="54864" rIns="54864" tIns="54864" bIns="54864" anchor="t">
            <a:spAutoFit/>
          </a:bodyPr>
          <a:lstStyle/>
          <a:p>
            <a:pPr algn="l"/>
            <a:r>
              <a:rPr sz="1200" b="1" i="0">
                <a:solidFill>
                  <a:srgbClr val="6DDAD7"/>
                </a:solidFill>
                <a:latin typeface="Arial"/>
              </a:rPr>
              <a:t>CLICK TO PLAY ON YOUTUBE</a:t>
            </a:r>
          </a:p>
        </p:txBody>
      </p:sp>
      <p:sp>
        <p:nvSpPr>
          <p:cNvPr id="9" name="TextBox 8">
            <a:hlinkClick r:id="rId2"/>
          </p:cNvPr>
          <p:cNvSpPr txBox="1"/>
          <p:nvPr/>
        </p:nvSpPr>
        <p:spPr>
          <a:xfrm>
            <a:off x="3246120" y="2697480"/>
            <a:ext cx="7269480" cy="914400"/>
          </a:xfrm>
          <a:prstGeom prst="rect">
            <a:avLst/>
          </a:prstGeom>
          <a:noFill/>
        </p:spPr>
        <p:txBody>
          <a:bodyPr wrap="square" lIns="54864" rIns="54864" tIns="54864" bIns="54864" anchor="t">
            <a:spAutoFit/>
          </a:bodyPr>
          <a:lstStyle/>
          <a:p>
            <a:pPr algn="l"/>
            <a:r>
              <a:rPr sz="2300" b="1" i="0">
                <a:solidFill>
                  <a:srgbClr val="FFFFFF"/>
                </a:solidFill>
                <a:latin typeface="Arial"/>
              </a:rPr>
              <a:t>How to Speak So That People Want to Listen | Julian Treasure | TED</a:t>
            </a:r>
          </a:p>
        </p:txBody>
      </p:sp>
      <p:sp>
        <p:nvSpPr>
          <p:cNvPr id="10" name="TextBox 9"/>
          <p:cNvSpPr txBox="1"/>
          <p:nvPr/>
        </p:nvSpPr>
        <p:spPr>
          <a:xfrm>
            <a:off x="3246120" y="3840480"/>
            <a:ext cx="7040880" cy="685800"/>
          </a:xfrm>
          <a:prstGeom prst="rect">
            <a:avLst/>
          </a:prstGeom>
          <a:noFill/>
        </p:spPr>
        <p:txBody>
          <a:bodyPr wrap="square" lIns="54864" rIns="54864" tIns="54864" bIns="54864" anchor="t">
            <a:spAutoFit/>
          </a:bodyPr>
          <a:lstStyle/>
          <a:p>
            <a:pPr algn="l"/>
            <a:r>
              <a:rPr sz="1400" b="0" i="0">
                <a:solidFill>
                  <a:srgbClr val="D7E0EA"/>
                </a:solidFill>
                <a:latin typeface="Arial"/>
              </a:rPr>
              <a:t>Duration 9:59 | Notice how vocal variety, intention, and empathy shape credibility.</a:t>
            </a:r>
          </a:p>
        </p:txBody>
      </p:sp>
      <p:sp>
        <p:nvSpPr>
          <p:cNvPr id="11" name="TextBox 10"/>
          <p:cNvSpPr txBox="1"/>
          <p:nvPr/>
        </p:nvSpPr>
        <p:spPr>
          <a:xfrm>
            <a:off x="1234440" y="5166360"/>
            <a:ext cx="9646920" cy="310896"/>
          </a:xfrm>
          <a:prstGeom prst="rect">
            <a:avLst/>
          </a:prstGeom>
          <a:noFill/>
        </p:spPr>
        <p:txBody>
          <a:bodyPr wrap="square" lIns="54864" rIns="54864" tIns="54864" bIns="54864" anchor="t">
            <a:spAutoFit/>
          </a:bodyPr>
          <a:lstStyle/>
          <a:p>
            <a:pPr algn="l"/>
            <a:r>
              <a:rPr sz="900" b="1" i="0">
                <a:solidFill>
                  <a:srgbClr val="6DDAD7"/>
                </a:solidFill>
                <a:latin typeface="Arial"/>
              </a:rPr>
              <a:t>https://www.youtube.com/watch?v=eIho2S0ZahI</a:t>
            </a:r>
          </a:p>
        </p:txBody>
      </p:sp>
      <p:sp>
        <p:nvSpPr>
          <p:cNvPr id="12" name="TextBox 11"/>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3" name="TextBox 12"/>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113</a:t>
            </a:r>
          </a:p>
        </p:txBody>
      </p:sp>
    </p:spTree>
  </p:cSld>
  <p:clrMapOvr>
    <a:masterClrMapping/>
  </p:clrMapOvr>
  <p:transition spd="slow">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Difficult Conversations: Facts, Meaning, Relationship</a:t>
            </a:r>
          </a:p>
        </p:txBody>
      </p:sp>
      <p:pic>
        <p:nvPicPr>
          <p:cNvPr id="5" name="Picture 4" descr="customer-recovery-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A hard conversation becomes productive when the problem is placed between people—not inside one person.</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Separate observations from stories</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Surface each person's meaning</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Protect dignity</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Agree the next testable action</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114</a:t>
            </a:r>
          </a:p>
        </p:txBody>
      </p:sp>
    </p:spTree>
  </p:cSld>
  <p:clrMapOvr>
    <a:masterClrMapping/>
  </p:clrMapOvr>
  <p:transition spd="slow">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200" b="1" i="0">
                <a:solidFill>
                  <a:srgbClr val="131B2A"/>
                </a:solidFill>
                <a:latin typeface="Arial"/>
              </a:rPr>
              <a:t>Difficult Conversations: Facts, Meaning, Relationship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Separate observations from stories</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Surface each person's meaning</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Protect dignity</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Agree the next testable action</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115</a:t>
            </a:r>
          </a:p>
        </p:txBody>
      </p:sp>
    </p:spTree>
  </p:cSld>
  <p:clrMapOvr>
    <a:masterClrMapping/>
  </p:clrMapOvr>
  <p:transition spd="slow">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Difficult Conversations: Facts, Meaning, Relationship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the blame cycle: a small cue that shared meaning is breaking.</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Uncorrected ambiguity becomes rework, silence, conflict, or a broken customer promise.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Open with shared purpose; compare views; decide actions; follow up.</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116</a:t>
            </a:r>
          </a:p>
        </p:txBody>
      </p:sp>
    </p:spTree>
  </p:cSld>
  <p:clrMapOvr>
    <a:masterClrMapping/>
  </p:clrMapOvr>
  <p:transition spd="slow">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COMMUNICATION GURU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“A hard conversation becomes productive when the problem is placed between people—not inside one person.”</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pitch line, then prove it through the open with shared purpose; compare views; decide actions; follow up.</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117</a:t>
            </a:r>
          </a:p>
        </p:txBody>
      </p:sp>
    </p:spTree>
  </p:cSld>
  <p:clrMapOvr>
    <a:masterClrMapping/>
  </p:clrMapOvr>
  <p:transition spd="slow">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De-escalate Without Surrendering the Standard</a:t>
            </a:r>
          </a:p>
        </p:txBody>
      </p:sp>
      <p:pic>
        <p:nvPicPr>
          <p:cNvPr id="5" name="Picture 4" descr="coaching-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Calm is not weakness; it is control made visible.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Lower pace and volume</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Acknowledge emotion</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Set respectful boundaries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Offer choices and next steps</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118</a:t>
            </a:r>
          </a:p>
        </p:txBody>
      </p:sp>
    </p:spTree>
  </p:cSld>
  <p:clrMapOvr>
    <a:masterClrMapping/>
  </p:clrMapOvr>
  <p:transition spd="slow">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200" b="1" i="0">
                <a:solidFill>
                  <a:srgbClr val="131B2A"/>
                </a:solidFill>
                <a:latin typeface="Arial"/>
              </a:rPr>
              <a:t>De-escalate Without Surrendering the Standard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Lower pace and volume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Acknowledge emotion</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Set respectful boundaries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Offer choices and next steps</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119</a:t>
            </a:r>
          </a:p>
        </p:txBody>
      </p:sp>
    </p:spTree>
  </p:cSld>
  <p:clrMapOvr>
    <a:masterClrMapping/>
  </p:clrMapOvr>
  <p:transition spd="slow">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De-escalate Without Surrendering the Standard | Meaning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Clarify</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Respond</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Confirm</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120</a:t>
            </a:r>
          </a:p>
        </p:txBody>
      </p:sp>
    </p:spTree>
  </p:cSld>
  <p:clrMapOvr>
    <a:masterClrMapping/>
  </p:clrMapOvr>
  <p:transition spd="slow">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66928"/>
            <a:ext cx="9966960" cy="320040"/>
          </a:xfrm>
          <a:prstGeom prst="rect">
            <a:avLst/>
          </a:prstGeom>
          <a:noFill/>
        </p:spPr>
        <p:txBody>
          <a:bodyPr wrap="square" lIns="54864" rIns="54864" tIns="54864" bIns="54864" anchor="t">
            <a:spAutoFit/>
          </a:bodyPr>
          <a:lstStyle/>
          <a:p>
            <a:pPr algn="l"/>
            <a:r>
              <a:rPr sz="1000" b="1" i="0">
                <a:solidFill>
                  <a:srgbClr val="008C95"/>
                </a:solidFill>
                <a:latin typeface="Arial"/>
              </a:rPr>
              <a:t>COMMUNICATION GURU PITCH</a:t>
            </a:r>
          </a:p>
        </p:txBody>
      </p:sp>
      <p:sp>
        <p:nvSpPr>
          <p:cNvPr id="5" name="TextBox 4"/>
          <p:cNvSpPr txBox="1"/>
          <p:nvPr/>
        </p:nvSpPr>
        <p:spPr>
          <a:xfrm>
            <a:off x="749808" y="1170432"/>
            <a:ext cx="9966960" cy="2514600"/>
          </a:xfrm>
          <a:prstGeom prst="rect">
            <a:avLst/>
          </a:prstGeom>
          <a:noFill/>
        </p:spPr>
        <p:txBody>
          <a:bodyPr wrap="square" lIns="54864" rIns="54864" tIns="54864" bIns="54864" anchor="ctr">
            <a:spAutoFit/>
          </a:bodyPr>
          <a:lstStyle/>
          <a:p>
            <a:pPr algn="l"/>
            <a:r>
              <a:rPr sz="3500" b="1" i="0">
                <a:solidFill>
                  <a:srgbClr val="0E2A47"/>
                </a:solidFill>
                <a:latin typeface="Arial"/>
              </a:rPr>
              <a:t>“Calm is not weakness; it is control made visible.”</a:t>
            </a:r>
          </a:p>
        </p:txBody>
      </p:sp>
      <p:sp>
        <p:nvSpPr>
          <p:cNvPr id="6" name="Rounded Rectangle 5"/>
          <p:cNvSpPr/>
          <p:nvPr/>
        </p:nvSpPr>
        <p:spPr>
          <a:xfrm>
            <a:off x="749808" y="4069080"/>
            <a:ext cx="10149840" cy="123444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70832"/>
            <a:ext cx="9601200" cy="658368"/>
          </a:xfrm>
          <a:prstGeom prst="rect">
            <a:avLst/>
          </a:prstGeom>
          <a:noFill/>
        </p:spPr>
        <p:txBody>
          <a:bodyPr wrap="square" lIns="54864" rIns="54864" tIns="54864" bIns="54864" anchor="ctr">
            <a:spAutoFit/>
          </a:bodyPr>
          <a:lstStyle/>
          <a:p>
            <a:pPr algn="l"/>
            <a:r>
              <a:rPr sz="1700" b="0" i="0">
                <a:solidFill>
                  <a:srgbClr val="131B2A"/>
                </a:solidFill>
                <a:latin typeface="Arial"/>
              </a:rPr>
              <a:t>Use this as the pitch line, then prove it through the acknowledge, clarify, boundary, option, ownership, update.</a:t>
            </a:r>
          </a:p>
        </p:txBody>
      </p:sp>
      <p:sp>
        <p:nvSpPr>
          <p:cNvPr id="8" name="TextBox 7"/>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008C95"/>
                </a:solidFill>
                <a:latin typeface="Arial"/>
              </a:rPr>
              <a:t>ORIGINAL COURSE MAXIM</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121</a:t>
            </a:r>
          </a:p>
        </p:txBody>
      </p:sp>
    </p:spTree>
  </p:cSld>
  <p:clrMapOvr>
    <a:masterClrMapping/>
  </p:clrMapOvr>
  <p:transition spd="slow">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Coach Communication with GROW and SBI</a:t>
            </a:r>
          </a:p>
        </p:txBody>
      </p:sp>
      <p:pic>
        <p:nvPicPr>
          <p:cNvPr id="5" name="Picture 4" descr="hybrid-repair-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Coaching turns feedback from a verdict into a rehearsal for better performance.</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Goal: define the outcome</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Reality: inspect examples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Options: rehearse alternatives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Way forward: commit and review</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122</a:t>
            </a:r>
          </a:p>
        </p:txBody>
      </p:sp>
    </p:spTree>
  </p:cSld>
  <p:clrMapOvr>
    <a:masterClrMapping/>
  </p:clrMapOvr>
  <p:transition spd="slow">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Coach Communication with GROW and SBI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Goal: define the outcome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Reality: inspect examples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Options: rehearse alternatives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Way forward: commit and review</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123</a:t>
            </a:r>
          </a:p>
        </p:txBody>
      </p:sp>
    </p:spTree>
  </p:cSld>
  <p:clrMapOvr>
    <a:masterClrMapping/>
  </p:clrMapOvr>
  <p:transition spd="slow">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CASE LENS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Coach Communication with GROW and SBI | Case lens</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SIGNAL</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Watch for the generic feedback: a small cue that shared meaning is breaking.</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RISK</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Uncorrected ambiguity becomes rework, silence, conflict, or a broken customer promise.</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BETTER MOVE</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Use Situation-Behaviour-Impact, then rehearse the next conversation.</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124</a:t>
            </a:r>
          </a:p>
        </p:txBody>
      </p:sp>
    </p:spTree>
  </p:cSld>
  <p:clrMapOvr>
    <a:masterClrMapping/>
  </p:clrMapOvr>
  <p:transition spd="slow">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COMMUNICATION GURU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Coaching turns feedback from a verdict into a rehearsal for better performance.</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pitch line, then prove it through the use situation-behaviour-impact, then rehearse the next conversation.</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125</a:t>
            </a:r>
          </a:p>
        </p:txBody>
      </p:sp>
    </p:spTree>
  </p:cSld>
  <p:clrMapOvr>
    <a:masterClrMapping/>
  </p:clrMapOvr>
  <p:transition spd="slow">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THE COMMUNICATION ADVANTAGE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Engineer Solutions and Sustain the Loop</a:t>
            </a:r>
          </a:p>
        </p:txBody>
      </p:sp>
      <p:pic>
        <p:nvPicPr>
          <p:cNvPr id="5" name="Picture 4" descr="customer-recovery-v10.png"/>
          <p:cNvPicPr>
            <a:picLocks noChangeAspect="1"/>
          </p:cNvPicPr>
          <p:nvPr/>
        </p:nvPicPr>
        <p:blipFill>
          <a:blip r:embed="rId2"/>
          <a:srcRect l="18129" r="18129"/>
          <a:stretch>
            <a:fillRect/>
          </a:stretch>
        </p:blipFill>
        <p:spPr>
          <a:xfrm>
            <a:off x="6720840" y="1463040"/>
            <a:ext cx="5468112" cy="4828032"/>
          </a:xfrm>
          <a:prstGeom prst="rect">
            <a:avLst/>
          </a:prstGeom>
        </p:spPr>
      </p:pic>
      <p:sp>
        <p:nvSpPr>
          <p:cNvPr id="6" name="Rounded Rectangle 5"/>
          <p:cNvSpPr/>
          <p:nvPr/>
        </p:nvSpPr>
        <p:spPr>
          <a:xfrm>
            <a:off x="621792" y="1536192"/>
            <a:ext cx="5742432" cy="1078992"/>
          </a:xfrm>
          <a:prstGeom prst="round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37360"/>
            <a:ext cx="5212080" cy="658368"/>
          </a:xfrm>
          <a:prstGeom prst="rect">
            <a:avLst/>
          </a:prstGeom>
          <a:noFill/>
        </p:spPr>
        <p:txBody>
          <a:bodyPr wrap="square" lIns="54864" rIns="54864" tIns="54864" bIns="54864" anchor="ctr">
            <a:spAutoFit/>
          </a:bodyPr>
          <a:lstStyle/>
          <a:p>
            <a:pPr algn="l"/>
            <a:r>
              <a:rPr sz="1650" b="1" i="1">
                <a:solidFill>
                  <a:srgbClr val="FFFFFF"/>
                </a:solidFill>
                <a:latin typeface="Arial"/>
              </a:rPr>
              <a:t>Training changes capability; systems decide whether capability survives.</a:t>
            </a:r>
          </a:p>
        </p:txBody>
      </p:sp>
      <p:sp>
        <p:nvSpPr>
          <p:cNvPr id="8" name="Rounded Rectangle 7"/>
          <p:cNvSpPr/>
          <p:nvPr/>
        </p:nvSpPr>
        <p:spPr>
          <a:xfrm>
            <a:off x="658368" y="2880360"/>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880360"/>
            <a:ext cx="73152" cy="6035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71800"/>
            <a:ext cx="4846320" cy="402336"/>
          </a:xfrm>
          <a:prstGeom prst="rect">
            <a:avLst/>
          </a:prstGeom>
          <a:noFill/>
        </p:spPr>
        <p:txBody>
          <a:bodyPr wrap="square" lIns="54864" rIns="54864" tIns="54864" bIns="54864" anchor="t">
            <a:spAutoFit/>
          </a:bodyPr>
          <a:lstStyle/>
          <a:p>
            <a:pPr algn="l"/>
            <a:r>
              <a:rPr sz="1400" b="1" i="0">
                <a:solidFill>
                  <a:srgbClr val="131B2A"/>
                </a:solidFill>
                <a:latin typeface="Arial"/>
              </a:rPr>
              <a:t>Redesign process and channel</a:t>
            </a:r>
          </a:p>
        </p:txBody>
      </p:sp>
      <p:sp>
        <p:nvSpPr>
          <p:cNvPr id="11" name="Rounded Rectangle 10"/>
          <p:cNvSpPr/>
          <p:nvPr/>
        </p:nvSpPr>
        <p:spPr>
          <a:xfrm>
            <a:off x="658368" y="3630168"/>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30168"/>
            <a:ext cx="73152" cy="6035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721607"/>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Build skill and scripts</a:t>
            </a:r>
          </a:p>
        </p:txBody>
      </p:sp>
      <p:sp>
        <p:nvSpPr>
          <p:cNvPr id="14" name="Rounded Rectangle 13"/>
          <p:cNvSpPr/>
          <p:nvPr/>
        </p:nvSpPr>
        <p:spPr>
          <a:xfrm>
            <a:off x="658368" y="4379976"/>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379976"/>
            <a:ext cx="73152" cy="6035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471416"/>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Clarify roles and decision rights</a:t>
            </a:r>
          </a:p>
        </p:txBody>
      </p:sp>
      <p:sp>
        <p:nvSpPr>
          <p:cNvPr id="17" name="Rounded Rectangle 16"/>
          <p:cNvSpPr/>
          <p:nvPr/>
        </p:nvSpPr>
        <p:spPr>
          <a:xfrm>
            <a:off x="658368" y="5129784"/>
            <a:ext cx="5440680" cy="603504"/>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5129784"/>
            <a:ext cx="73152" cy="603504"/>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221224"/>
            <a:ext cx="4846320" cy="402336"/>
          </a:xfrm>
          <a:prstGeom prst="rect">
            <a:avLst/>
          </a:prstGeom>
          <a:noFill/>
        </p:spPr>
        <p:txBody>
          <a:bodyPr wrap="square" lIns="54864" rIns="54864" tIns="54864" bIns="54864" anchor="t">
            <a:spAutoFit/>
          </a:bodyPr>
          <a:lstStyle/>
          <a:p>
            <a:pPr algn="l"/>
            <a:r>
              <a:rPr sz="1400" b="0" i="0">
                <a:solidFill>
                  <a:srgbClr val="131B2A"/>
                </a:solidFill>
                <a:latin typeface="Arial"/>
              </a:rPr>
              <a:t>Measure and reinforce</a:t>
            </a:r>
          </a:p>
        </p:txBody>
      </p:sp>
      <p:sp>
        <p:nvSpPr>
          <p:cNvPr id="20" name="TextBox 1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1" name="TextBox 2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126</a:t>
            </a:r>
          </a:p>
        </p:txBody>
      </p:sp>
    </p:spTree>
  </p:cSld>
  <p:clrMapOvr>
    <a:masterClrMapping/>
  </p:clrMapOvr>
  <p:transition spd="slow">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FROM PRINCIPLE TO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Engineer Solutions and Sustain the Loop | What mastery looks like</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Redesign process and channel</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Build skill and scripts</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Clarify roles and decision rights</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Measure and reinforce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Name the observable signal. Choose the response. Confirm what the receiver understood.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127</a:t>
            </a:r>
          </a:p>
        </p:txBody>
      </p:sp>
    </p:spTree>
  </p:cSld>
  <p:clrMapOvr>
    <a:masterClrMapping/>
  </p:clrMapOvr>
  <p:transition spd="slow">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PRACTICE LENS | CONCEPTUAL REHEARSAL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Engineer Solutions and Sustain the Loop | Meaning loop</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Observe</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Interpret</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Clarify</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Respond</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Confirm</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128</a:t>
            </a:r>
          </a:p>
        </p:txBody>
      </p:sp>
    </p:spTree>
  </p:cSld>
  <p:clrMapOvr>
    <a:masterClrMapping/>
  </p:clrMapOvr>
  <p:transition spd="slow">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94360"/>
            <a:ext cx="10698480" cy="320040"/>
          </a:xfrm>
          <a:prstGeom prst="rect">
            <a:avLst/>
          </a:prstGeom>
          <a:noFill/>
        </p:spPr>
        <p:txBody>
          <a:bodyPr wrap="square" lIns="54864" rIns="54864" tIns="54864" bIns="54864" anchor="t">
            <a:spAutoFit/>
          </a:bodyPr>
          <a:lstStyle/>
          <a:p>
            <a:pPr algn="l"/>
            <a:r>
              <a:rPr sz="1000" b="1" i="0">
                <a:solidFill>
                  <a:srgbClr val="6DDAD7"/>
                </a:solidFill>
                <a:latin typeface="Arial"/>
              </a:rPr>
              <a:t>COMMUNICATION GURU PITCH</a:t>
            </a:r>
          </a:p>
        </p:txBody>
      </p:sp>
      <p:sp>
        <p:nvSpPr>
          <p:cNvPr id="4" name="TextBox 3"/>
          <p:cNvSpPr txBox="1"/>
          <p:nvPr/>
        </p:nvSpPr>
        <p:spPr>
          <a:xfrm>
            <a:off x="731520" y="1234440"/>
            <a:ext cx="10607040" cy="2331720"/>
          </a:xfrm>
          <a:prstGeom prst="rect">
            <a:avLst/>
          </a:prstGeom>
          <a:noFill/>
        </p:spPr>
        <p:txBody>
          <a:bodyPr wrap="square" lIns="54864" rIns="54864" tIns="54864" bIns="54864" anchor="ctr">
            <a:spAutoFit/>
          </a:bodyPr>
          <a:lstStyle/>
          <a:p>
            <a:pPr algn="l"/>
            <a:r>
              <a:rPr sz="3600" b="1" i="0">
                <a:solidFill>
                  <a:srgbClr val="FFFFFF"/>
                </a:solidFill>
                <a:latin typeface="Arial"/>
              </a:rPr>
              <a:t>“Training changes capability; systems decide whether capability survives.”</a:t>
            </a:r>
          </a:p>
        </p:txBody>
      </p:sp>
      <p:sp>
        <p:nvSpPr>
          <p:cNvPr id="5" name="Rectangle 4"/>
          <p:cNvSpPr/>
          <p:nvPr/>
        </p:nvSpPr>
        <p:spPr>
          <a:xfrm>
            <a:off x="749808" y="4069080"/>
            <a:ext cx="1188720" cy="731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407408"/>
            <a:ext cx="9921240" cy="749808"/>
          </a:xfrm>
          <a:prstGeom prst="rect">
            <a:avLst/>
          </a:prstGeom>
          <a:noFill/>
        </p:spPr>
        <p:txBody>
          <a:bodyPr wrap="square" lIns="54864" rIns="54864" tIns="54864" bIns="54864" anchor="t">
            <a:spAutoFit/>
          </a:bodyPr>
          <a:lstStyle/>
          <a:p>
            <a:pPr algn="l"/>
            <a:r>
              <a:rPr sz="1700" b="0" i="0">
                <a:solidFill>
                  <a:srgbClr val="D7E0EA"/>
                </a:solidFill>
                <a:latin typeface="Arial"/>
              </a:rPr>
              <a:t>Use this as the pitch line, then prove it through the combine people, process, channel, governance, and measurement interventions.</a:t>
            </a:r>
          </a:p>
        </p:txBody>
      </p:sp>
      <p:sp>
        <p:nvSpPr>
          <p:cNvPr id="7" name="TextBox 6"/>
          <p:cNvSpPr txBox="1"/>
          <p:nvPr/>
        </p:nvSpPr>
        <p:spPr>
          <a:xfrm>
            <a:off x="749808" y="5596128"/>
            <a:ext cx="9966960" cy="292608"/>
          </a:xfrm>
          <a:prstGeom prst="rect">
            <a:avLst/>
          </a:prstGeom>
          <a:noFill/>
        </p:spPr>
        <p:txBody>
          <a:bodyPr wrap="square" lIns="54864" rIns="54864" tIns="54864" bIns="54864" anchor="t">
            <a:spAutoFit/>
          </a:bodyPr>
          <a:lstStyle/>
          <a:p>
            <a:pPr algn="l"/>
            <a:r>
              <a:rPr sz="900" b="1" i="0">
                <a:solidFill>
                  <a:srgbClr val="6DDAD7"/>
                </a:solidFill>
                <a:latin typeface="Arial"/>
              </a:rPr>
              <a:t>ORIGINAL COURSE MAXIM</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129</a:t>
            </a:r>
          </a:p>
        </p:txBody>
      </p:sp>
    </p:spTree>
  </p:cSld>
  <p:clrMapOvr>
    <a:masterClrMapping/>
  </p:clrMapOvr>
  <p:transition spd="slow">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400" b="1" i="0">
                <a:solidFill>
                  <a:srgbClr val="131B2A"/>
                </a:solidFill>
                <a:latin typeface="Arial"/>
              </a:rPr>
              <a:t>Activity 06 | Repair a Cross-Cultural Hybrid-Team Misunderstanding</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K3, K5, A3</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A Singapore-based product manager tells a regional colleague that a proposal is 'quite ambitious'. The colleague interprets this as approval and commits the date to a customer. Text messages become defensive, two team members stop contributing, and the weekly video meeting now avoids the issue.</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Product manager, Regional account lead, Facilitator.</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barrier diagnosis and facilitated conversation playbook.</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Names multiple plausible barriers.</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scenario, role cards, playbook, questions, worksheets, and acceptance criteria are in the Learner Guide and activity PDF pack.</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130</a:t>
            </a:r>
          </a:p>
        </p:txBody>
      </p:sp>
    </p:spTree>
  </p:cSld>
  <p:clrMapOvr>
    <a:masterClrMapping/>
  </p:clrMapOvr>
  <p:transition spd="slow">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Activity 07 | Coach a Team Leader Using SBI and GROW</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K5, A3</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A technically strong team leader regularly gives long, rapid instructions in operations meetings and answers their own questions before staff can respond. Rework is increasing, but the leader believes the team is simply not attentive. The manager must coach without undermining confidence.</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Coach/manager, Team leader, Employee witness.</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sbi feedback note and grow coaching record.</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Feedback is behaviour-specific.</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scenario, role cards, playbook, questions, worksheets, and acceptance criteria are in the Learner Guide and activity PDF pack.</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131</a:t>
            </a:r>
          </a:p>
        </p:txBody>
      </p:sp>
    </p:spTree>
  </p:cSld>
  <p:clrMapOvr>
    <a:masterClrMapping/>
  </p:clrMapOvr>
  <p:transition spd="slow">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REAL-WORKPLACE PRACTICE</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200" b="1" i="0">
                <a:solidFill>
                  <a:srgbClr val="131B2A"/>
                </a:solidFill>
                <a:latin typeface="Arial"/>
              </a:rPr>
              <a:t>Activity 08 | Capstone - Northstar Mobility Collaboration and Customer Trust</a:t>
            </a:r>
          </a:p>
        </p:txBody>
      </p:sp>
      <p:sp>
        <p:nvSpPr>
          <p:cNvPr id="5" name="Rounded Rectangle 4"/>
          <p:cNvSpPr/>
          <p:nvPr/>
        </p:nvSpPr>
        <p:spPr>
          <a:xfrm>
            <a:off x="658368" y="1664208"/>
            <a:ext cx="1508760" cy="438912"/>
          </a:xfrm>
          <a:prstGeom prst="round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28216"/>
            <a:ext cx="1508760" cy="310896"/>
          </a:xfrm>
          <a:prstGeom prst="rect">
            <a:avLst/>
          </a:prstGeom>
          <a:noFill/>
        </p:spPr>
        <p:txBody>
          <a:bodyPr wrap="square" lIns="54864" rIns="54864" tIns="54864" bIns="54864" anchor="t">
            <a:spAutoFit/>
          </a:bodyPr>
          <a:lstStyle/>
          <a:p>
            <a:pPr algn="ctr"/>
            <a:r>
              <a:rPr sz="1000" b="1" i="0">
                <a:solidFill>
                  <a:srgbClr val="FFFFFF"/>
                </a:solidFill>
                <a:latin typeface="Arial"/>
              </a:rPr>
              <a:t>K1-K5, A1-A3</a:t>
            </a:r>
          </a:p>
        </p:txBody>
      </p:sp>
      <p:sp>
        <p:nvSpPr>
          <p:cNvPr id="7" name="TextBox 6"/>
          <p:cNvSpPr txBox="1"/>
          <p:nvPr/>
        </p:nvSpPr>
        <p:spPr>
          <a:xfrm>
            <a:off x="685800" y="2304288"/>
            <a:ext cx="10789920" cy="960120"/>
          </a:xfrm>
          <a:prstGeom prst="rect">
            <a:avLst/>
          </a:prstGeom>
          <a:noFill/>
        </p:spPr>
        <p:txBody>
          <a:bodyPr wrap="square" lIns="54864" rIns="54864" tIns="54864" bIns="54864" anchor="t">
            <a:spAutoFit/>
          </a:bodyPr>
          <a:lstStyle/>
          <a:p>
            <a:pPr algn="l"/>
            <a:r>
              <a:rPr sz="1550" b="0" i="0">
                <a:solidFill>
                  <a:srgbClr val="131B2A"/>
                </a:solidFill>
                <a:latin typeface="Arial"/>
              </a:rPr>
              <a:t>Northstar Mobility launches an accessible on-demand transport service. A pilot receives strong demand but also driver confusion, inconsistent customer updates, and poor escalation of accessibility needs. Leaders need an evidence-based benchmark, an engagement-aware communication plan, and a coaching solution before the city-wide launch.</a:t>
            </a:r>
          </a:p>
        </p:txBody>
      </p:sp>
      <p:sp>
        <p:nvSpPr>
          <p:cNvPr id="8" name="Rounded Rectangle 7"/>
          <p:cNvSpPr/>
          <p:nvPr/>
        </p:nvSpPr>
        <p:spPr>
          <a:xfrm>
            <a:off x="68580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657600"/>
            <a:ext cx="3429000" cy="10972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77640"/>
            <a:ext cx="2971800" cy="365760"/>
          </a:xfrm>
          <a:prstGeom prst="rect">
            <a:avLst/>
          </a:prstGeom>
          <a:noFill/>
        </p:spPr>
        <p:txBody>
          <a:bodyPr wrap="square" lIns="54864" rIns="54864" tIns="54864" bIns="54864" anchor="t">
            <a:spAutoFit/>
          </a:bodyPr>
          <a:lstStyle/>
          <a:p>
            <a:pPr algn="l"/>
            <a:r>
              <a:rPr sz="1200" b="1" i="0">
                <a:solidFill>
                  <a:srgbClr val="1F6FEB"/>
                </a:solidFill>
                <a:latin typeface="Arial"/>
              </a:rPr>
              <a:t>ROLE PLAY</a:t>
            </a:r>
          </a:p>
        </p:txBody>
      </p:sp>
      <p:sp>
        <p:nvSpPr>
          <p:cNvPr id="11" name="TextBox 10"/>
          <p:cNvSpPr txBox="1"/>
          <p:nvPr/>
        </p:nvSpPr>
        <p:spPr>
          <a:xfrm>
            <a:off x="91440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Rehearse the decision with Programme sponsor, Communication audit lead, Workforce engagement lead.</a:t>
            </a:r>
          </a:p>
        </p:txBody>
      </p:sp>
      <p:sp>
        <p:nvSpPr>
          <p:cNvPr id="12" name="Rounded Rectangle 11"/>
          <p:cNvSpPr/>
          <p:nvPr/>
        </p:nvSpPr>
        <p:spPr>
          <a:xfrm>
            <a:off x="438912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429000" cy="109728"/>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77640"/>
            <a:ext cx="2971800" cy="365760"/>
          </a:xfrm>
          <a:prstGeom prst="rect">
            <a:avLst/>
          </a:prstGeom>
          <a:noFill/>
        </p:spPr>
        <p:txBody>
          <a:bodyPr wrap="square" lIns="54864" rIns="54864" tIns="54864" bIns="54864" anchor="t">
            <a:spAutoFit/>
          </a:bodyPr>
          <a:lstStyle/>
          <a:p>
            <a:pPr algn="l"/>
            <a:r>
              <a:rPr sz="1200" b="1" i="0">
                <a:solidFill>
                  <a:srgbClr val="008C95"/>
                </a:solidFill>
                <a:latin typeface="Arial"/>
              </a:rPr>
              <a:t>EVIDENCE</a:t>
            </a:r>
          </a:p>
        </p:txBody>
      </p:sp>
      <p:sp>
        <p:nvSpPr>
          <p:cNvPr id="15" name="TextBox 14"/>
          <p:cNvSpPr txBox="1"/>
          <p:nvPr/>
        </p:nvSpPr>
        <p:spPr>
          <a:xfrm>
            <a:off x="461772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Produce audit and suitability benchmark and trend and engagement analysis.</a:t>
            </a:r>
          </a:p>
        </p:txBody>
      </p:sp>
      <p:sp>
        <p:nvSpPr>
          <p:cNvPr id="16" name="Rounded Rectangle 15"/>
          <p:cNvSpPr/>
          <p:nvPr/>
        </p:nvSpPr>
        <p:spPr>
          <a:xfrm>
            <a:off x="8092440" y="3657600"/>
            <a:ext cx="3429000" cy="178308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3657600"/>
            <a:ext cx="3429000" cy="109728"/>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3977640"/>
            <a:ext cx="2971800" cy="365760"/>
          </a:xfrm>
          <a:prstGeom prst="rect">
            <a:avLst/>
          </a:prstGeom>
          <a:noFill/>
        </p:spPr>
        <p:txBody>
          <a:bodyPr wrap="square" lIns="54864" rIns="54864" tIns="54864" bIns="54864" anchor="t">
            <a:spAutoFit/>
          </a:bodyPr>
          <a:lstStyle/>
          <a:p>
            <a:pPr algn="l"/>
            <a:r>
              <a:rPr sz="1200" b="1" i="0">
                <a:solidFill>
                  <a:srgbClr val="6F42C1"/>
                </a:solidFill>
                <a:latin typeface="Arial"/>
              </a:rPr>
              <a:t>QUALITY GATE</a:t>
            </a:r>
          </a:p>
        </p:txBody>
      </p:sp>
      <p:sp>
        <p:nvSpPr>
          <p:cNvPr id="19" name="TextBox 18"/>
          <p:cNvSpPr txBox="1"/>
          <p:nvPr/>
        </p:nvSpPr>
        <p:spPr>
          <a:xfrm>
            <a:off x="8321040" y="4453128"/>
            <a:ext cx="2971800" cy="749808"/>
          </a:xfrm>
          <a:prstGeom prst="rect">
            <a:avLst/>
          </a:prstGeom>
          <a:noFill/>
        </p:spPr>
        <p:txBody>
          <a:bodyPr wrap="square" lIns="54864" rIns="54864" tIns="54864" bIns="54864" anchor="t">
            <a:spAutoFit/>
          </a:bodyPr>
          <a:lstStyle/>
          <a:p>
            <a:pPr algn="l"/>
            <a:r>
              <a:rPr sz="1300" b="0" i="0">
                <a:solidFill>
                  <a:srgbClr val="131B2A"/>
                </a:solidFill>
                <a:latin typeface="Arial"/>
              </a:rPr>
              <a:t>Covers A1, A2, and A3 with traceable evidence.</a:t>
            </a:r>
          </a:p>
        </p:txBody>
      </p:sp>
      <p:sp>
        <p:nvSpPr>
          <p:cNvPr id="20" name="TextBox 19"/>
          <p:cNvSpPr txBox="1"/>
          <p:nvPr/>
        </p:nvSpPr>
        <p:spPr>
          <a:xfrm>
            <a:off x="713232" y="5696712"/>
            <a:ext cx="10698480" cy="384048"/>
          </a:xfrm>
          <a:prstGeom prst="rect">
            <a:avLst/>
          </a:prstGeom>
          <a:noFill/>
        </p:spPr>
        <p:txBody>
          <a:bodyPr wrap="square" lIns="54864" rIns="54864" tIns="54864" bIns="54864" anchor="t">
            <a:spAutoFit/>
          </a:bodyPr>
          <a:lstStyle/>
          <a:p>
            <a:pPr algn="l"/>
            <a:r>
              <a:rPr sz="1000" b="1" i="0">
                <a:solidFill>
                  <a:srgbClr val="5C6677"/>
                </a:solidFill>
                <a:latin typeface="Arial"/>
              </a:rPr>
              <a:t>Full scenario, role cards, playbook, questions, worksheets, and acceptance criteria are in the Learner Guide and activity PDF pack.</a:t>
            </a:r>
          </a:p>
        </p:txBody>
      </p:sp>
      <p:sp>
        <p:nvSpPr>
          <p:cNvPr id="21" name="TextBox 20"/>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22" name="TextBox 21"/>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132</a:t>
            </a:r>
          </a:p>
        </p:txBody>
      </p:sp>
    </p:spTree>
  </p:cSld>
  <p:clrMapOvr>
    <a:masterClrMapping/>
  </p:clrMapOvr>
  <p:transition spd="slow">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67D58"/>
                </a:solidFill>
                <a:latin typeface="Arial"/>
              </a:rPr>
              <a:t>EVIDENCE CHECK</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Topic 3 | Evidence of competence</a:t>
            </a:r>
          </a:p>
        </p:txBody>
      </p:sp>
      <p:sp>
        <p:nvSpPr>
          <p:cNvPr id="5" name="Rounded Rectangle 4"/>
          <p:cNvSpPr/>
          <p:nvPr/>
        </p:nvSpPr>
        <p:spPr>
          <a:xfrm>
            <a:off x="713232" y="1920240"/>
            <a:ext cx="10771632" cy="3063240"/>
          </a:xfrm>
          <a:prstGeom prst="roundRect">
            <a:avLst/>
          </a:prstGeom>
          <a:solidFill>
            <a:srgbClr val="E8F7EE"/>
          </a:solidFill>
          <a:ln>
            <a:solidFill>
              <a:srgbClr val="B7E1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286000"/>
            <a:ext cx="10012680" cy="457200"/>
          </a:xfrm>
          <a:prstGeom prst="rect">
            <a:avLst/>
          </a:prstGeom>
          <a:noFill/>
        </p:spPr>
        <p:txBody>
          <a:bodyPr wrap="square" lIns="54864" rIns="54864" tIns="54864" bIns="54864" anchor="t">
            <a:spAutoFit/>
          </a:bodyPr>
          <a:lstStyle/>
          <a:p>
            <a:pPr algn="l"/>
            <a:r>
              <a:rPr sz="1500" b="1" i="0">
                <a:solidFill>
                  <a:srgbClr val="167D58"/>
                </a:solidFill>
                <a:latin typeface="Arial"/>
              </a:rPr>
              <a:t>PROOF OF SHARED MEANING</a:t>
            </a:r>
          </a:p>
        </p:txBody>
      </p:sp>
      <p:sp>
        <p:nvSpPr>
          <p:cNvPr id="7" name="TextBox 6"/>
          <p:cNvSpPr txBox="1"/>
          <p:nvPr/>
        </p:nvSpPr>
        <p:spPr>
          <a:xfrm>
            <a:off x="1051560" y="2971800"/>
            <a:ext cx="10012680" cy="1325880"/>
          </a:xfrm>
          <a:prstGeom prst="rect">
            <a:avLst/>
          </a:prstGeom>
          <a:noFill/>
        </p:spPr>
        <p:txBody>
          <a:bodyPr wrap="square" lIns="54864" rIns="54864" tIns="54864" bIns="54864" anchor="ctr">
            <a:spAutoFit/>
          </a:bodyPr>
          <a:lstStyle/>
          <a:p>
            <a:pPr algn="l"/>
            <a:r>
              <a:rPr sz="2400" b="1" i="0">
                <a:solidFill>
                  <a:srgbClr val="131B2A"/>
                </a:solidFill>
                <a:latin typeface="Arial"/>
              </a:rPr>
              <a:t>A recommendation is credible when the evidence, audience need, channel choice, behaviour, owner, and measure all point in the same direction.</a:t>
            </a:r>
          </a:p>
        </p:txBody>
      </p:sp>
      <p:sp>
        <p:nvSpPr>
          <p:cNvPr id="8" name="TextBox 7"/>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9" name="TextBox 8"/>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133</a:t>
            </a:r>
          </a:p>
        </p:txBody>
      </p:sp>
    </p:spTree>
  </p:cSld>
  <p:clrMapOvr>
    <a:masterClrMapping/>
  </p:clrMapOvr>
  <p:transition spd="slow">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eam-handoff-v10.png"/>
          <p:cNvPicPr>
            <a:picLocks noChangeAspect="1"/>
          </p:cNvPicPr>
          <p:nvPr/>
        </p:nvPicPr>
        <p:blipFill>
          <a:blip r:embed="rId2"/>
          <a:srcRect l="24186" r="24186"/>
          <a:stretch>
            <a:fillRect/>
          </a:stretch>
        </p:blipFill>
        <p:spPr>
          <a:xfrm>
            <a:off x="5897880" y="0"/>
            <a:ext cx="6291072" cy="6858000"/>
          </a:xfrm>
          <a:prstGeom prst="rect">
            <a:avLst/>
          </a:prstGeom>
        </p:spPr>
      </p:pic>
      <p:sp>
        <p:nvSpPr>
          <p:cNvPr id="4" name="Rectangle 3"/>
          <p:cNvSpPr/>
          <p:nvPr/>
        </p:nvSpPr>
        <p:spPr>
          <a:xfrm>
            <a:off x="5303520" y="0"/>
            <a:ext cx="2011680"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58368"/>
            <a:ext cx="4480560" cy="365760"/>
          </a:xfrm>
          <a:prstGeom prst="rect">
            <a:avLst/>
          </a:prstGeom>
          <a:noFill/>
        </p:spPr>
        <p:txBody>
          <a:bodyPr wrap="square" lIns="54864" rIns="54864" tIns="54864" bIns="54864" anchor="t">
            <a:spAutoFit/>
          </a:bodyPr>
          <a:lstStyle/>
          <a:p>
            <a:pPr algn="l"/>
            <a:r>
              <a:rPr sz="1100" b="1" i="0">
                <a:solidFill>
                  <a:srgbClr val="6DDAD7"/>
                </a:solidFill>
                <a:latin typeface="Arial"/>
              </a:rPr>
              <a:t>SECTION 99</a:t>
            </a:r>
          </a:p>
        </p:txBody>
      </p:sp>
      <p:sp>
        <p:nvSpPr>
          <p:cNvPr id="6" name="TextBox 5"/>
          <p:cNvSpPr txBox="1"/>
          <p:nvPr/>
        </p:nvSpPr>
        <p:spPr>
          <a:xfrm>
            <a:off x="658368" y="1325880"/>
            <a:ext cx="5166360" cy="1965960"/>
          </a:xfrm>
          <a:prstGeom prst="rect">
            <a:avLst/>
          </a:prstGeom>
          <a:noFill/>
        </p:spPr>
        <p:txBody>
          <a:bodyPr wrap="square" lIns="54864" rIns="54864" tIns="54864" bIns="54864" anchor="t">
            <a:spAutoFit/>
          </a:bodyPr>
          <a:lstStyle/>
          <a:p>
            <a:pPr algn="l"/>
            <a:r>
              <a:rPr sz="3600" b="1" i="0">
                <a:solidFill>
                  <a:srgbClr val="FFFFFF"/>
                </a:solidFill>
                <a:latin typeface="Arial"/>
              </a:rPr>
              <a:t>Integration</a:t>
            </a:r>
          </a:p>
        </p:txBody>
      </p:sp>
      <p:sp>
        <p:nvSpPr>
          <p:cNvPr id="7" name="TextBox 6"/>
          <p:cNvSpPr txBox="1"/>
          <p:nvPr/>
        </p:nvSpPr>
        <p:spPr>
          <a:xfrm>
            <a:off x="685800" y="3675887"/>
            <a:ext cx="4937760" cy="960120"/>
          </a:xfrm>
          <a:prstGeom prst="rect">
            <a:avLst/>
          </a:prstGeom>
          <a:noFill/>
        </p:spPr>
        <p:txBody>
          <a:bodyPr wrap="square" lIns="54864" rIns="54864" tIns="54864" bIns="54864" anchor="t">
            <a:spAutoFit/>
          </a:bodyPr>
          <a:lstStyle/>
          <a:p>
            <a:pPr algn="l"/>
            <a:r>
              <a:rPr sz="1700" b="0" i="0">
                <a:solidFill>
                  <a:srgbClr val="D7E0EA"/>
                </a:solidFill>
                <a:latin typeface="Arial"/>
              </a:rPr>
              <a:t>From isolated techniques to a communication operating system</a:t>
            </a:r>
          </a:p>
        </p:txBody>
      </p:sp>
      <p:sp>
        <p:nvSpPr>
          <p:cNvPr id="8" name="TextBox 7"/>
          <p:cNvSpPr txBox="1"/>
          <p:nvPr/>
        </p:nvSpPr>
        <p:spPr>
          <a:xfrm>
            <a:off x="685800" y="5175504"/>
            <a:ext cx="4983480" cy="640080"/>
          </a:xfrm>
          <a:prstGeom prst="rect">
            <a:avLst/>
          </a:prstGeom>
          <a:noFill/>
        </p:spPr>
        <p:txBody>
          <a:bodyPr wrap="square" lIns="54864" rIns="54864" tIns="54864" bIns="54864" anchor="t">
            <a:spAutoFit/>
          </a:bodyPr>
          <a:lstStyle/>
          <a:p>
            <a:pPr algn="l"/>
            <a:r>
              <a:rPr sz="1500" b="1" i="1">
                <a:solidFill>
                  <a:srgbClr val="6DDAD7"/>
                </a:solidFill>
                <a:latin typeface="Arial"/>
              </a:rPr>
              <a:t>The conversation is the work—make it observable, repeatable, and trustworthy.</a:t>
            </a:r>
          </a:p>
        </p:txBody>
      </p:sp>
      <p:sp>
        <p:nvSpPr>
          <p:cNvPr id="9" name="TextBox 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10" name="TextBox 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134</a:t>
            </a:r>
          </a:p>
        </p:txBody>
      </p:sp>
    </p:spTree>
  </p:cSld>
  <p:clrMapOvr>
    <a:masterClrMapping/>
  </p:clrMapOvr>
  <p:transition spd="slow">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ONE SYSTEM | MANY CONVERSATIONS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The Communication Operating System</a:t>
            </a:r>
          </a:p>
        </p:txBody>
      </p:sp>
      <p:sp>
        <p:nvSpPr>
          <p:cNvPr id="5" name="Rounded Rectangle 4"/>
          <p:cNvSpPr/>
          <p:nvPr/>
        </p:nvSpPr>
        <p:spPr>
          <a:xfrm>
            <a:off x="621792" y="2240280"/>
            <a:ext cx="1630680"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118616" cy="914400"/>
          </a:xfrm>
          <a:prstGeom prst="rect">
            <a:avLst/>
          </a:prstGeom>
          <a:noFill/>
        </p:spPr>
        <p:txBody>
          <a:bodyPr wrap="square" lIns="54864" rIns="54864" tIns="54864" bIns="54864" anchor="ctr">
            <a:spAutoFit/>
          </a:bodyPr>
          <a:lstStyle/>
          <a:p>
            <a:pPr algn="ctr"/>
            <a:r>
              <a:rPr sz="1400" b="1" i="0">
                <a:solidFill>
                  <a:srgbClr val="131B2A"/>
                </a:solidFill>
                <a:latin typeface="Arial"/>
              </a:rPr>
              <a:t>Purpose</a:t>
            </a:r>
          </a:p>
        </p:txBody>
      </p:sp>
      <p:cxnSp>
        <p:nvCxnSpPr>
          <p:cNvPr id="9" name="Connector 8"/>
          <p:cNvCxnSpPr/>
          <p:nvPr/>
        </p:nvCxnSpPr>
        <p:spPr>
          <a:xfrm>
            <a:off x="2252472"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90216" y="2240280"/>
            <a:ext cx="1630680"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54808"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548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2746248" y="3044952"/>
            <a:ext cx="1118616" cy="914400"/>
          </a:xfrm>
          <a:prstGeom prst="rect">
            <a:avLst/>
          </a:prstGeom>
          <a:noFill/>
        </p:spPr>
        <p:txBody>
          <a:bodyPr wrap="square" lIns="54864" rIns="54864" tIns="54864" bIns="54864" anchor="ctr">
            <a:spAutoFit/>
          </a:bodyPr>
          <a:lstStyle/>
          <a:p>
            <a:pPr algn="ctr"/>
            <a:r>
              <a:rPr sz="1400" b="1" i="0">
                <a:solidFill>
                  <a:srgbClr val="131B2A"/>
                </a:solidFill>
                <a:latin typeface="Arial"/>
              </a:rPr>
              <a:t>Audience</a:t>
            </a:r>
          </a:p>
        </p:txBody>
      </p:sp>
      <p:cxnSp>
        <p:nvCxnSpPr>
          <p:cNvPr id="14" name="Connector 13"/>
          <p:cNvCxnSpPr/>
          <p:nvPr/>
        </p:nvCxnSpPr>
        <p:spPr>
          <a:xfrm>
            <a:off x="4120896"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358640" y="2240280"/>
            <a:ext cx="1630680"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523232"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323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4614672" y="3044952"/>
            <a:ext cx="1118616" cy="914400"/>
          </a:xfrm>
          <a:prstGeom prst="rect">
            <a:avLst/>
          </a:prstGeom>
          <a:noFill/>
        </p:spPr>
        <p:txBody>
          <a:bodyPr wrap="square" lIns="54864" rIns="54864" tIns="54864" bIns="54864" anchor="ctr">
            <a:spAutoFit/>
          </a:bodyPr>
          <a:lstStyle/>
          <a:p>
            <a:pPr algn="ctr"/>
            <a:r>
              <a:rPr sz="1400" b="1" i="0">
                <a:solidFill>
                  <a:srgbClr val="131B2A"/>
                </a:solidFill>
                <a:latin typeface="Arial"/>
              </a:rPr>
              <a:t>Meaning</a:t>
            </a:r>
          </a:p>
        </p:txBody>
      </p:sp>
      <p:cxnSp>
        <p:nvCxnSpPr>
          <p:cNvPr id="19" name="Connector 18"/>
          <p:cNvCxnSpPr/>
          <p:nvPr/>
        </p:nvCxnSpPr>
        <p:spPr>
          <a:xfrm>
            <a:off x="5989320"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240280"/>
            <a:ext cx="1630680"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165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6483096" y="3044952"/>
            <a:ext cx="1118616" cy="914400"/>
          </a:xfrm>
          <a:prstGeom prst="rect">
            <a:avLst/>
          </a:prstGeom>
          <a:noFill/>
        </p:spPr>
        <p:txBody>
          <a:bodyPr wrap="square" lIns="54864" rIns="54864" tIns="54864" bIns="54864" anchor="ctr">
            <a:spAutoFit/>
          </a:bodyPr>
          <a:lstStyle/>
          <a:p>
            <a:pPr algn="ctr"/>
            <a:r>
              <a:rPr sz="1400" b="1" i="0">
                <a:solidFill>
                  <a:srgbClr val="131B2A"/>
                </a:solidFill>
                <a:latin typeface="Arial"/>
              </a:rPr>
              <a:t>Mechanism</a:t>
            </a:r>
          </a:p>
        </p:txBody>
      </p:sp>
      <p:cxnSp>
        <p:nvCxnSpPr>
          <p:cNvPr id="24" name="Connector 23"/>
          <p:cNvCxnSpPr/>
          <p:nvPr/>
        </p:nvCxnSpPr>
        <p:spPr>
          <a:xfrm>
            <a:off x="7857744"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095488" y="2240280"/>
            <a:ext cx="1630680"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60080"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8351520" y="3044952"/>
            <a:ext cx="1118616" cy="914400"/>
          </a:xfrm>
          <a:prstGeom prst="rect">
            <a:avLst/>
          </a:prstGeom>
          <a:noFill/>
        </p:spPr>
        <p:txBody>
          <a:bodyPr wrap="square" lIns="54864" rIns="54864" tIns="54864" bIns="54864" anchor="ctr">
            <a:spAutoFit/>
          </a:bodyPr>
          <a:lstStyle/>
          <a:p>
            <a:pPr algn="ctr"/>
            <a:r>
              <a:rPr sz="1400" b="1" i="0">
                <a:solidFill>
                  <a:srgbClr val="131B2A"/>
                </a:solidFill>
                <a:latin typeface="Arial"/>
              </a:rPr>
              <a:t>Feedback</a:t>
            </a:r>
          </a:p>
        </p:txBody>
      </p:sp>
      <p:cxnSp>
        <p:nvCxnSpPr>
          <p:cNvPr id="29" name="Connector 28"/>
          <p:cNvCxnSpPr/>
          <p:nvPr/>
        </p:nvCxnSpPr>
        <p:spPr>
          <a:xfrm>
            <a:off x="9726168"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963912" y="2240280"/>
            <a:ext cx="1630680"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128504"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2850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6</a:t>
            </a:r>
          </a:p>
        </p:txBody>
      </p:sp>
      <p:sp>
        <p:nvSpPr>
          <p:cNvPr id="33" name="TextBox 32"/>
          <p:cNvSpPr txBox="1"/>
          <p:nvPr/>
        </p:nvSpPr>
        <p:spPr>
          <a:xfrm>
            <a:off x="10219944" y="3044952"/>
            <a:ext cx="1118616" cy="914400"/>
          </a:xfrm>
          <a:prstGeom prst="rect">
            <a:avLst/>
          </a:prstGeom>
          <a:noFill/>
        </p:spPr>
        <p:txBody>
          <a:bodyPr wrap="square" lIns="54864" rIns="54864" tIns="54864" bIns="54864" anchor="ctr">
            <a:spAutoFit/>
          </a:bodyPr>
          <a:lstStyle/>
          <a:p>
            <a:pPr algn="ctr"/>
            <a:r>
              <a:rPr sz="1400" b="1" i="0">
                <a:solidFill>
                  <a:srgbClr val="131B2A"/>
                </a:solidFill>
                <a:latin typeface="Arial"/>
              </a:rPr>
              <a:t>Measure</a:t>
            </a:r>
          </a:p>
        </p:txBody>
      </p:sp>
      <p:sp>
        <p:nvSpPr>
          <p:cNvPr id="34" name="TextBox 33"/>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5" name="TextBox 34"/>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135</a:t>
            </a:r>
          </a:p>
        </p:txBody>
      </p:sp>
    </p:spTree>
  </p:cSld>
  <p:clrMapOvr>
    <a:masterClrMapping/>
  </p:clrMapOvr>
  <p:transition spd="slow">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COURSE SUMMARY</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What You Achieved</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EVALUATE</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Diagnose communication practice with evidence and benchmarks.</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DESIGN</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Build outcome-led plans for distinct audiences.</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REPAIR</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Address barriers with calm, clarity and respect.</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COACH</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Turn feedback into rehearsed workplace behaviour.</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136</a:t>
            </a:r>
          </a:p>
        </p:txBody>
      </p:sp>
    </p:spTree>
  </p:cSld>
  <p:clrMapOvr>
    <a:masterClrMapping/>
  </p:clrMapOvr>
  <p:transition spd="slow">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31B2A"/>
          </a:solidFill>
          <a:ln>
            <a:solidFill>
              <a:srgbClr val="13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32520" y="640080"/>
            <a:ext cx="2423160" cy="2423160"/>
          </a:xfrm>
          <a:prstGeom prst="round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732520" y="676656"/>
            <a:ext cx="2423160" cy="2011680"/>
          </a:xfrm>
          <a:prstGeom prst="rect">
            <a:avLst/>
          </a:prstGeom>
          <a:noFill/>
        </p:spPr>
        <p:txBody>
          <a:bodyPr wrap="square" lIns="54864" rIns="54864" tIns="54864" bIns="54864" anchor="ctr">
            <a:spAutoFit/>
          </a:bodyPr>
          <a:lstStyle/>
          <a:p>
            <a:pPr algn="ctr"/>
            <a:r>
              <a:rPr sz="9200" b="1" i="0">
                <a:solidFill>
                  <a:srgbClr val="FFFFFF"/>
                </a:solidFill>
                <a:latin typeface="Arial"/>
              </a:rPr>
              <a:t>“</a:t>
            </a:r>
          </a:p>
        </p:txBody>
      </p:sp>
      <p:sp>
        <p:nvSpPr>
          <p:cNvPr id="5" name="TextBox 4"/>
          <p:cNvSpPr txBox="1"/>
          <p:nvPr/>
        </p:nvSpPr>
        <p:spPr>
          <a:xfrm>
            <a:off x="713232" y="566928"/>
            <a:ext cx="7223760" cy="320040"/>
          </a:xfrm>
          <a:prstGeom prst="rect">
            <a:avLst/>
          </a:prstGeom>
          <a:noFill/>
        </p:spPr>
        <p:txBody>
          <a:bodyPr wrap="square" lIns="54864" rIns="54864" tIns="54864" bIns="54864" anchor="t">
            <a:spAutoFit/>
          </a:bodyPr>
          <a:lstStyle/>
          <a:p>
            <a:pPr algn="l"/>
            <a:r>
              <a:rPr sz="1000" b="1" i="0">
                <a:solidFill>
                  <a:srgbClr val="B99AFF"/>
                </a:solidFill>
                <a:latin typeface="Arial"/>
              </a:rPr>
              <a:t>FINAL PITCH</a:t>
            </a:r>
          </a:p>
        </p:txBody>
      </p:sp>
      <p:sp>
        <p:nvSpPr>
          <p:cNvPr id="6" name="TextBox 5"/>
          <p:cNvSpPr txBox="1"/>
          <p:nvPr/>
        </p:nvSpPr>
        <p:spPr>
          <a:xfrm>
            <a:off x="731520" y="1207008"/>
            <a:ext cx="7543800" cy="2743200"/>
          </a:xfrm>
          <a:prstGeom prst="rect">
            <a:avLst/>
          </a:prstGeom>
          <a:noFill/>
        </p:spPr>
        <p:txBody>
          <a:bodyPr wrap="square" lIns="54864" rIns="54864" tIns="54864" bIns="54864" anchor="ctr">
            <a:spAutoFit/>
          </a:bodyPr>
          <a:lstStyle/>
          <a:p>
            <a:pPr algn="l"/>
            <a:r>
              <a:rPr sz="3400" b="1" i="0">
                <a:solidFill>
                  <a:srgbClr val="FFFFFF"/>
                </a:solidFill>
                <a:latin typeface="Arial"/>
              </a:rPr>
              <a:t>The customer hears the echo of every internal conversation.</a:t>
            </a:r>
          </a:p>
        </p:txBody>
      </p:sp>
      <p:sp>
        <p:nvSpPr>
          <p:cNvPr id="7" name="Rectangle 6"/>
          <p:cNvSpPr/>
          <p:nvPr/>
        </p:nvSpPr>
        <p:spPr>
          <a:xfrm>
            <a:off x="749808" y="4224528"/>
            <a:ext cx="7223760" cy="731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4572000"/>
            <a:ext cx="9921240" cy="658368"/>
          </a:xfrm>
          <a:prstGeom prst="rect">
            <a:avLst/>
          </a:prstGeom>
          <a:noFill/>
        </p:spPr>
        <p:txBody>
          <a:bodyPr wrap="square" lIns="54864" rIns="54864" tIns="54864" bIns="54864" anchor="t">
            <a:spAutoFit/>
          </a:bodyPr>
          <a:lstStyle/>
          <a:p>
            <a:pPr algn="l"/>
            <a:r>
              <a:rPr sz="1700" b="0" i="0">
                <a:solidFill>
                  <a:srgbClr val="D7E0EA"/>
                </a:solidFill>
                <a:latin typeface="Arial"/>
              </a:rPr>
              <a:t>Build collaboration upstream, and satisfaction becomes easier to deliver downstream.</a:t>
            </a:r>
          </a:p>
        </p:txBody>
      </p:sp>
      <p:sp>
        <p:nvSpPr>
          <p:cNvPr id="9" name="TextBox 8"/>
          <p:cNvSpPr txBox="1"/>
          <p:nvPr/>
        </p:nvSpPr>
        <p:spPr>
          <a:xfrm>
            <a:off x="749808" y="5650992"/>
            <a:ext cx="9966960" cy="292608"/>
          </a:xfrm>
          <a:prstGeom prst="rect">
            <a:avLst/>
          </a:prstGeom>
          <a:noFill/>
        </p:spPr>
        <p:txBody>
          <a:bodyPr wrap="square" lIns="54864" rIns="54864" tIns="54864" bIns="54864" anchor="t">
            <a:spAutoFit/>
          </a:bodyPr>
          <a:lstStyle/>
          <a:p>
            <a:pPr algn="l"/>
            <a:r>
              <a:rPr sz="900" b="1" i="0">
                <a:solidFill>
                  <a:srgbClr val="B99AFF"/>
                </a:solidFill>
                <a:latin typeface="Arial"/>
              </a:rPr>
              <a:t>ORIGINAL COURSE MAXIM</a:t>
            </a:r>
          </a:p>
        </p:txBody>
      </p:sp>
      <p:sp>
        <p:nvSpPr>
          <p:cNvPr id="10" name="TextBox 9"/>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11" name="TextBox 10"/>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137</a:t>
            </a:r>
          </a:p>
        </p:txBody>
      </p:sp>
    </p:spTree>
  </p:cSld>
  <p:clrMapOvr>
    <a:masterClrMapping/>
  </p:clrMapOvr>
  <p:transition spd="slow">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1F6FEB"/>
                </a:solidFill>
                <a:latin typeface="Arial"/>
              </a:rPr>
              <a:t>LEARNER PORTAL</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Courseware and Assessment on the LMS</a:t>
            </a:r>
          </a:p>
        </p:txBody>
      </p:sp>
      <p:sp>
        <p:nvSpPr>
          <p:cNvPr id="5" name="Oval 4"/>
          <p:cNvSpPr/>
          <p:nvPr/>
        </p:nvSpPr>
        <p:spPr>
          <a:xfrm>
            <a:off x="685800" y="1572768"/>
            <a:ext cx="402336" cy="402336"/>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91056"/>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7" name="TextBox 6"/>
          <p:cNvSpPr txBox="1"/>
          <p:nvPr/>
        </p:nvSpPr>
        <p:spPr>
          <a:xfrm>
            <a:off x="1298448" y="1554480"/>
            <a:ext cx="9966960" cy="530352"/>
          </a:xfrm>
          <a:prstGeom prst="rect">
            <a:avLst/>
          </a:prstGeom>
          <a:noFill/>
        </p:spPr>
        <p:txBody>
          <a:bodyPr wrap="square" lIns="54864" rIns="54864" tIns="54864" bIns="54864" anchor="t">
            <a:spAutoFit/>
          </a:bodyPr>
          <a:lstStyle/>
          <a:p>
            <a:pPr algn="l"/>
            <a:r>
              <a:rPr sz="1700" b="1" i="0">
                <a:solidFill>
                  <a:srgbClr val="131B2A"/>
                </a:solidFill>
                <a:latin typeface="Arial"/>
              </a:rPr>
              <a:t>Download the learner slides, Learner Guide and activity pack</a:t>
            </a:r>
          </a:p>
        </p:txBody>
      </p:sp>
      <p:sp>
        <p:nvSpPr>
          <p:cNvPr id="8" name="Oval 7"/>
          <p:cNvSpPr/>
          <p:nvPr/>
        </p:nvSpPr>
        <p:spPr>
          <a:xfrm>
            <a:off x="685800" y="2560320"/>
            <a:ext cx="402336" cy="402336"/>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0" name="TextBox 9"/>
          <p:cNvSpPr txBox="1"/>
          <p:nvPr/>
        </p:nvSpPr>
        <p:spPr>
          <a:xfrm>
            <a:off x="1298448" y="2542032"/>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Complete the WA and Case Study using the approved materials</a:t>
            </a:r>
          </a:p>
        </p:txBody>
      </p:sp>
      <p:sp>
        <p:nvSpPr>
          <p:cNvPr id="11" name="Oval 10"/>
          <p:cNvSpPr/>
          <p:nvPr/>
        </p:nvSpPr>
        <p:spPr>
          <a:xfrm>
            <a:off x="685800" y="3547872"/>
            <a:ext cx="402336" cy="402336"/>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566160"/>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13" name="TextBox 12"/>
          <p:cNvSpPr txBox="1"/>
          <p:nvPr/>
        </p:nvSpPr>
        <p:spPr>
          <a:xfrm>
            <a:off x="1298448" y="3529584"/>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Upload the completed documents to the LMS</a:t>
            </a:r>
          </a:p>
        </p:txBody>
      </p:sp>
      <p:sp>
        <p:nvSpPr>
          <p:cNvPr id="14" name="Oval 13"/>
          <p:cNvSpPr/>
          <p:nvPr/>
        </p:nvSpPr>
        <p:spPr>
          <a:xfrm>
            <a:off x="685800" y="4535424"/>
            <a:ext cx="402336" cy="402336"/>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53712"/>
            <a:ext cx="402336"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16" name="TextBox 15"/>
          <p:cNvSpPr txBox="1"/>
          <p:nvPr/>
        </p:nvSpPr>
        <p:spPr>
          <a:xfrm>
            <a:off x="1298448" y="4517136"/>
            <a:ext cx="9966960" cy="530352"/>
          </a:xfrm>
          <a:prstGeom prst="rect">
            <a:avLst/>
          </a:prstGeom>
          <a:noFill/>
        </p:spPr>
        <p:txBody>
          <a:bodyPr wrap="square" lIns="54864" rIns="54864" tIns="54864" bIns="54864" anchor="t">
            <a:spAutoFit/>
          </a:bodyPr>
          <a:lstStyle/>
          <a:p>
            <a:pPr algn="l"/>
            <a:r>
              <a:rPr sz="1700" b="0" i="0">
                <a:solidFill>
                  <a:srgbClr val="131B2A"/>
                </a:solidFill>
                <a:latin typeface="Arial"/>
              </a:rPr>
              <a:t>https://lms-tms.tertiaryinfotech.com/</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138</a:t>
            </a:r>
          </a:p>
        </p:txBody>
      </p:sp>
    </p:spTree>
  </p:cSld>
  <p:clrMapOvr>
    <a:masterClrMapping/>
  </p:clrMapOvr>
  <p:transition spd="slow">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6F42C1"/>
                </a:solidFill>
                <a:latin typeface="Arial"/>
              </a:rPr>
              <a:t>FINAL REMINDER</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Assessment</a:t>
            </a:r>
          </a:p>
        </p:txBody>
      </p:sp>
      <p:sp>
        <p:nvSpPr>
          <p:cNvPr id="5" name="Rounded Rectangle 4"/>
          <p:cNvSpPr/>
          <p:nvPr/>
        </p:nvSpPr>
        <p:spPr>
          <a:xfrm>
            <a:off x="65836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00200"/>
            <a:ext cx="3429000" cy="146304"/>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47672"/>
            <a:ext cx="2926080" cy="502920"/>
          </a:xfrm>
          <a:prstGeom prst="rect">
            <a:avLst/>
          </a:prstGeom>
          <a:noFill/>
        </p:spPr>
        <p:txBody>
          <a:bodyPr wrap="square" lIns="54864" rIns="54864" tIns="54864" bIns="54864" anchor="t">
            <a:spAutoFit/>
          </a:bodyPr>
          <a:lstStyle/>
          <a:p>
            <a:pPr algn="l"/>
            <a:r>
              <a:rPr sz="1300" b="1" i="0">
                <a:solidFill>
                  <a:srgbClr val="1F6FEB"/>
                </a:solidFill>
                <a:latin typeface="Arial"/>
              </a:rPr>
              <a:t>WA | 1 HOUR</a:t>
            </a:r>
          </a:p>
        </p:txBody>
      </p:sp>
      <p:sp>
        <p:nvSpPr>
          <p:cNvPr id="8" name="TextBox 7"/>
          <p:cNvSpPr txBox="1"/>
          <p:nvPr/>
        </p:nvSpPr>
        <p:spPr>
          <a:xfrm>
            <a:off x="91440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Open-ended knowledge questions K1-K5.</a:t>
            </a:r>
          </a:p>
        </p:txBody>
      </p:sp>
      <p:sp>
        <p:nvSpPr>
          <p:cNvPr id="9" name="Rounded Rectangle 8"/>
          <p:cNvSpPr/>
          <p:nvPr/>
        </p:nvSpPr>
        <p:spPr>
          <a:xfrm>
            <a:off x="436168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1688" y="1600200"/>
            <a:ext cx="3429000" cy="146304"/>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47672"/>
            <a:ext cx="2926080" cy="502920"/>
          </a:xfrm>
          <a:prstGeom prst="rect">
            <a:avLst/>
          </a:prstGeom>
          <a:noFill/>
        </p:spPr>
        <p:txBody>
          <a:bodyPr wrap="square" lIns="54864" rIns="54864" tIns="54864" bIns="54864" anchor="t">
            <a:spAutoFit/>
          </a:bodyPr>
          <a:lstStyle/>
          <a:p>
            <a:pPr algn="l"/>
            <a:r>
              <a:rPr sz="1300" b="1" i="0">
                <a:solidFill>
                  <a:srgbClr val="6F42C1"/>
                </a:solidFill>
                <a:latin typeface="Arial"/>
              </a:rPr>
              <a:t>CASE STUDY | 1 HOUR</a:t>
            </a:r>
          </a:p>
        </p:txBody>
      </p:sp>
      <p:sp>
        <p:nvSpPr>
          <p:cNvPr id="12" name="TextBox 11"/>
          <p:cNvSpPr txBox="1"/>
          <p:nvPr/>
        </p:nvSpPr>
        <p:spPr>
          <a:xfrm>
            <a:off x="461772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Integrated application questions A1-A3.</a:t>
            </a:r>
          </a:p>
        </p:txBody>
      </p:sp>
      <p:sp>
        <p:nvSpPr>
          <p:cNvPr id="13" name="Rounded Rectangle 12"/>
          <p:cNvSpPr/>
          <p:nvPr/>
        </p:nvSpPr>
        <p:spPr>
          <a:xfrm>
            <a:off x="8065008" y="1600200"/>
            <a:ext cx="3429000" cy="425196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8" y="1600200"/>
            <a:ext cx="3429000" cy="146304"/>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47672"/>
            <a:ext cx="2926080" cy="502920"/>
          </a:xfrm>
          <a:prstGeom prst="rect">
            <a:avLst/>
          </a:prstGeom>
          <a:noFill/>
        </p:spPr>
        <p:txBody>
          <a:bodyPr wrap="square" lIns="54864" rIns="54864" tIns="54864" bIns="54864" anchor="t">
            <a:spAutoFit/>
          </a:bodyPr>
          <a:lstStyle/>
          <a:p>
            <a:pPr algn="l"/>
            <a:r>
              <a:rPr sz="1300" b="1" i="0">
                <a:solidFill>
                  <a:srgbClr val="008C95"/>
                </a:solidFill>
                <a:latin typeface="Arial"/>
              </a:rPr>
              <a:t>SUBMIT</a:t>
            </a:r>
          </a:p>
        </p:txBody>
      </p:sp>
      <p:sp>
        <p:nvSpPr>
          <p:cNvPr id="16" name="TextBox 15"/>
          <p:cNvSpPr txBox="1"/>
          <p:nvPr/>
        </p:nvSpPr>
        <p:spPr>
          <a:xfrm>
            <a:off x="8321040" y="2651760"/>
            <a:ext cx="2926080" cy="2697480"/>
          </a:xfrm>
          <a:prstGeom prst="rect">
            <a:avLst/>
          </a:prstGeom>
          <a:noFill/>
        </p:spPr>
        <p:txBody>
          <a:bodyPr wrap="square" lIns="54864" rIns="54864" tIns="54864" bIns="54864" anchor="ctr">
            <a:spAutoFit/>
          </a:bodyPr>
          <a:lstStyle/>
          <a:p>
            <a:pPr algn="l"/>
            <a:r>
              <a:rPr sz="1600" b="0" i="0">
                <a:solidFill>
                  <a:srgbClr val="131B2A"/>
                </a:solidFill>
                <a:latin typeface="Arial"/>
              </a:rPr>
              <a:t>Assessment attendance, LMS upload, and summary-record signature.</a:t>
            </a:r>
          </a:p>
        </p:txBody>
      </p:sp>
      <p:sp>
        <p:nvSpPr>
          <p:cNvPr id="17" name="TextBox 16"/>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18" name="TextBox 17"/>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139</a:t>
            </a:r>
          </a:p>
        </p:txBody>
      </p:sp>
    </p:spTree>
  </p:cSld>
  <p:clrMapOvr>
    <a:masterClrMapping/>
  </p:clrMapOvr>
  <p:transition spd="slow">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B42318"/>
                </a:solidFill>
                <a:latin typeface="Arial"/>
              </a:rPr>
              <a:t>FINAL ASSESSMENT PROCESS</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Assessment Flow</a:t>
            </a:r>
          </a:p>
        </p:txBody>
      </p:sp>
      <p:sp>
        <p:nvSpPr>
          <p:cNvPr id="5" name="Rounded Rectangle 4"/>
          <p:cNvSpPr/>
          <p:nvPr/>
        </p:nvSpPr>
        <p:spPr>
          <a:xfrm>
            <a:off x="621792"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1</a:t>
            </a:r>
          </a:p>
        </p:txBody>
      </p:sp>
      <p:sp>
        <p:nvSpPr>
          <p:cNvPr id="8" name="TextBox 7"/>
          <p:cNvSpPr txBox="1"/>
          <p:nvPr/>
        </p:nvSpPr>
        <p:spPr>
          <a:xfrm>
            <a:off x="877824"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TRAQOM</a:t>
            </a:r>
          </a:p>
        </p:txBody>
      </p:sp>
      <p:cxnSp>
        <p:nvCxnSpPr>
          <p:cNvPr id="9" name="Connector 8"/>
          <p:cNvCxnSpPr/>
          <p:nvPr/>
        </p:nvCxnSpPr>
        <p:spPr>
          <a:xfrm>
            <a:off x="2626156" y="3268980"/>
            <a:ext cx="237744" cy="0"/>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63900"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028492" y="2441448"/>
            <a:ext cx="411480" cy="411480"/>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8492"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2</a:t>
            </a:r>
          </a:p>
        </p:txBody>
      </p:sp>
      <p:sp>
        <p:nvSpPr>
          <p:cNvPr id="13" name="TextBox 12"/>
          <p:cNvSpPr txBox="1"/>
          <p:nvPr/>
        </p:nvSpPr>
        <p:spPr>
          <a:xfrm>
            <a:off x="3119932"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Assessment attendance</a:t>
            </a:r>
          </a:p>
        </p:txBody>
      </p:sp>
      <p:cxnSp>
        <p:nvCxnSpPr>
          <p:cNvPr id="14" name="Connector 13"/>
          <p:cNvCxnSpPr/>
          <p:nvPr/>
        </p:nvCxnSpPr>
        <p:spPr>
          <a:xfrm>
            <a:off x="4868264" y="3268980"/>
            <a:ext cx="237744" cy="0"/>
          </a:xfrm>
          <a:prstGeom prst="line">
            <a:avLst/>
          </a:prstGeom>
          <a:ln w="25400">
            <a:solidFill>
              <a:srgbClr val="008C9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06008"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70600" y="2441448"/>
            <a:ext cx="411480" cy="411480"/>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0600"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3</a:t>
            </a:r>
          </a:p>
        </p:txBody>
      </p:sp>
      <p:sp>
        <p:nvSpPr>
          <p:cNvPr id="18" name="TextBox 17"/>
          <p:cNvSpPr txBox="1"/>
          <p:nvPr/>
        </p:nvSpPr>
        <p:spPr>
          <a:xfrm>
            <a:off x="5362040"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WA then CS</a:t>
            </a:r>
          </a:p>
        </p:txBody>
      </p:sp>
      <p:cxnSp>
        <p:nvCxnSpPr>
          <p:cNvPr id="19" name="Connector 18"/>
          <p:cNvCxnSpPr/>
          <p:nvPr/>
        </p:nvCxnSpPr>
        <p:spPr>
          <a:xfrm>
            <a:off x="7110372" y="3268980"/>
            <a:ext cx="237744" cy="0"/>
          </a:xfrm>
          <a:prstGeom prst="line">
            <a:avLst/>
          </a:prstGeom>
          <a:ln w="25400">
            <a:solidFill>
              <a:srgbClr val="6F42C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48116"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12708" y="2441448"/>
            <a:ext cx="411480" cy="411480"/>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12708"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4</a:t>
            </a:r>
          </a:p>
        </p:txBody>
      </p:sp>
      <p:sp>
        <p:nvSpPr>
          <p:cNvPr id="23" name="TextBox 22"/>
          <p:cNvSpPr txBox="1"/>
          <p:nvPr/>
        </p:nvSpPr>
        <p:spPr>
          <a:xfrm>
            <a:off x="7604148"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Submit on LMS</a:t>
            </a:r>
          </a:p>
        </p:txBody>
      </p:sp>
      <p:cxnSp>
        <p:nvCxnSpPr>
          <p:cNvPr id="24" name="Connector 23"/>
          <p:cNvCxnSpPr/>
          <p:nvPr/>
        </p:nvCxnSpPr>
        <p:spPr>
          <a:xfrm>
            <a:off x="9352480" y="3268980"/>
            <a:ext cx="237744" cy="0"/>
          </a:xfrm>
          <a:prstGeom prst="line">
            <a:avLst/>
          </a:prstGeom>
          <a:ln w="25400">
            <a:solidFill>
              <a:srgbClr val="E68300"/>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90224" y="2240280"/>
            <a:ext cx="2004364" cy="2057400"/>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54816" y="2441448"/>
            <a:ext cx="411480" cy="411480"/>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4816" y="2459736"/>
            <a:ext cx="411480" cy="310896"/>
          </a:xfrm>
          <a:prstGeom prst="rect">
            <a:avLst/>
          </a:prstGeom>
          <a:noFill/>
        </p:spPr>
        <p:txBody>
          <a:bodyPr wrap="square" lIns="54864" rIns="54864" tIns="54864" bIns="54864" anchor="ctr">
            <a:spAutoFit/>
          </a:bodyPr>
          <a:lstStyle/>
          <a:p>
            <a:pPr algn="ctr"/>
            <a:r>
              <a:rPr sz="1100" b="1" i="0">
                <a:solidFill>
                  <a:srgbClr val="FFFFFF"/>
                </a:solidFill>
                <a:latin typeface="Arial"/>
              </a:rPr>
              <a:t>5</a:t>
            </a:r>
          </a:p>
        </p:txBody>
      </p:sp>
      <p:sp>
        <p:nvSpPr>
          <p:cNvPr id="28" name="TextBox 27"/>
          <p:cNvSpPr txBox="1"/>
          <p:nvPr/>
        </p:nvSpPr>
        <p:spPr>
          <a:xfrm>
            <a:off x="9846256" y="3044952"/>
            <a:ext cx="1492300" cy="914400"/>
          </a:xfrm>
          <a:prstGeom prst="rect">
            <a:avLst/>
          </a:prstGeom>
          <a:noFill/>
        </p:spPr>
        <p:txBody>
          <a:bodyPr wrap="square" lIns="54864" rIns="54864" tIns="54864" bIns="54864" anchor="ctr">
            <a:spAutoFit/>
          </a:bodyPr>
          <a:lstStyle/>
          <a:p>
            <a:pPr algn="ctr"/>
            <a:r>
              <a:rPr sz="1400" b="1" i="0">
                <a:solidFill>
                  <a:srgbClr val="131B2A"/>
                </a:solidFill>
                <a:latin typeface="Arial"/>
              </a:rPr>
              <a:t>Sign summary record</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140</a:t>
            </a:r>
          </a:p>
        </p:txBody>
      </p:sp>
    </p:spTree>
  </p:cSld>
  <p:clrMapOvr>
    <a:masterClrMapping/>
  </p:clrMapOvr>
  <p:transition spd="slow">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10896"/>
            <a:ext cx="10881360" cy="292608"/>
          </a:xfrm>
          <a:prstGeom prst="rect">
            <a:avLst/>
          </a:prstGeom>
          <a:noFill/>
        </p:spPr>
        <p:txBody>
          <a:bodyPr wrap="square" lIns="54864" rIns="54864" tIns="54864" bIns="54864" anchor="t">
            <a:spAutoFit/>
          </a:bodyPr>
          <a:lstStyle/>
          <a:p>
            <a:pPr algn="l"/>
            <a:r>
              <a:rPr sz="900" b="1" i="0">
                <a:solidFill>
                  <a:srgbClr val="008C95"/>
                </a:solidFill>
                <a:latin typeface="Arial"/>
              </a:rPr>
              <a:t>TRAQOM · SSG</a:t>
            </a:r>
          </a:p>
        </p:txBody>
      </p:sp>
      <p:sp>
        <p:nvSpPr>
          <p:cNvPr id="4" name="TextBox 3"/>
          <p:cNvSpPr txBox="1"/>
          <p:nvPr/>
        </p:nvSpPr>
        <p:spPr>
          <a:xfrm>
            <a:off x="594360" y="640080"/>
            <a:ext cx="10972800" cy="822960"/>
          </a:xfrm>
          <a:prstGeom prst="rect">
            <a:avLst/>
          </a:prstGeom>
          <a:noFill/>
        </p:spPr>
        <p:txBody>
          <a:bodyPr wrap="square" lIns="54864" rIns="54864" tIns="54864" bIns="54864" anchor="t">
            <a:spAutoFit/>
          </a:bodyPr>
          <a:lstStyle/>
          <a:p>
            <a:pPr algn="l"/>
            <a:r>
              <a:rPr sz="2800" b="1" i="0">
                <a:solidFill>
                  <a:srgbClr val="131B2A"/>
                </a:solidFill>
                <a:latin typeface="Arial"/>
              </a:rPr>
              <a:t>Digital Attendance | Mandatory</a:t>
            </a:r>
          </a:p>
        </p:txBody>
      </p:sp>
      <p:sp>
        <p:nvSpPr>
          <p:cNvPr id="5" name="Rounded Rectangle 4"/>
          <p:cNvSpPr/>
          <p:nvPr/>
        </p:nvSpPr>
        <p:spPr>
          <a:xfrm>
            <a:off x="658368"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91440" cy="190195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1828800"/>
            <a:ext cx="438912" cy="438912"/>
          </a:xfrm>
          <a:prstGeom prst="ellipse">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1</a:t>
            </a:r>
          </a:p>
        </p:txBody>
      </p:sp>
      <p:sp>
        <p:nvSpPr>
          <p:cNvPr id="9" name="TextBox 8"/>
          <p:cNvSpPr txBox="1"/>
          <p:nvPr/>
        </p:nvSpPr>
        <p:spPr>
          <a:xfrm>
            <a:off x="1527048"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AM</a:t>
            </a:r>
          </a:p>
        </p:txBody>
      </p:sp>
      <p:sp>
        <p:nvSpPr>
          <p:cNvPr id="10" name="TextBox 9"/>
          <p:cNvSpPr txBox="1"/>
          <p:nvPr/>
        </p:nvSpPr>
        <p:spPr>
          <a:xfrm>
            <a:off x="1527048"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Morning attendance recorded.</a:t>
            </a:r>
          </a:p>
        </p:txBody>
      </p:sp>
      <p:sp>
        <p:nvSpPr>
          <p:cNvPr id="11" name="Rounded Rectangle 10"/>
          <p:cNvSpPr/>
          <p:nvPr/>
        </p:nvSpPr>
        <p:spPr>
          <a:xfrm>
            <a:off x="6217920" y="1572768"/>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72768"/>
            <a:ext cx="91440" cy="1901952"/>
          </a:xfrm>
          <a:prstGeom prst="rect">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73952" y="1828800"/>
            <a:ext cx="438912" cy="438912"/>
          </a:xfrm>
          <a:prstGeom prst="ellipse">
            <a:avLst/>
          </a:prstGeom>
          <a:solidFill>
            <a:srgbClr val="008C95"/>
          </a:solidFill>
          <a:ln>
            <a:solidFill>
              <a:srgbClr val="008C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847088"/>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2</a:t>
            </a:r>
          </a:p>
        </p:txBody>
      </p:sp>
      <p:sp>
        <p:nvSpPr>
          <p:cNvPr id="15" name="TextBox 14"/>
          <p:cNvSpPr txBox="1"/>
          <p:nvPr/>
        </p:nvSpPr>
        <p:spPr>
          <a:xfrm>
            <a:off x="7086600" y="1801368"/>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PM</a:t>
            </a:r>
          </a:p>
        </p:txBody>
      </p:sp>
      <p:sp>
        <p:nvSpPr>
          <p:cNvPr id="16" name="TextBox 15"/>
          <p:cNvSpPr txBox="1"/>
          <p:nvPr/>
        </p:nvSpPr>
        <p:spPr>
          <a:xfrm>
            <a:off x="7086600" y="2395728"/>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Afternoon attendance recorded.</a:t>
            </a:r>
          </a:p>
        </p:txBody>
      </p:sp>
      <p:sp>
        <p:nvSpPr>
          <p:cNvPr id="17" name="Rounded Rectangle 16"/>
          <p:cNvSpPr/>
          <p:nvPr/>
        </p:nvSpPr>
        <p:spPr>
          <a:xfrm>
            <a:off x="658368"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03320"/>
            <a:ext cx="91440" cy="1901952"/>
          </a:xfrm>
          <a:prstGeom prst="rect">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4400" y="3959352"/>
            <a:ext cx="438912" cy="438912"/>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3</a:t>
            </a:r>
          </a:p>
        </p:txBody>
      </p:sp>
      <p:sp>
        <p:nvSpPr>
          <p:cNvPr id="21" name="TextBox 20"/>
          <p:cNvSpPr txBox="1"/>
          <p:nvPr/>
        </p:nvSpPr>
        <p:spPr>
          <a:xfrm>
            <a:off x="1527048"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ASSESSMENT</a:t>
            </a:r>
          </a:p>
        </p:txBody>
      </p:sp>
      <p:sp>
        <p:nvSpPr>
          <p:cNvPr id="22" name="TextBox 21"/>
          <p:cNvSpPr txBox="1"/>
          <p:nvPr/>
        </p:nvSpPr>
        <p:spPr>
          <a:xfrm>
            <a:off x="1527048"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Assessment attendance recorded separately.</a:t>
            </a:r>
          </a:p>
        </p:txBody>
      </p:sp>
      <p:sp>
        <p:nvSpPr>
          <p:cNvPr id="23" name="Rounded Rectangle 22"/>
          <p:cNvSpPr/>
          <p:nvPr/>
        </p:nvSpPr>
        <p:spPr>
          <a:xfrm>
            <a:off x="6217920" y="3703320"/>
            <a:ext cx="5303520" cy="1901952"/>
          </a:xfrm>
          <a:prstGeom prst="roundRect">
            <a:avLst/>
          </a:prstGeom>
          <a:solidFill>
            <a:srgbClr val="F4F7FB"/>
          </a:solidFill>
          <a:ln>
            <a:solidFill>
              <a:srgbClr val="D9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17920" y="3703320"/>
            <a:ext cx="91440" cy="1901952"/>
          </a:xfrm>
          <a:prstGeom prst="rect">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73952" y="3959352"/>
            <a:ext cx="438912" cy="438912"/>
          </a:xfrm>
          <a:prstGeom prst="ellipse">
            <a:avLst/>
          </a:prstGeom>
          <a:solidFill>
            <a:srgbClr val="E68300"/>
          </a:solidFill>
          <a:ln>
            <a:solidFill>
              <a:srgbClr val="E68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73952" y="3977640"/>
            <a:ext cx="438912" cy="329184"/>
          </a:xfrm>
          <a:prstGeom prst="rect">
            <a:avLst/>
          </a:prstGeom>
          <a:noFill/>
        </p:spPr>
        <p:txBody>
          <a:bodyPr wrap="square" lIns="54864" rIns="54864" tIns="54864" bIns="54864" anchor="ctr">
            <a:spAutoFit/>
          </a:bodyPr>
          <a:lstStyle/>
          <a:p>
            <a:pPr algn="ctr"/>
            <a:r>
              <a:rPr sz="1200" b="1" i="0">
                <a:solidFill>
                  <a:srgbClr val="FFFFFF"/>
                </a:solidFill>
                <a:latin typeface="Arial"/>
              </a:rPr>
              <a:t>4</a:t>
            </a:r>
          </a:p>
        </p:txBody>
      </p:sp>
      <p:sp>
        <p:nvSpPr>
          <p:cNvPr id="27" name="TextBox 26"/>
          <p:cNvSpPr txBox="1"/>
          <p:nvPr/>
        </p:nvSpPr>
        <p:spPr>
          <a:xfrm>
            <a:off x="7086600" y="3931920"/>
            <a:ext cx="4069080" cy="502920"/>
          </a:xfrm>
          <a:prstGeom prst="rect">
            <a:avLst/>
          </a:prstGeom>
          <a:noFill/>
        </p:spPr>
        <p:txBody>
          <a:bodyPr wrap="square" lIns="54864" rIns="54864" tIns="54864" bIns="54864" anchor="t">
            <a:spAutoFit/>
          </a:bodyPr>
          <a:lstStyle/>
          <a:p>
            <a:pPr algn="l"/>
            <a:r>
              <a:rPr sz="1700" b="1" i="0">
                <a:solidFill>
                  <a:srgbClr val="131B2A"/>
                </a:solidFill>
                <a:latin typeface="Arial"/>
              </a:rPr>
              <a:t>COMPLETE</a:t>
            </a:r>
          </a:p>
        </p:txBody>
      </p:sp>
      <p:sp>
        <p:nvSpPr>
          <p:cNvPr id="28" name="TextBox 27"/>
          <p:cNvSpPr txBox="1"/>
          <p:nvPr/>
        </p:nvSpPr>
        <p:spPr>
          <a:xfrm>
            <a:off x="7086600" y="4526280"/>
            <a:ext cx="4069080" cy="822960"/>
          </a:xfrm>
          <a:prstGeom prst="rect">
            <a:avLst/>
          </a:prstGeom>
          <a:noFill/>
        </p:spPr>
        <p:txBody>
          <a:bodyPr wrap="square" lIns="54864" rIns="54864" tIns="54864" bIns="54864" anchor="t">
            <a:spAutoFit/>
          </a:bodyPr>
          <a:lstStyle/>
          <a:p>
            <a:pPr algn="l"/>
            <a:r>
              <a:rPr sz="1250" b="0" i="0">
                <a:solidFill>
                  <a:srgbClr val="5C6677"/>
                </a:solidFill>
                <a:latin typeface="Arial"/>
              </a:rPr>
              <a:t>Confirm submission with the trainer before leaving.</a:t>
            </a:r>
          </a:p>
        </p:txBody>
      </p:sp>
      <p:sp>
        <p:nvSpPr>
          <p:cNvPr id="29" name="TextBox 28"/>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5C6677"/>
                </a:solidFill>
                <a:latin typeface="Arial"/>
              </a:rPr>
              <a:t>Mastering the Art of Communication to Enhance Team Collaboration and Customer Satisfaction | TGS-2023037467 | © Tertiary Infotech Academy Pte Ltd</a:t>
            </a:r>
          </a:p>
        </p:txBody>
      </p:sp>
      <p:sp>
        <p:nvSpPr>
          <p:cNvPr id="30" name="TextBox 29"/>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5C6677"/>
                </a:solidFill>
                <a:latin typeface="Arial"/>
              </a:rPr>
              <a:t>141</a:t>
            </a:r>
          </a:p>
        </p:txBody>
      </p:sp>
    </p:spTree>
  </p:cSld>
  <p:clrMapOvr>
    <a:masterClrMapping/>
  </p:clrMapOvr>
  <p:transition spd="slow">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A47"/>
          </a:solidFill>
          <a:ln>
            <a:solidFill>
              <a:srgbClr val="0E2A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188720"/>
            <a:ext cx="10789920" cy="914400"/>
          </a:xfrm>
          <a:prstGeom prst="rect">
            <a:avLst/>
          </a:prstGeom>
          <a:noFill/>
        </p:spPr>
        <p:txBody>
          <a:bodyPr wrap="square" lIns="54864" rIns="54864" tIns="54864" bIns="54864" anchor="t">
            <a:spAutoFit/>
          </a:bodyPr>
          <a:lstStyle/>
          <a:p>
            <a:pPr algn="ctr"/>
            <a:r>
              <a:rPr sz="4800" b="1" i="0">
                <a:solidFill>
                  <a:srgbClr val="FFFFFF"/>
                </a:solidFill>
                <a:latin typeface="Arial"/>
              </a:rPr>
              <a:t>Thank You</a:t>
            </a:r>
          </a:p>
        </p:txBody>
      </p:sp>
      <p:sp>
        <p:nvSpPr>
          <p:cNvPr id="4" name="TextBox 3"/>
          <p:cNvSpPr txBox="1"/>
          <p:nvPr/>
        </p:nvSpPr>
        <p:spPr>
          <a:xfrm>
            <a:off x="1097280" y="2423160"/>
            <a:ext cx="9966960" cy="1097280"/>
          </a:xfrm>
          <a:prstGeom prst="rect">
            <a:avLst/>
          </a:prstGeom>
          <a:noFill/>
        </p:spPr>
        <p:txBody>
          <a:bodyPr wrap="square" lIns="54864" rIns="54864" tIns="54864" bIns="54864" anchor="t">
            <a:spAutoFit/>
          </a:bodyPr>
          <a:lstStyle/>
          <a:p>
            <a:pPr algn="ctr"/>
            <a:r>
              <a:rPr sz="2500" b="1" i="0">
                <a:solidFill>
                  <a:srgbClr val="6DDAD7"/>
                </a:solidFill>
                <a:latin typeface="Arial"/>
              </a:rPr>
              <a:t>Speak with clarity. Listen for meaning. Close the loop.</a:t>
            </a:r>
          </a:p>
        </p:txBody>
      </p:sp>
      <p:sp>
        <p:nvSpPr>
          <p:cNvPr id="5" name="TextBox 4"/>
          <p:cNvSpPr txBox="1"/>
          <p:nvPr/>
        </p:nvSpPr>
        <p:spPr>
          <a:xfrm>
            <a:off x="1097280" y="4160520"/>
            <a:ext cx="9966960" cy="685800"/>
          </a:xfrm>
          <a:prstGeom prst="rect">
            <a:avLst/>
          </a:prstGeom>
          <a:noFill/>
        </p:spPr>
        <p:txBody>
          <a:bodyPr wrap="square" lIns="54864" rIns="54864" tIns="54864" bIns="54864" anchor="t">
            <a:spAutoFit/>
          </a:bodyPr>
          <a:lstStyle/>
          <a:p>
            <a:pPr algn="ctr"/>
            <a:r>
              <a:rPr sz="1400" b="0" i="0">
                <a:solidFill>
                  <a:srgbClr val="D7E0EA"/>
                </a:solidFill>
                <a:latin typeface="Arial"/>
              </a:rPr>
              <a:t>enquiry@tertiaryinfotech.com | +65 6100 0613 | www.tertiarycourses.com.sg</a:t>
            </a:r>
          </a:p>
        </p:txBody>
      </p:sp>
      <p:sp>
        <p:nvSpPr>
          <p:cNvPr id="6" name="TextBox 5"/>
          <p:cNvSpPr txBox="1"/>
          <p:nvPr/>
        </p:nvSpPr>
        <p:spPr>
          <a:xfrm>
            <a:off x="502920" y="6492240"/>
            <a:ext cx="9875520" cy="201168"/>
          </a:xfrm>
          <a:prstGeom prst="rect">
            <a:avLst/>
          </a:prstGeom>
          <a:noFill/>
        </p:spPr>
        <p:txBody>
          <a:bodyPr wrap="square" lIns="54864" rIns="54864" tIns="54864" bIns="54864" anchor="t">
            <a:spAutoFit/>
          </a:bodyPr>
          <a:lstStyle/>
          <a:p>
            <a:pPr algn="l"/>
            <a:r>
              <a:rPr sz="780" b="0" i="0">
                <a:solidFill>
                  <a:srgbClr val="D7E0EA"/>
                </a:solidFill>
                <a:latin typeface="Arial"/>
              </a:rPr>
              <a:t>Mastering the Art of Communication to Enhance Team Collaboration and Customer Satisfaction | TGS-2023037467 | © Tertiary Infotech Academy Pte Ltd</a:t>
            </a:r>
          </a:p>
        </p:txBody>
      </p:sp>
      <p:sp>
        <p:nvSpPr>
          <p:cNvPr id="7" name="TextBox 6"/>
          <p:cNvSpPr txBox="1"/>
          <p:nvPr/>
        </p:nvSpPr>
        <p:spPr>
          <a:xfrm>
            <a:off x="11018520" y="6473952"/>
            <a:ext cx="658368" cy="228600"/>
          </a:xfrm>
          <a:prstGeom prst="rect">
            <a:avLst/>
          </a:prstGeom>
          <a:noFill/>
        </p:spPr>
        <p:txBody>
          <a:bodyPr wrap="square" lIns="54864" rIns="54864" tIns="54864" bIns="54864" anchor="t">
            <a:spAutoFit/>
          </a:bodyPr>
          <a:lstStyle/>
          <a:p>
            <a:pPr algn="r"/>
            <a:r>
              <a:rPr sz="800" b="0" i="0">
                <a:solidFill>
                  <a:srgbClr val="D7E0EA"/>
                </a:solidFill>
                <a:latin typeface="Arial"/>
              </a:rPr>
              <a:t>142</a:t>
            </a:r>
          </a:p>
        </p:txBody>
      </p:sp>
    </p:spTree>
  </p:cSld>
  <p:clrMapOvr>
    <a:masterClrMapping/>
  </p:clrMapOvr>
  <p:transition spd="slow">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