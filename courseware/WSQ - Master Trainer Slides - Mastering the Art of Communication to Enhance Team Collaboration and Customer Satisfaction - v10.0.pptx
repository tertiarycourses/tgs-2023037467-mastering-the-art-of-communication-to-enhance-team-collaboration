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398" r:id="rId149"/>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37467-Mastering-the-Art-of-Communication-to-Enhance-Team-Collaborati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aDMtx5ivKK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eIho2S0ZahI"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37467-Mastering-the-Art-of-Communication-to-Enhance-Team-Collaboration" TargetMode="Externa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0.png"/>
          <p:cNvPicPr>
            <a:picLocks noChangeAspect="1"/>
          </p:cNvPicPr>
          <p:nvPr/>
        </p:nvPicPr>
        <p:blipFill>
          <a:blip r:embed="rId2"/>
          <a:srcRect t="25" b="25"/>
          <a:stretch>
            <a:fillRect/>
          </a:stretch>
        </p:blipFill>
        <p:spPr>
          <a:xfrm>
            <a:off x="0" y="0"/>
            <a:ext cx="12191695" cy="6858000"/>
          </a:xfrm>
          <a:prstGeom prst="rect">
            <a:avLst/>
          </a:prstGeom>
        </p:spPr>
      </p:pic>
      <p:sp>
        <p:nvSpPr>
          <p:cNvPr id="4" name="Rectangle 3"/>
          <p:cNvSpPr/>
          <p:nvPr/>
        </p:nvSpPr>
        <p:spPr>
          <a:xfrm>
            <a:off x="0" y="0"/>
            <a:ext cx="6995160"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28016"/>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30352"/>
            <a:ext cx="5715000" cy="292608"/>
          </a:xfrm>
          <a:prstGeom prst="rect">
            <a:avLst/>
          </a:prstGeom>
          <a:noFill/>
        </p:spPr>
        <p:txBody>
          <a:bodyPr wrap="square" lIns="54864" rIns="54864" tIns="54864" bIns="54864" anchor="t">
            <a:spAutoFit/>
          </a:bodyPr>
          <a:lstStyle/>
          <a:p>
            <a:pPr algn="l"/>
            <a:r>
              <a:rPr sz="1000" b="1" i="0">
                <a:solidFill>
                  <a:srgbClr val="008C95"/>
                </a:solidFill>
                <a:latin typeface="Arial"/>
              </a:rPr>
              <a:t>WSQ | WORKPLACE COMMUNICATIONS</a:t>
            </a:r>
          </a:p>
        </p:txBody>
      </p:sp>
      <p:sp>
        <p:nvSpPr>
          <p:cNvPr id="7" name="TextBox 6"/>
          <p:cNvSpPr txBox="1"/>
          <p:nvPr/>
        </p:nvSpPr>
        <p:spPr>
          <a:xfrm>
            <a:off x="658368" y="1051560"/>
            <a:ext cx="5806440" cy="2057400"/>
          </a:xfrm>
          <a:prstGeom prst="rect">
            <a:avLst/>
          </a:prstGeom>
          <a:noFill/>
        </p:spPr>
        <p:txBody>
          <a:bodyPr wrap="square" lIns="54864" rIns="54864" tIns="54864" bIns="54864" anchor="t">
            <a:spAutoFit/>
          </a:bodyPr>
          <a:lstStyle/>
          <a:p>
            <a:pPr algn="l"/>
            <a:r>
              <a:rPr sz="3100" b="1" i="0">
                <a:solidFill>
                  <a:srgbClr val="0E2A47"/>
                </a:solidFill>
                <a:latin typeface="Arial"/>
              </a:rPr>
              <a:t>Mastering the Art of Communication to Enhance Team Collaboration and Customer Satisfaction</a:t>
            </a:r>
          </a:p>
        </p:txBody>
      </p:sp>
      <p:sp>
        <p:nvSpPr>
          <p:cNvPr id="8" name="TextBox 7"/>
          <p:cNvSpPr txBox="1"/>
          <p:nvPr/>
        </p:nvSpPr>
        <p:spPr>
          <a:xfrm>
            <a:off x="694944" y="3319272"/>
            <a:ext cx="5257800" cy="640080"/>
          </a:xfrm>
          <a:prstGeom prst="rect">
            <a:avLst/>
          </a:prstGeom>
          <a:noFill/>
        </p:spPr>
        <p:txBody>
          <a:bodyPr wrap="square" lIns="54864" rIns="54864" tIns="54864" bIns="54864" anchor="t">
            <a:spAutoFit/>
          </a:bodyPr>
          <a:lstStyle/>
          <a:p>
            <a:pPr algn="l"/>
            <a:r>
              <a:rPr sz="1700" b="0" i="1">
                <a:solidFill>
                  <a:srgbClr val="5C6677"/>
                </a:solidFill>
                <a:latin typeface="Arial"/>
              </a:rPr>
              <a:t>Turn every conversation into coordinated action—and every handoff into customer trust.</a:t>
            </a:r>
          </a:p>
        </p:txBody>
      </p:sp>
      <p:sp>
        <p:nvSpPr>
          <p:cNvPr id="9" name="TextBox 8"/>
          <p:cNvSpPr txBox="1"/>
          <p:nvPr/>
        </p:nvSpPr>
        <p:spPr>
          <a:xfrm>
            <a:off x="694944" y="4261104"/>
            <a:ext cx="5303520" cy="731520"/>
          </a:xfrm>
          <a:prstGeom prst="rect">
            <a:avLst/>
          </a:prstGeom>
          <a:noFill/>
        </p:spPr>
        <p:txBody>
          <a:bodyPr wrap="square" lIns="54864" rIns="54864" tIns="54864" bIns="54864" anchor="t">
            <a:spAutoFit/>
          </a:bodyPr>
          <a:lstStyle/>
          <a:p>
            <a:pPr algn="l"/>
            <a:r>
              <a:rPr sz="1200" b="0" i="0">
                <a:solidFill>
                  <a:srgbClr val="131B2A"/>
                </a:solidFill>
                <a:latin typeface="Arial"/>
              </a:rPr>
              <a:t>Course Code: TGS-2023037467
Trainer: Dr. Alfred Ang
Version v10.0 | 16 August 2026</a:t>
            </a:r>
          </a:p>
        </p:txBody>
      </p:sp>
      <p:sp>
        <p:nvSpPr>
          <p:cNvPr id="10" name="TextBox 9"/>
          <p:cNvSpPr txBox="1"/>
          <p:nvPr/>
        </p:nvSpPr>
        <p:spPr>
          <a:xfrm>
            <a:off x="694944" y="5696712"/>
            <a:ext cx="5349240" cy="548640"/>
          </a:xfrm>
          <a:prstGeom prst="rect">
            <a:avLst/>
          </a:prstGeom>
          <a:noFill/>
        </p:spPr>
        <p:txBody>
          <a:bodyPr wrap="square" lIns="54864" rIns="54864" tIns="54864" bIns="54864" anchor="t">
            <a:spAutoFit/>
          </a:bodyPr>
          <a:lstStyle/>
          <a:p>
            <a:pPr algn="l"/>
            <a:r>
              <a:rPr sz="1000" b="1" i="0">
                <a:solidFill>
                  <a:srgbClr val="0E2A47"/>
                </a:solidFill>
                <a:latin typeface="Arial"/>
              </a:rPr>
              <a:t>Tertiary Infotech Academy Pte Ltd | UEN 201200696W</a:t>
            </a:r>
          </a:p>
        </p:txBody>
      </p:sp>
      <p:sp>
        <p:nvSpPr>
          <p:cNvPr id="11" name="TextBox 1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2" name="TextBox 1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a:t>
            </a:r>
          </a:p>
        </p:txBody>
      </p:sp>
    </p:spTree>
  </p:cSld>
  <p:clrMapOvr>
    <a:masterClrMapping/>
  </p:clrMapOvr>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00</a:t>
            </a:r>
          </a:p>
        </p:txBody>
      </p:sp>
      <p:sp>
        <p:nvSpPr>
          <p:cNvPr id="4" name="TextBox 3"/>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Course Administration</a:t>
            </a:r>
          </a:p>
        </p:txBody>
      </p:sp>
      <p:sp>
        <p:nvSpPr>
          <p:cNvPr id="5" name="TextBox 4"/>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Welcome | expectations | assessment | resources</a:t>
            </a:r>
          </a:p>
        </p:txBody>
      </p:sp>
      <p:sp>
        <p:nvSpPr>
          <p:cNvPr id="6" name="TextBox 5"/>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The conversation is the work—make it observable, repeatable, and trustworthy.</a:t>
            </a:r>
          </a:p>
        </p:txBody>
      </p:sp>
      <p:sp>
        <p:nvSpPr>
          <p:cNvPr id="7" name="TextBox 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8" name="TextBox 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2</a:t>
            </a:r>
          </a:p>
        </p:txBody>
      </p:sp>
    </p:spTree>
  </p:cSld>
  <p:clrMapOvr>
    <a:masterClrMapping/>
  </p:clrMapOvr>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MANDATORY DIGITAL ATTENDANCE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Digital Attendance | TRAQOM · SSG</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AM</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Scan and submit the morning attendance QR code.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PM</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Scan and submit the afternoon attendance QR code.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ASSESSMENT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Complete the separate assessment digital attendance.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75% MINIMUM</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Attendance and competent assessment outcome are funding requirements.</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a:t>
            </a:r>
          </a:p>
        </p:txBody>
      </p:sp>
    </p:spTree>
  </p:cSld>
  <p:clrMapOvr>
    <a:masterClrMapping/>
  </p:clrMapOvr>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5C6677"/>
                </a:solidFill>
                <a:latin typeface="Arial"/>
              </a:rPr>
              <a:t>YOUR FACILITATOR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About the Trainer</a:t>
            </a:r>
          </a:p>
        </p:txBody>
      </p:sp>
      <p:sp>
        <p:nvSpPr>
          <p:cNvPr id="5" name="Rounded Rectangle 4"/>
          <p:cNvSpPr/>
          <p:nvPr/>
        </p:nvSpPr>
        <p:spPr>
          <a:xfrm>
            <a:off x="685800" y="1572768"/>
            <a:ext cx="3337560" cy="43891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1965960"/>
            <a:ext cx="1554480" cy="1554480"/>
          </a:xfrm>
          <a:prstGeom prst="ellipse">
            <a:avLst/>
          </a:prstGeom>
          <a:solidFill>
            <a:srgbClr val="5C6677"/>
          </a:solidFill>
          <a:ln>
            <a:solidFill>
              <a:srgbClr val="5C6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258568"/>
            <a:ext cx="1554480" cy="731520"/>
          </a:xfrm>
          <a:prstGeom prst="rect">
            <a:avLst/>
          </a:prstGeom>
          <a:noFill/>
        </p:spPr>
        <p:txBody>
          <a:bodyPr wrap="square" lIns="54864" rIns="54864" tIns="54864" bIns="54864" anchor="ctr">
            <a:spAutoFit/>
          </a:bodyPr>
          <a:lstStyle/>
          <a:p>
            <a:pPr algn="ctr"/>
            <a:r>
              <a:rPr sz="3800" b="1" i="0">
                <a:solidFill>
                  <a:srgbClr val="FFFFFF"/>
                </a:solidFill>
                <a:latin typeface="Arial"/>
              </a:rPr>
              <a:t>?</a:t>
            </a:r>
          </a:p>
        </p:txBody>
      </p:sp>
      <p:sp>
        <p:nvSpPr>
          <p:cNvPr id="8" name="TextBox 7"/>
          <p:cNvSpPr txBox="1"/>
          <p:nvPr/>
        </p:nvSpPr>
        <p:spPr>
          <a:xfrm>
            <a:off x="960120" y="3822191"/>
            <a:ext cx="2788920" cy="502920"/>
          </a:xfrm>
          <a:prstGeom prst="rect">
            <a:avLst/>
          </a:prstGeom>
          <a:noFill/>
        </p:spPr>
        <p:txBody>
          <a:bodyPr wrap="square" lIns="54864" rIns="54864" tIns="54864" bIns="54864" anchor="t">
            <a:spAutoFit/>
          </a:bodyPr>
          <a:lstStyle/>
          <a:p>
            <a:pPr algn="ctr"/>
            <a:r>
              <a:rPr sz="2000" b="1" i="0">
                <a:solidFill>
                  <a:srgbClr val="131B2A"/>
                </a:solidFill>
                <a:latin typeface="Arial"/>
              </a:rPr>
              <a:t>General Trainer</a:t>
            </a:r>
          </a:p>
        </p:txBody>
      </p:sp>
      <p:sp>
        <p:nvSpPr>
          <p:cNvPr id="9" name="TextBox 8"/>
          <p:cNvSpPr txBox="1"/>
          <p:nvPr/>
        </p:nvSpPr>
        <p:spPr>
          <a:xfrm>
            <a:off x="960120" y="4480560"/>
            <a:ext cx="2788920" cy="822960"/>
          </a:xfrm>
          <a:prstGeom prst="rect">
            <a:avLst/>
          </a:prstGeom>
          <a:noFill/>
        </p:spPr>
        <p:txBody>
          <a:bodyPr wrap="square" lIns="54864" rIns="54864" tIns="54864" bIns="54864" anchor="t">
            <a:spAutoFit/>
          </a:bodyPr>
          <a:lstStyle/>
          <a:p>
            <a:pPr algn="ctr"/>
            <a:r>
              <a:rPr sz="1250" b="0" i="0">
                <a:solidFill>
                  <a:srgbClr val="5C6677"/>
                </a:solidFill>
                <a:latin typeface="Arial"/>
              </a:rPr>
              <a:t>Trainer profile template</a:t>
            </a:r>
          </a:p>
        </p:txBody>
      </p:sp>
      <p:sp>
        <p:nvSpPr>
          <p:cNvPr id="10" name="Rounded Rectangle 9"/>
          <p:cNvSpPr/>
          <p:nvPr/>
        </p:nvSpPr>
        <p:spPr>
          <a:xfrm>
            <a:off x="4389120" y="157276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72768"/>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664208"/>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NAME</a:t>
            </a:r>
          </a:p>
        </p:txBody>
      </p:sp>
      <p:sp>
        <p:nvSpPr>
          <p:cNvPr id="13" name="TextBox 12"/>
          <p:cNvSpPr txBox="1"/>
          <p:nvPr/>
        </p:nvSpPr>
        <p:spPr>
          <a:xfrm>
            <a:off x="6537960" y="164592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14" name="Rounded Rectangle 13"/>
          <p:cNvSpPr/>
          <p:nvPr/>
        </p:nvSpPr>
        <p:spPr>
          <a:xfrm>
            <a:off x="4389120" y="2295144"/>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295144"/>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386584"/>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TITLE / DESIGNATION</a:t>
            </a:r>
          </a:p>
        </p:txBody>
      </p:sp>
      <p:sp>
        <p:nvSpPr>
          <p:cNvPr id="17" name="TextBox 16"/>
          <p:cNvSpPr txBox="1"/>
          <p:nvPr/>
        </p:nvSpPr>
        <p:spPr>
          <a:xfrm>
            <a:off x="6537960" y="2368296"/>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18" name="Rounded Rectangle 17"/>
          <p:cNvSpPr/>
          <p:nvPr/>
        </p:nvSpPr>
        <p:spPr>
          <a:xfrm>
            <a:off x="4389120" y="3017520"/>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3017520"/>
            <a:ext cx="91440" cy="62179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3108960"/>
            <a:ext cx="1920240" cy="402336"/>
          </a:xfrm>
          <a:prstGeom prst="rect">
            <a:avLst/>
          </a:prstGeom>
          <a:noFill/>
        </p:spPr>
        <p:txBody>
          <a:bodyPr wrap="square" lIns="54864" rIns="54864" tIns="54864" bIns="54864" anchor="t">
            <a:spAutoFit/>
          </a:bodyPr>
          <a:lstStyle/>
          <a:p>
            <a:pPr algn="l"/>
            <a:r>
              <a:rPr sz="1000" b="1" i="0">
                <a:solidFill>
                  <a:srgbClr val="6F42C1"/>
                </a:solidFill>
                <a:latin typeface="Arial"/>
              </a:rPr>
              <a:t>QUALIFICATIONS</a:t>
            </a:r>
          </a:p>
        </p:txBody>
      </p:sp>
      <p:sp>
        <p:nvSpPr>
          <p:cNvPr id="21" name="TextBox 20"/>
          <p:cNvSpPr txBox="1"/>
          <p:nvPr/>
        </p:nvSpPr>
        <p:spPr>
          <a:xfrm>
            <a:off x="6537960" y="3090672"/>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22" name="Rounded Rectangle 21"/>
          <p:cNvSpPr/>
          <p:nvPr/>
        </p:nvSpPr>
        <p:spPr>
          <a:xfrm>
            <a:off x="4389120" y="3739896"/>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3739896"/>
            <a:ext cx="91440" cy="6217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2" y="3831336"/>
            <a:ext cx="1920240" cy="402336"/>
          </a:xfrm>
          <a:prstGeom prst="rect">
            <a:avLst/>
          </a:prstGeom>
          <a:noFill/>
        </p:spPr>
        <p:txBody>
          <a:bodyPr wrap="square" lIns="54864" rIns="54864" tIns="54864" bIns="54864" anchor="t">
            <a:spAutoFit/>
          </a:bodyPr>
          <a:lstStyle/>
          <a:p>
            <a:pPr algn="l"/>
            <a:r>
              <a:rPr sz="1000" b="1" i="0">
                <a:solidFill>
                  <a:srgbClr val="E68300"/>
                </a:solidFill>
                <a:latin typeface="Arial"/>
              </a:rPr>
              <a:t>AREAS OF EXPERTISE</a:t>
            </a:r>
          </a:p>
        </p:txBody>
      </p:sp>
      <p:sp>
        <p:nvSpPr>
          <p:cNvPr id="25" name="TextBox 24"/>
          <p:cNvSpPr txBox="1"/>
          <p:nvPr/>
        </p:nvSpPr>
        <p:spPr>
          <a:xfrm>
            <a:off x="6537960" y="3813048"/>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26" name="Rounded Rectangle 25"/>
          <p:cNvSpPr/>
          <p:nvPr/>
        </p:nvSpPr>
        <p:spPr>
          <a:xfrm>
            <a:off x="4389120" y="4462272"/>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4462272"/>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4553712"/>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TRAINING EXPERIENCE</a:t>
            </a:r>
          </a:p>
        </p:txBody>
      </p:sp>
      <p:sp>
        <p:nvSpPr>
          <p:cNvPr id="29" name="TextBox 28"/>
          <p:cNvSpPr txBox="1"/>
          <p:nvPr/>
        </p:nvSpPr>
        <p:spPr>
          <a:xfrm>
            <a:off x="6537960" y="4535424"/>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30" name="Rounded Rectangle 29"/>
          <p:cNvSpPr/>
          <p:nvPr/>
        </p:nvSpPr>
        <p:spPr>
          <a:xfrm>
            <a:off x="4389120" y="518464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9120" y="5184648"/>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5276088"/>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CONTACT</a:t>
            </a:r>
          </a:p>
        </p:txBody>
      </p:sp>
      <p:sp>
        <p:nvSpPr>
          <p:cNvPr id="33" name="TextBox 32"/>
          <p:cNvSpPr txBox="1"/>
          <p:nvPr/>
        </p:nvSpPr>
        <p:spPr>
          <a:xfrm>
            <a:off x="6537960" y="525780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34" name="TextBox 33"/>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5" name="TextBox 34"/>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a:t>
            </a:r>
          </a:p>
        </p:txBody>
      </p:sp>
    </p:spTree>
  </p:cSld>
  <p:clrMapOvr>
    <a:masterClrMapping/>
  </p:clrMapOvr>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YOUR FACILITATOR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About the Trainer</a:t>
            </a:r>
          </a:p>
        </p:txBody>
      </p:sp>
      <p:sp>
        <p:nvSpPr>
          <p:cNvPr id="5" name="Rounded Rectangle 4"/>
          <p:cNvSpPr/>
          <p:nvPr/>
        </p:nvSpPr>
        <p:spPr>
          <a:xfrm>
            <a:off x="685800" y="1572768"/>
            <a:ext cx="3337560" cy="43891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1965960"/>
            <a:ext cx="1554480" cy="1554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258568"/>
            <a:ext cx="1554480" cy="731520"/>
          </a:xfrm>
          <a:prstGeom prst="rect">
            <a:avLst/>
          </a:prstGeom>
          <a:noFill/>
        </p:spPr>
        <p:txBody>
          <a:bodyPr wrap="square" lIns="54864" rIns="54864" tIns="54864" bIns="54864" anchor="ctr">
            <a:spAutoFit/>
          </a:bodyPr>
          <a:lstStyle/>
          <a:p>
            <a:pPr algn="ctr"/>
            <a:r>
              <a:rPr sz="3800" b="1" i="0">
                <a:solidFill>
                  <a:srgbClr val="FFFFFF"/>
                </a:solidFill>
                <a:latin typeface="Arial"/>
              </a:rPr>
              <a:t>AA</a:t>
            </a:r>
          </a:p>
        </p:txBody>
      </p:sp>
      <p:sp>
        <p:nvSpPr>
          <p:cNvPr id="8" name="TextBox 7"/>
          <p:cNvSpPr txBox="1"/>
          <p:nvPr/>
        </p:nvSpPr>
        <p:spPr>
          <a:xfrm>
            <a:off x="960120" y="3822191"/>
            <a:ext cx="2788920" cy="502920"/>
          </a:xfrm>
          <a:prstGeom prst="rect">
            <a:avLst/>
          </a:prstGeom>
          <a:noFill/>
        </p:spPr>
        <p:txBody>
          <a:bodyPr wrap="square" lIns="54864" rIns="54864" tIns="54864" bIns="54864" anchor="t">
            <a:spAutoFit/>
          </a:bodyPr>
          <a:lstStyle/>
          <a:p>
            <a:pPr algn="ctr"/>
            <a:r>
              <a:rPr sz="2000" b="1" i="0">
                <a:solidFill>
                  <a:srgbClr val="131B2A"/>
                </a:solidFill>
                <a:latin typeface="Arial"/>
              </a:rPr>
              <a:t>Dr. Alfred Ang</a:t>
            </a:r>
          </a:p>
        </p:txBody>
      </p:sp>
      <p:sp>
        <p:nvSpPr>
          <p:cNvPr id="9" name="TextBox 8"/>
          <p:cNvSpPr txBox="1"/>
          <p:nvPr/>
        </p:nvSpPr>
        <p:spPr>
          <a:xfrm>
            <a:off x="960120" y="4480560"/>
            <a:ext cx="2788920" cy="822960"/>
          </a:xfrm>
          <a:prstGeom prst="rect">
            <a:avLst/>
          </a:prstGeom>
          <a:noFill/>
        </p:spPr>
        <p:txBody>
          <a:bodyPr wrap="square" lIns="54864" rIns="54864" tIns="54864" bIns="54864" anchor="t">
            <a:spAutoFit/>
          </a:bodyPr>
          <a:lstStyle/>
          <a:p>
            <a:pPr algn="ctr"/>
            <a:r>
              <a:rPr sz="1250" b="0" i="0">
                <a:solidFill>
                  <a:srgbClr val="5C6677"/>
                </a:solidFill>
                <a:latin typeface="Arial"/>
              </a:rPr>
              <a:t>Principal Trainer | Tertiary Infotech Academy</a:t>
            </a:r>
          </a:p>
        </p:txBody>
      </p:sp>
      <p:sp>
        <p:nvSpPr>
          <p:cNvPr id="10" name="Rounded Rectangle 9"/>
          <p:cNvSpPr/>
          <p:nvPr/>
        </p:nvSpPr>
        <p:spPr>
          <a:xfrm>
            <a:off x="4389120" y="157276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72768"/>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664208"/>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ROLE</a:t>
            </a:r>
          </a:p>
        </p:txBody>
      </p:sp>
      <p:sp>
        <p:nvSpPr>
          <p:cNvPr id="13" name="TextBox 12"/>
          <p:cNvSpPr txBox="1"/>
          <p:nvPr/>
        </p:nvSpPr>
        <p:spPr>
          <a:xfrm>
            <a:off x="6537960" y="164592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Principal Trainer and learning architect</a:t>
            </a:r>
          </a:p>
        </p:txBody>
      </p:sp>
      <p:sp>
        <p:nvSpPr>
          <p:cNvPr id="14" name="Rounded Rectangle 13"/>
          <p:cNvSpPr/>
          <p:nvPr/>
        </p:nvSpPr>
        <p:spPr>
          <a:xfrm>
            <a:off x="4389120" y="2295144"/>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295144"/>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386584"/>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SPECIALISM</a:t>
            </a:r>
          </a:p>
        </p:txBody>
      </p:sp>
      <p:sp>
        <p:nvSpPr>
          <p:cNvPr id="17" name="TextBox 16"/>
          <p:cNvSpPr txBox="1"/>
          <p:nvPr/>
        </p:nvSpPr>
        <p:spPr>
          <a:xfrm>
            <a:off x="6537960" y="2368296"/>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Workplace communication, AI and digital transformation</a:t>
            </a:r>
          </a:p>
        </p:txBody>
      </p:sp>
      <p:sp>
        <p:nvSpPr>
          <p:cNvPr id="18" name="Rounded Rectangle 17"/>
          <p:cNvSpPr/>
          <p:nvPr/>
        </p:nvSpPr>
        <p:spPr>
          <a:xfrm>
            <a:off x="4389120" y="3017520"/>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3017520"/>
            <a:ext cx="91440" cy="62179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3108960"/>
            <a:ext cx="1920240" cy="402336"/>
          </a:xfrm>
          <a:prstGeom prst="rect">
            <a:avLst/>
          </a:prstGeom>
          <a:noFill/>
        </p:spPr>
        <p:txBody>
          <a:bodyPr wrap="square" lIns="54864" rIns="54864" tIns="54864" bIns="54864" anchor="t">
            <a:spAutoFit/>
          </a:bodyPr>
          <a:lstStyle/>
          <a:p>
            <a:pPr algn="l"/>
            <a:r>
              <a:rPr sz="1000" b="1" i="0">
                <a:solidFill>
                  <a:srgbClr val="6F42C1"/>
                </a:solidFill>
                <a:latin typeface="Arial"/>
              </a:rPr>
              <a:t>APPROACH</a:t>
            </a:r>
          </a:p>
        </p:txBody>
      </p:sp>
      <p:sp>
        <p:nvSpPr>
          <p:cNvPr id="21" name="TextBox 20"/>
          <p:cNvSpPr txBox="1"/>
          <p:nvPr/>
        </p:nvSpPr>
        <p:spPr>
          <a:xfrm>
            <a:off x="6537960" y="3090672"/>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Evidence-led, scenario-rich and outcomes focused</a:t>
            </a:r>
          </a:p>
        </p:txBody>
      </p:sp>
      <p:sp>
        <p:nvSpPr>
          <p:cNvPr id="22" name="Rounded Rectangle 21"/>
          <p:cNvSpPr/>
          <p:nvPr/>
        </p:nvSpPr>
        <p:spPr>
          <a:xfrm>
            <a:off x="4389120" y="3739896"/>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3739896"/>
            <a:ext cx="91440" cy="6217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2" y="3831336"/>
            <a:ext cx="1920240" cy="402336"/>
          </a:xfrm>
          <a:prstGeom prst="rect">
            <a:avLst/>
          </a:prstGeom>
          <a:noFill/>
        </p:spPr>
        <p:txBody>
          <a:bodyPr wrap="square" lIns="54864" rIns="54864" tIns="54864" bIns="54864" anchor="t">
            <a:spAutoFit/>
          </a:bodyPr>
          <a:lstStyle/>
          <a:p>
            <a:pPr algn="l"/>
            <a:r>
              <a:rPr sz="1000" b="1" i="0">
                <a:solidFill>
                  <a:srgbClr val="E68300"/>
                </a:solidFill>
                <a:latin typeface="Arial"/>
              </a:rPr>
              <a:t>FACILITATION</a:t>
            </a:r>
          </a:p>
        </p:txBody>
      </p:sp>
      <p:sp>
        <p:nvSpPr>
          <p:cNvPr id="25" name="TextBox 24"/>
          <p:cNvSpPr txBox="1"/>
          <p:nvPr/>
        </p:nvSpPr>
        <p:spPr>
          <a:xfrm>
            <a:off x="6537960" y="3813048"/>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Coaching, role play, feedback and applied practice</a:t>
            </a:r>
          </a:p>
        </p:txBody>
      </p:sp>
      <p:sp>
        <p:nvSpPr>
          <p:cNvPr id="26" name="Rounded Rectangle 25"/>
          <p:cNvSpPr/>
          <p:nvPr/>
        </p:nvSpPr>
        <p:spPr>
          <a:xfrm>
            <a:off x="4389120" y="4462272"/>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4462272"/>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4553712"/>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ORGANISATION</a:t>
            </a:r>
          </a:p>
        </p:txBody>
      </p:sp>
      <p:sp>
        <p:nvSpPr>
          <p:cNvPr id="29" name="TextBox 28"/>
          <p:cNvSpPr txBox="1"/>
          <p:nvPr/>
        </p:nvSpPr>
        <p:spPr>
          <a:xfrm>
            <a:off x="6537960" y="4535424"/>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Tertiary Infotech Academy Pte Ltd</a:t>
            </a:r>
          </a:p>
        </p:txBody>
      </p:sp>
      <p:sp>
        <p:nvSpPr>
          <p:cNvPr id="30" name="Rounded Rectangle 29"/>
          <p:cNvSpPr/>
          <p:nvPr/>
        </p:nvSpPr>
        <p:spPr>
          <a:xfrm>
            <a:off x="4389120" y="518464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9120" y="5184648"/>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5276088"/>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CONTACT</a:t>
            </a:r>
          </a:p>
        </p:txBody>
      </p:sp>
      <p:sp>
        <p:nvSpPr>
          <p:cNvPr id="33" name="TextBox 32"/>
          <p:cNvSpPr txBox="1"/>
          <p:nvPr/>
        </p:nvSpPr>
        <p:spPr>
          <a:xfrm>
            <a:off x="6537960" y="525780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enquiry@tertiaryinfotech.com</a:t>
            </a:r>
          </a:p>
        </p:txBody>
      </p:sp>
      <p:sp>
        <p:nvSpPr>
          <p:cNvPr id="34" name="TextBox 33"/>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5" name="TextBox 34"/>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a:t>
            </a:r>
          </a:p>
        </p:txBody>
      </p:sp>
    </p:spTree>
  </p:cSld>
  <p:clrMapOvr>
    <a:masterClrMapping/>
  </p:clrMapOvr>
  <p:transition spd="slow">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LEARNER INTRODUCTION</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Let’s Know Each Other</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Name and role</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A communication moment you want to improve</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One customer or team outcome that matters</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What makes you feel heard at work</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a:t>
            </a:r>
          </a:p>
        </p:txBody>
      </p:sp>
    </p:spTree>
  </p:cSld>
  <p:clrMapOvr>
    <a:masterClrMapping/>
  </p:clrMapOvr>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HOW WE WILL WORK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Ground Rules</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 PRESENT</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Devices silent; give the speaker full attention.</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 CURIOUS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Ask before assuming; challenge ideas with respect.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 PRACTICAL</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Test language in realistic workplace scenarios.</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 SAFE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Keep shared cases confidential and give specific feedback.</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a:t>
            </a:r>
          </a:p>
        </p:txBody>
      </p:sp>
    </p:spTree>
  </p:cSld>
  <p:clrMapOvr>
    <a:masterClrMapping/>
  </p:clrMapOvr>
  <p:transition spd="slow">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COURSE OUTLINE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Two-Day Learning Journey</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Evaluate practices</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Benchmark evidence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Design the plan</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Diagnose barriers</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Coach and sustain</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a:t>
            </a:r>
          </a:p>
        </p:txBody>
      </p:sp>
    </p:spTree>
  </p:cSld>
  <p:clrMapOvr>
    <a:masterClrMapping/>
  </p:clrMapOvr>
  <p:transition spd="slow">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WHAT YOU WILL BE ABLE TO DO</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Learning Outcomes</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LO1</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Evaluate workplace communications practices for the organisation.</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LO2</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Develop a communications plan to implement communication strategies.</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LO3</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Identify solutions to address gaps and barriers in workplace communications.</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CUSTOMER LENS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internal collaboration to visible customer confidence.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a:t>
            </a:r>
          </a:p>
        </p:txBody>
      </p:sp>
    </p:spTree>
  </p:cSld>
  <p:clrMapOvr>
    <a:masterClrMapping/>
  </p:clrMapOvr>
  <p:transition spd="slow">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WSQ COMPETENCY MAP</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Skills Framework Alignment</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TSC</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Workplace Communications
RET-COM-4002-1.1</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KNOWLEDGE</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K1-K5: practices, tools, culture, evaluation, coaching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ABILITIES</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A1-A3: benchmark, analyse trends, develop plan</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a:t>
            </a:r>
          </a:p>
        </p:txBody>
      </p:sp>
    </p:spTree>
  </p:cSld>
  <p:clrMapOvr>
    <a:masterClrMapping/>
  </p:clrMapOvr>
  <p:transition spd="slow">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9:00 AM-6:00 PM</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Lesson Plan</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1 | evaluate + benchmark</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1 | activities 01-03</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2 | plan + barriers</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2 | activities 04-08</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2 | WA + CS, 4-6 PM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a:t>
            </a:r>
          </a:p>
        </p:txBody>
      </p:sp>
    </p:spTree>
  </p:cSld>
  <p:clrMapOvr>
    <a:masterClrMapping/>
  </p:clrMapOvr>
  <p:transition spd="slow">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ASSESSMENT READINESS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Briefing for Assessment</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Individual, summative, open book; no discussion</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Use only approved course materials; phones and other materials under the table</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Written Assessment: 1 hour; Case Study: 1 hour</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Submit on the LMS and sign the Assessment Summary Record</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a:t>
            </a:r>
          </a:p>
        </p:txBody>
      </p:sp>
    </p:spTree>
  </p:cSld>
  <p:clrMapOvr>
    <a:masterClrMapping/>
  </p:clrMapOvr>
  <p:transition spd="slow">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OPEN BOOK | INDIVIDUAL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and Funding</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WA | 1 HOUR</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Five open-ended questions covering K1-K5.</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CASE STUDY | 1 HOUR</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Three scenario questions covering A1-A3.</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COMPETENCE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All required criteria competent; reassessment and appeal rights apply.</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a:t>
            </a:r>
          </a:p>
        </p:txBody>
      </p:sp>
    </p:spTree>
  </p:cSld>
  <p:clrMapOvr>
    <a:masterClrMapping/>
  </p:clrMapOvr>
  <p:transition spd="slow">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ASSESSMENT PROCESS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Flow</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TRAQOM</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Assessment attendance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WA then CS</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Submit on LMS</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Sign summary record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a:t>
            </a:r>
          </a:p>
        </p:txBody>
      </p:sp>
    </p:spTree>
  </p:cSld>
  <p:clrMapOvr>
    <a:masterClrMapping/>
  </p:clrMapOvr>
  <p:transition spd="slow">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LEARNER RESOURCES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Access the Course Activities</a:t>
            </a:r>
          </a:p>
        </p:txBody>
      </p:sp>
      <p:sp>
        <p:nvSpPr>
          <p:cNvPr id="5" name="TextBox 4"/>
          <p:cNvSpPr txBox="1"/>
          <p:nvPr/>
        </p:nvSpPr>
        <p:spPr>
          <a:xfrm>
            <a:off x="713232" y="1508760"/>
            <a:ext cx="10652760" cy="457200"/>
          </a:xfrm>
          <a:prstGeom prst="rect">
            <a:avLst/>
          </a:prstGeom>
          <a:noFill/>
        </p:spPr>
        <p:txBody>
          <a:bodyPr wrap="square" lIns="54864" rIns="54864" tIns="54864" bIns="54864" anchor="t">
            <a:spAutoFit/>
          </a:bodyPr>
          <a:lstStyle/>
          <a:p>
            <a:pPr algn="l"/>
            <a:r>
              <a:rPr sz="1500" b="0" i="0">
                <a:solidFill>
                  <a:srgbClr val="131B2A"/>
                </a:solidFill>
                <a:latin typeface="Arial"/>
              </a:rPr>
              <a:t>Every activity has its own folder with a realistic scenario, role-play playbook, worksheet, and acceptance checklist in Markdown and PDF.</a:t>
            </a:r>
          </a:p>
        </p:txBody>
      </p:sp>
      <p:sp>
        <p:nvSpPr>
          <p:cNvPr id="6" name="Rounded Rectangle 5"/>
          <p:cNvSpPr/>
          <p:nvPr/>
        </p:nvSpPr>
        <p:spPr>
          <a:xfrm>
            <a:off x="749808" y="2331720"/>
            <a:ext cx="5120640" cy="21488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331720"/>
            <a:ext cx="5120640" cy="128016"/>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697480"/>
            <a:ext cx="4526280" cy="438912"/>
          </a:xfrm>
          <a:prstGeom prst="rect">
            <a:avLst/>
          </a:prstGeom>
          <a:noFill/>
        </p:spPr>
        <p:txBody>
          <a:bodyPr wrap="square" lIns="54864" rIns="54864" tIns="54864" bIns="54864" anchor="t">
            <a:spAutoFit/>
          </a:bodyPr>
          <a:lstStyle/>
          <a:p>
            <a:pPr algn="l"/>
            <a:r>
              <a:rPr sz="1400" b="1" i="0">
                <a:solidFill>
                  <a:srgbClr val="008C95"/>
                </a:solidFill>
                <a:latin typeface="Arial"/>
              </a:rPr>
              <a:t>OPTION A | CLONE</a:t>
            </a:r>
          </a:p>
        </p:txBody>
      </p:sp>
      <p:sp>
        <p:nvSpPr>
          <p:cNvPr id="9" name="TextBox 8"/>
          <p:cNvSpPr txBox="1"/>
          <p:nvPr/>
        </p:nvSpPr>
        <p:spPr>
          <a:xfrm>
            <a:off x="1042416" y="3429000"/>
            <a:ext cx="4526280" cy="685800"/>
          </a:xfrm>
          <a:prstGeom prst="rect">
            <a:avLst/>
          </a:prstGeom>
          <a:noFill/>
        </p:spPr>
        <p:txBody>
          <a:bodyPr wrap="square" lIns="54864" rIns="54864" tIns="54864" bIns="54864" anchor="t">
            <a:spAutoFit/>
          </a:bodyPr>
          <a:lstStyle/>
          <a:p>
            <a:pPr algn="l"/>
            <a:r>
              <a:rPr sz="1300" b="0" i="0">
                <a:solidFill>
                  <a:srgbClr val="131B2A"/>
                </a:solidFill>
                <a:latin typeface="Consolas"/>
              </a:rPr>
              <a:t>git clone https://github.com/tertiarycourses/TGS-2023037467-Mastering-the-Art-of-Communication-to-Enhance-Team-Collaboration.git</a:t>
            </a:r>
          </a:p>
        </p:txBody>
      </p:sp>
      <p:sp>
        <p:nvSpPr>
          <p:cNvPr id="10" name="Rounded Rectangle 9"/>
          <p:cNvSpPr/>
          <p:nvPr/>
        </p:nvSpPr>
        <p:spPr>
          <a:xfrm>
            <a:off x="6281928" y="2331720"/>
            <a:ext cx="5120640" cy="21488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5120640" cy="128016"/>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2697480"/>
            <a:ext cx="4526280" cy="438912"/>
          </a:xfrm>
          <a:prstGeom prst="rect">
            <a:avLst/>
          </a:prstGeom>
          <a:noFill/>
        </p:spPr>
        <p:txBody>
          <a:bodyPr wrap="square" lIns="54864" rIns="54864" tIns="54864" bIns="54864" anchor="t">
            <a:spAutoFit/>
          </a:bodyPr>
          <a:lstStyle/>
          <a:p>
            <a:pPr algn="l"/>
            <a:r>
              <a:rPr sz="1400" b="1" i="0">
                <a:solidFill>
                  <a:srgbClr val="6F42C1"/>
                </a:solidFill>
                <a:latin typeface="Arial"/>
              </a:rPr>
              <a:t>OPTION B | DOWNLOAD</a:t>
            </a:r>
          </a:p>
        </p:txBody>
      </p:sp>
      <p:sp>
        <p:nvSpPr>
          <p:cNvPr id="13" name="TextBox 12"/>
          <p:cNvSpPr txBox="1"/>
          <p:nvPr/>
        </p:nvSpPr>
        <p:spPr>
          <a:xfrm>
            <a:off x="6574536" y="3429000"/>
            <a:ext cx="4526280" cy="685800"/>
          </a:xfrm>
          <a:prstGeom prst="rect">
            <a:avLst/>
          </a:prstGeom>
          <a:noFill/>
        </p:spPr>
        <p:txBody>
          <a:bodyPr wrap="square" lIns="54864" rIns="54864" tIns="54864" bIns="54864" anchor="t">
            <a:spAutoFit/>
          </a:bodyPr>
          <a:lstStyle/>
          <a:p>
            <a:pPr algn="l"/>
            <a:r>
              <a:rPr sz="1300" b="0" i="0">
                <a:solidFill>
                  <a:srgbClr val="131B2A"/>
                </a:solidFill>
                <a:latin typeface="Arial"/>
              </a:rPr>
              <a:t>Open GitHub &gt; Code &gt; Download ZIP</a:t>
            </a:r>
          </a:p>
        </p:txBody>
      </p:sp>
      <p:sp>
        <p:nvSpPr>
          <p:cNvPr id="14" name="TextBox 13">
            <a:hlinkClick r:id="rId2"/>
          </p:cNvPr>
          <p:cNvSpPr txBox="1"/>
          <p:nvPr/>
        </p:nvSpPr>
        <p:spPr>
          <a:xfrm>
            <a:off x="749808" y="4983480"/>
            <a:ext cx="10515600" cy="594360"/>
          </a:xfrm>
          <a:prstGeom prst="rect">
            <a:avLst/>
          </a:prstGeom>
          <a:noFill/>
        </p:spPr>
        <p:txBody>
          <a:bodyPr wrap="square" lIns="54864" rIns="54864" tIns="54864" bIns="54864" anchor="t">
            <a:spAutoFit/>
          </a:bodyPr>
          <a:lstStyle/>
          <a:p>
            <a:pPr algn="ctr"/>
            <a:r>
              <a:rPr sz="1200" b="1" i="0">
                <a:solidFill>
                  <a:srgbClr val="1F6FEB"/>
                </a:solidFill>
                <a:latin typeface="Arial"/>
              </a:rPr>
              <a:t>https://github.com/tertiarycourses/TGS-2023037467-Mastering-the-Art-of-Communication-to-Enhance-Team-Collaboration</a:t>
            </a:r>
          </a:p>
        </p:txBody>
      </p:sp>
      <p:sp>
        <p:nvSpPr>
          <p:cNvPr id="15" name="TextBox 14"/>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6" name="TextBox 15"/>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16</a:t>
            </a:r>
          </a:p>
        </p:txBody>
      </p:sp>
    </p:spTree>
  </p:cSld>
  <p:clrMapOvr>
    <a:masterClrMapping/>
  </p:clrMapOvr>
  <p:transition spd="slow">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mmunication-audit-v10.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01</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Evaluate Workplace Communications Practices</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Best practices | tools and channels | culture | evidence | benchmarks | K1, K2, K3, K4, A1</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The conversation is the work—make it observable, repeatable, and trustworthy.</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17</a:t>
            </a:r>
          </a:p>
        </p:txBody>
      </p:sp>
    </p:spTree>
  </p:cSld>
  <p:clrMapOvr>
    <a:masterClrMapping/>
  </p:clrMapOvr>
  <p:transition spd="slow">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Communication Is a Meaning System</a:t>
            </a:r>
          </a:p>
        </p:txBody>
      </p:sp>
      <p:pic>
        <p:nvPicPr>
          <p:cNvPr id="5" name="Picture 4" descr="communication-audit-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message is not complete when it is sent; it is complete when shared meaning is confirmed.</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Intent begins the message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Encoding turns intent into words and signals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Noise changes what is received</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Feedback closes the meaning gap</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18</a:t>
            </a:r>
          </a:p>
        </p:txBody>
      </p:sp>
    </p:spTree>
  </p:cSld>
  <p:clrMapOvr>
    <a:masterClrMapping/>
  </p:clrMapOvr>
  <p:transition spd="slow">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Communication Is a Meaning System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Intent begins the message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Encoding turns intent into words and signals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Noise changes what is received</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Feedback closes the meaning gap</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19</a:t>
            </a:r>
          </a:p>
        </p:txBody>
      </p:sp>
    </p:spTree>
  </p:cSld>
  <p:clrMapOvr>
    <a:masterClrMapping/>
  </p:clrMapOvr>
  <p:transition spd="slow">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Communication Is a Meaning System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handoff failure: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a closed loop: send, receive, reflect, confirm.</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20</a:t>
            </a:r>
          </a:p>
        </p:txBody>
      </p:sp>
    </p:spTree>
  </p:cSld>
  <p:clrMapOvr>
    <a:masterClrMapping/>
  </p:clrMapOvr>
  <p:transition spd="slow">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COMMUNICATION GURU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A message is not complete when it is sent; it is complete when shared meaning is confirmed.</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use a closed loop: send, receive, reflect, confirm.</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21</a:t>
            </a:r>
          </a:p>
        </p:txBody>
      </p:sp>
    </p:spTree>
  </p:cSld>
  <p:clrMapOvr>
    <a:masterClrMapping/>
  </p:clrMapOvr>
  <p:transition spd="slow">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The 7 Cs of Credible Messages</a:t>
            </a:r>
          </a:p>
        </p:txBody>
      </p:sp>
      <p:pic>
        <p:nvPicPr>
          <p:cNvPr id="5" name="Picture 4" descr="active-listening-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Clarity is kindness under pressure.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Clear: one main idea</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Concise: remove friction</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Concrete: show evidence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Correct: protect trust</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22</a:t>
            </a:r>
          </a:p>
        </p:txBody>
      </p:sp>
    </p:spTree>
  </p:cSld>
  <p:clrMapOvr>
    <a:masterClrMapping/>
  </p:clrMapOvr>
  <p:transition spd="slow">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The 7 Cs of Credible Messages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Clear: one main idea</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Concise: remove friction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Concrete: show evidence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Correct: protect trust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23</a:t>
            </a:r>
          </a:p>
        </p:txBody>
      </p:sp>
    </p:spTree>
  </p:cSld>
  <p:clrMapOvr>
    <a:masterClrMapping/>
  </p:clrMapOvr>
  <p:transition spd="slow">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The 7 Cs of Credible Messages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24</a:t>
            </a:r>
          </a:p>
        </p:txBody>
      </p:sp>
    </p:spTree>
  </p:cSld>
  <p:clrMapOvr>
    <a:masterClrMapping/>
  </p:clrMapOvr>
  <p:transition spd="slow">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“Clarity is kindness under pressure.”</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rewrite around audience, purpose, context, action, timing.</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25</a:t>
            </a:r>
          </a:p>
        </p:txBody>
      </p:sp>
    </p:spTree>
  </p:cSld>
  <p:clrMapOvr>
    <a:masterClrMapping/>
  </p:clrMapOvr>
  <p:transition spd="slow">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Active Listening: Listen-Paraphrase-Ask</a:t>
            </a:r>
          </a:p>
        </p:txBody>
      </p:sp>
      <p:pic>
        <p:nvPicPr>
          <p:cNvPr id="5" name="Picture 4" descr="channel-choice-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People cooperate after they feel understood—not merely after they have been instructed.</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Give full attention</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Hear facts and emotion</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Paraphrase meaning, not words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Ask an open clarifying question</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26</a:t>
            </a:r>
          </a:p>
        </p:txBody>
      </p:sp>
    </p:spTree>
  </p:cSld>
  <p:clrMapOvr>
    <a:masterClrMapping/>
  </p:clrMapOvr>
  <p:transition spd="slow">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Active Listening: Listen-Paraphrase-Ask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Give full attention</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Hear facts and emotion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Paraphrase meaning, not words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Ask an open clarifying question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27</a:t>
            </a:r>
          </a:p>
        </p:txBody>
      </p:sp>
    </p:spTree>
  </p:cSld>
  <p:clrMapOvr>
    <a:masterClrMapping/>
  </p:clrMapOvr>
  <p:transition spd="slow">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Active Listening: Listen-Paraphrase-Ask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unheard colleague: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Listen without rehearsing; reflect; clarify; then respond.</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28</a:t>
            </a:r>
          </a:p>
        </p:txBody>
      </p:sp>
    </p:spTree>
  </p:cSld>
  <p:clrMapOvr>
    <a:masterClrMapping/>
  </p:clrMapOvr>
  <p:transition spd="slow">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“People cooperate after they feel understood—not merely after they have been instructed.”</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listen without rehearsing; reflect; clarify; then respond.</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29</a:t>
            </a:r>
          </a:p>
        </p:txBody>
      </p:sp>
    </p:spTree>
  </p:cSld>
  <p:clrMapOvr>
    <a:masterClrMapping/>
  </p:clrMapOvr>
  <p:transition spd="slow">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WATCH | NOTICE | DEBRIEF</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The Art of Active Listening | Harvard Business Review Guide</a:t>
            </a:r>
          </a:p>
        </p:txBody>
      </p:sp>
      <p:sp>
        <p:nvSpPr>
          <p:cNvPr id="5" name="Rounded Rectangle 4"/>
          <p:cNvSpPr/>
          <p:nvPr/>
        </p:nvSpPr>
        <p:spPr>
          <a:xfrm>
            <a:off x="731520" y="1572768"/>
            <a:ext cx="10725912" cy="4251960"/>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34440" y="2286000"/>
            <a:ext cx="1691640" cy="1691640"/>
          </a:xfrm>
          <a:prstGeom prst="ellipse">
            <a:avLst/>
          </a:prstGeom>
          <a:solidFill>
            <a:srgbClr val="B42318"/>
          </a:solidFill>
          <a:ln>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Triangle 6"/>
          <p:cNvSpPr/>
          <p:nvPr/>
        </p:nvSpPr>
        <p:spPr>
          <a:xfrm>
            <a:off x="1847088" y="2743200"/>
            <a:ext cx="530352" cy="658368"/>
          </a:xfrm>
          <a:prstGeom prst="rtTriangl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46120" y="2075688"/>
            <a:ext cx="7269480" cy="502920"/>
          </a:xfrm>
          <a:prstGeom prst="rect">
            <a:avLst/>
          </a:prstGeom>
          <a:noFill/>
        </p:spPr>
        <p:txBody>
          <a:bodyPr wrap="square" lIns="54864" rIns="54864" tIns="54864" bIns="54864" anchor="t">
            <a:spAutoFit/>
          </a:bodyPr>
          <a:lstStyle/>
          <a:p>
            <a:pPr algn="l"/>
            <a:r>
              <a:rPr sz="1200" b="1" i="0">
                <a:solidFill>
                  <a:srgbClr val="6DDAD7"/>
                </a:solidFill>
                <a:latin typeface="Arial"/>
              </a:rPr>
              <a:t>CLICK TO PLAY ON YOUTUBE</a:t>
            </a:r>
          </a:p>
        </p:txBody>
      </p:sp>
      <p:sp>
        <p:nvSpPr>
          <p:cNvPr id="9" name="TextBox 8">
            <a:hlinkClick r:id="rId2"/>
          </p:cNvPr>
          <p:cNvSpPr txBox="1"/>
          <p:nvPr/>
        </p:nvSpPr>
        <p:spPr>
          <a:xfrm>
            <a:off x="3246120" y="2697480"/>
            <a:ext cx="7269480" cy="914400"/>
          </a:xfrm>
          <a:prstGeom prst="rect">
            <a:avLst/>
          </a:prstGeom>
          <a:noFill/>
        </p:spPr>
        <p:txBody>
          <a:bodyPr wrap="square" lIns="54864" rIns="54864" tIns="54864" bIns="54864" anchor="t">
            <a:spAutoFit/>
          </a:bodyPr>
          <a:lstStyle/>
          <a:p>
            <a:pPr algn="l"/>
            <a:r>
              <a:rPr sz="2300" b="1" i="0">
                <a:solidFill>
                  <a:srgbClr val="FFFFFF"/>
                </a:solidFill>
                <a:latin typeface="Arial"/>
              </a:rPr>
              <a:t>The Art of Active Listening | Harvard Business Review Guide</a:t>
            </a:r>
          </a:p>
        </p:txBody>
      </p:sp>
      <p:sp>
        <p:nvSpPr>
          <p:cNvPr id="10" name="TextBox 9"/>
          <p:cNvSpPr txBox="1"/>
          <p:nvPr/>
        </p:nvSpPr>
        <p:spPr>
          <a:xfrm>
            <a:off x="3246120" y="3840480"/>
            <a:ext cx="7040880" cy="685800"/>
          </a:xfrm>
          <a:prstGeom prst="rect">
            <a:avLst/>
          </a:prstGeom>
          <a:noFill/>
        </p:spPr>
        <p:txBody>
          <a:bodyPr wrap="square" lIns="54864" rIns="54864" tIns="54864" bIns="54864" anchor="t">
            <a:spAutoFit/>
          </a:bodyPr>
          <a:lstStyle/>
          <a:p>
            <a:pPr algn="l"/>
            <a:r>
              <a:rPr sz="1400" b="0" i="0">
                <a:solidFill>
                  <a:srgbClr val="D7E0EA"/>
                </a:solidFill>
                <a:latin typeface="Arial"/>
              </a:rPr>
              <a:t>Duration 6:37 | Listen beyond agreement: identify focus, missing context, and the speaker's need.</a:t>
            </a:r>
          </a:p>
        </p:txBody>
      </p:sp>
      <p:sp>
        <p:nvSpPr>
          <p:cNvPr id="11" name="TextBox 10"/>
          <p:cNvSpPr txBox="1"/>
          <p:nvPr/>
        </p:nvSpPr>
        <p:spPr>
          <a:xfrm>
            <a:off x="1234440" y="5166360"/>
            <a:ext cx="9646920" cy="310896"/>
          </a:xfrm>
          <a:prstGeom prst="rect">
            <a:avLst/>
          </a:prstGeom>
          <a:noFill/>
        </p:spPr>
        <p:txBody>
          <a:bodyPr wrap="square" lIns="54864" rIns="54864" tIns="54864" bIns="54864" anchor="t">
            <a:spAutoFit/>
          </a:bodyPr>
          <a:lstStyle/>
          <a:p>
            <a:pPr algn="l"/>
            <a:r>
              <a:rPr sz="900" b="1" i="0">
                <a:solidFill>
                  <a:srgbClr val="6DDAD7"/>
                </a:solidFill>
                <a:latin typeface="Arial"/>
              </a:rPr>
              <a:t>https://www.youtube.com/watch?v=aDMtx5ivKK0</a:t>
            </a:r>
          </a:p>
        </p:txBody>
      </p:sp>
      <p:sp>
        <p:nvSpPr>
          <p:cNvPr id="12" name="TextBox 11"/>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3" name="TextBox 12"/>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30</a:t>
            </a:r>
          </a:p>
        </p:txBody>
      </p:sp>
    </p:spTree>
  </p:cSld>
  <p:clrMapOvr>
    <a:masterClrMapping/>
  </p:clrMapOvr>
  <p:transition spd="slow">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Nonverbal Alignment</a:t>
            </a:r>
          </a:p>
        </p:txBody>
      </p:sp>
      <p:pic>
        <p:nvPicPr>
          <p:cNvPr id="5" name="Picture 4" descr="customer-recovery-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When words and signals disagree, trust follows the signal.</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Posture signals openness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Facial expression signals safety</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Tone carries intent</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Timing and silence create space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31</a:t>
            </a:r>
          </a:p>
        </p:txBody>
      </p:sp>
    </p:spTree>
  </p:cSld>
  <p:clrMapOvr>
    <a:masterClrMapping/>
  </p:clrMapOvr>
  <p:transition spd="slow">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Nonverbal Alignment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Posture signals openness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Facial expression signals safety</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Tone carries intent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Timing and silence create space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32</a:t>
            </a:r>
          </a:p>
        </p:txBody>
      </p:sp>
    </p:spTree>
  </p:cSld>
  <p:clrMapOvr>
    <a:masterClrMapping/>
  </p:clrMapOvr>
  <p:transition spd="slow">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Nonverbal Alignment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33</a:t>
            </a:r>
          </a:p>
        </p:txBody>
      </p:sp>
    </p:spTree>
  </p:cSld>
  <p:clrMapOvr>
    <a:masterClrMapping/>
  </p:clrMapOvr>
  <p:transition spd="slow">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“When words and signals disagree, trust follows the signal.”</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align voice, face, posture, pace, and context.</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34</a:t>
            </a:r>
          </a:p>
        </p:txBody>
      </p:sp>
    </p:spTree>
  </p:cSld>
  <p:clrMapOvr>
    <a:masterClrMapping/>
  </p:clrMapOvr>
  <p:transition spd="slow">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Choose the Channel by Communication Richness</a:t>
            </a:r>
          </a:p>
        </p:txBody>
      </p:sp>
      <p:pic>
        <p:nvPicPr>
          <p:cNvPr id="5" name="Picture 4" descr="communication-audit-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best channel is the one that protects meaning at the speed the situation requires.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Urgency: how fast must meaning move?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Ambiguity: how much nuance is needed?</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Reach: who must receive it?</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Record: what evidence must remain?</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35</a:t>
            </a:r>
          </a:p>
        </p:txBody>
      </p:sp>
    </p:spTree>
  </p:cSld>
  <p:clrMapOvr>
    <a:masterClrMapping/>
  </p:clrMapOvr>
  <p:transition spd="slow">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Choose the Channel by Communication Richness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Urgency: how fast must meaning move?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Ambiguity: how much nuance is needed?</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Reach: who must receive it?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Record: what evidence must remain?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36</a:t>
            </a:r>
          </a:p>
        </p:txBody>
      </p:sp>
    </p:spTree>
  </p:cSld>
  <p:clrMapOvr>
    <a:masterClrMapping/>
  </p:clrMapOvr>
  <p:transition spd="slow">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Choose the Channel by Communication Richness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wrong channel: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Match rich channels to ambiguity; persistent channels to record and scale.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37</a:t>
            </a:r>
          </a:p>
        </p:txBody>
      </p:sp>
    </p:spTree>
  </p:cSld>
  <p:clrMapOvr>
    <a:masterClrMapping/>
  </p:clrMapOvr>
  <p:transition spd="slow">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“The best channel is the one that protects meaning at the speed the situation requires.”</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match rich channels to ambiguity; persistent channels to record and scale.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38</a:t>
            </a:r>
          </a:p>
        </p:txBody>
      </p:sp>
    </p:spTree>
  </p:cSld>
  <p:clrMapOvr>
    <a:masterClrMapping/>
  </p:clrMapOvr>
  <p:transition spd="slow">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Digital Communication Without Context Loss</a:t>
            </a:r>
          </a:p>
        </p:txBody>
      </p:sp>
      <p:pic>
        <p:nvPicPr>
          <p:cNvPr id="5" name="Picture 4" descr="active-listening-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Digital speed is useful only when it does not outrun understanding.</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Lead with purpose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Make the ask visible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Separate facts from interpretations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Escalate from text when emotion or ambiguity rises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39</a:t>
            </a:r>
          </a:p>
        </p:txBody>
      </p:sp>
    </p:spTree>
  </p:cSld>
  <p:clrMapOvr>
    <a:masterClrMapping/>
  </p:clrMapOvr>
  <p:transition spd="slow">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Digital Communication Without Context Loss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Lead with purpose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Make the ask visible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Separate facts from interpretations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Escalate from text when emotion or ambiguity rises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40</a:t>
            </a:r>
          </a:p>
        </p:txBody>
      </p:sp>
    </p:spTree>
  </p:cSld>
  <p:clrMapOvr>
    <a:masterClrMapping/>
  </p:clrMapOvr>
  <p:transition spd="slow">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Digital Communication Without Context Loss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41</a:t>
            </a:r>
          </a:p>
        </p:txBody>
      </p:sp>
    </p:spTree>
  </p:cSld>
  <p:clrMapOvr>
    <a:masterClrMapping/>
  </p:clrMapOvr>
  <p:transition spd="slow">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COMMUNICATION GURU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Digital speed is useful only when it does not outrun understanding.</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use subject, context, action, owner, deadline; move to voice for nuance.</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42</a:t>
            </a:r>
          </a:p>
        </p:txBody>
      </p:sp>
    </p:spTree>
  </p:cSld>
  <p:clrMapOvr>
    <a:masterClrMapping/>
  </p:clrMapOvr>
  <p:transition spd="slow">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Culture Shapes Who Speaks and How</a:t>
            </a:r>
          </a:p>
        </p:txBody>
      </p:sp>
      <p:pic>
        <p:nvPicPr>
          <p:cNvPr id="5" name="Picture 4" descr="channel-choice-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Silence can mean agreement, uncertainty, respect, or fear—never guess when you can ask.</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Power distance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Direct versus indirect expression</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Individual versus collective orientation</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Tolerance for uncertainty</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43</a:t>
            </a:r>
          </a:p>
        </p:txBody>
      </p:sp>
    </p:spTree>
  </p:cSld>
  <p:clrMapOvr>
    <a:masterClrMapping/>
  </p:clrMapOvr>
  <p:transition spd="slow">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Culture Shapes Who Speaks and How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Power distance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Direct versus indirect expression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Individual versus collective orientation</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Tolerance for uncertainty</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44</a:t>
            </a:r>
          </a:p>
        </p:txBody>
      </p:sp>
    </p:spTree>
  </p:cSld>
  <p:clrMapOvr>
    <a:masterClrMapping/>
  </p:clrMapOvr>
  <p:transition spd="slow">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Culture Shapes Who Speaks and How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silent meeting: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Invite multiple channels, normalize dissent, and clarify decision rules.</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45</a:t>
            </a:r>
          </a:p>
        </p:txBody>
      </p:sp>
    </p:spTree>
  </p:cSld>
  <p:clrMapOvr>
    <a:masterClrMapping/>
  </p:clrMapOvr>
  <p:transition spd="slow">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“Silence can mean agreement, uncertainty, respect, or fear—never guess when you can ask.”</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invite multiple channels, normalize dissent, and clarify decision rules.</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46</a:t>
            </a:r>
          </a:p>
        </p:txBody>
      </p:sp>
    </p:spTree>
  </p:cSld>
  <p:clrMapOvr>
    <a:masterClrMapping/>
  </p:clrMapOvr>
  <p:transition spd="slow">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Audit Workplace Communication</a:t>
            </a:r>
          </a:p>
        </p:txBody>
      </p:sp>
      <p:pic>
        <p:nvPicPr>
          <p:cNvPr id="5" name="Picture 4" descr="customer-recovery-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What gets discussed may improve; what gets measured can be managed.</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Collect: surveys, interviews, observations, artefacts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Map: audience, channel, message, handoff</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Measure: reach, understanding, action, trust</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Benchmark: current state, target, external practice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47</a:t>
            </a:r>
          </a:p>
        </p:txBody>
      </p:sp>
    </p:spTree>
  </p:cSld>
  <p:clrMapOvr>
    <a:masterClrMapping/>
  </p:clrMapOvr>
  <p:transition spd="slow">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Audit Workplace Communication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Collect: surveys, interviews, observations, artefacts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Map: audience, channel, message, handoff</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Measure: reach, understanding, action, trust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Benchmark: current state, target, external practice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48</a:t>
            </a:r>
          </a:p>
        </p:txBody>
      </p:sp>
    </p:spTree>
  </p:cSld>
  <p:clrMapOvr>
    <a:masterClrMapping/>
  </p:clrMapOvr>
  <p:transition spd="slow">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Audit Workplace Communication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49</a:t>
            </a:r>
          </a:p>
        </p:txBody>
      </p:sp>
    </p:spTree>
  </p:cSld>
  <p:clrMapOvr>
    <a:masterClrMapping/>
  </p:clrMapOvr>
  <p:transition spd="slow">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“What gets discussed may improve; what gets measured can be managed.”</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triangulate evidence and benchmark suitability, not popularity.</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50</a:t>
            </a:r>
          </a:p>
        </p:txBody>
      </p:sp>
    </p:spTree>
  </p:cSld>
  <p:clrMapOvr>
    <a:masterClrMapping/>
  </p:clrMapOvr>
  <p:transition spd="slow">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Communication Drives Customer Satisfaction</a:t>
            </a:r>
          </a:p>
        </p:txBody>
      </p:sp>
      <p:pic>
        <p:nvPicPr>
          <p:cNvPr id="5" name="Picture 4" descr="communication-audit-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customer experiences the quality of your internal conversations.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Internal clarity reduces handoff errors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Expectation setting reduces surprise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Empathy protects dignity</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Closed-loop recovery restores confidence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51</a:t>
            </a:r>
          </a:p>
        </p:txBody>
      </p:sp>
    </p:spTree>
  </p:cSld>
  <p:clrMapOvr>
    <a:masterClrMapping/>
  </p:clrMapOvr>
  <p:transition spd="slow">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Communication Drives Customer Satisfaction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Internal clarity reduces handoff errors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Expectation setting reduces surprise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Empathy protects dignity</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Closed-loop recovery restores confidence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52</a:t>
            </a:r>
          </a:p>
        </p:txBody>
      </p:sp>
    </p:spTree>
  </p:cSld>
  <p:clrMapOvr>
    <a:masterClrMapping/>
  </p:clrMapOvr>
  <p:transition spd="slow">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Communication Drives Customer Satisfaction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service recovery: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Acknowledge, clarify, own, act, update, and confirm recovery.</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53</a:t>
            </a:r>
          </a:p>
        </p:txBody>
      </p:sp>
    </p:spTree>
  </p:cSld>
  <p:clrMapOvr>
    <a:masterClrMapping/>
  </p:clrMapOvr>
  <p:transition spd="slow">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COMMUNICATION GURU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The customer experiences the quality of your internal conversations.</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acknowledge, clarify, own, act, update, and confirm recovery.</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54</a:t>
            </a:r>
          </a:p>
        </p:txBody>
      </p:sp>
    </p:spTree>
  </p:cSld>
  <p:clrMapOvr>
    <a:masterClrMapping/>
  </p:clrMapOvr>
  <p:transition spd="slow">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01 | Communication Audit at EverBright Electronics</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K2, K3, K4, A1</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EverBright Electronics assembles smart-home devices in Singapore. Sales promises customised delivery dates, Operations works from a weekly spreadsheet, and Customer Care learns of delays only after customers call. Employee pulse comments show that junior staff hesitate to challenge optimistic deadlines. Three enterprise customers have escalated late orders in the last month.</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Audit lead, Sales representative, Operations planner.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communication journey map and evidence-based gap analysis.</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Uses at least three evidence types.</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scenario, role cards, playbook, questions, worksheets,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55</a:t>
            </a:r>
          </a:p>
        </p:txBody>
      </p:sp>
    </p:spTree>
  </p:cSld>
  <p:clrMapOvr>
    <a:masterClrMapping/>
  </p:clrMapOvr>
  <p:transition spd="slow">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Activity 02 | Active Listening and Customer Recovery at NovaCare Clinics</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K5, A1</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patient arrives for a specialist appointment that was moved by the call centre but not updated in the clinic schedule. The patient has taken unpaid leave and is visibly frustrated. The receptionist has a full queue, the nurse knows a slot may open, and the duty manager must restore trust without promising what the clinic cannot deliver.</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Customer/patient, Frontline receptionist, Duty manager.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observer scorecard and recovery conversation script.</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No interruption during the customer's opening.</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scenario, role cards, playbook, questions, worksheets,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56</a:t>
            </a:r>
          </a:p>
        </p:txBody>
      </p:sp>
    </p:spTree>
  </p:cSld>
  <p:clrMapOvr>
    <a:masterClrMapping/>
  </p:clrMapOvr>
  <p:transition spd="slow">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03 | Channel Choice for a Time-Critical Hotel Service Failure</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K2, K4, A1</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At Meridian Bay Hotel, a water-pressure problem affects 28 rooms during a sold-out weekend. Engineering needs 45 minutes to diagnose it. Front Office must brief guests, Housekeeping needs room-impact data, and the General Manager wants a record of decisions. Previous incidents produced conflicting chat messages and duplicate compensation offers.</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Incident lead, Engineering lead, Front Office manager.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channel decision matrix and incident huddle script.</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Each channel choice is justified.</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scenario, role cards, playbook, questions, worksheets,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57</a:t>
            </a:r>
          </a:p>
        </p:txBody>
      </p:sp>
    </p:spTree>
  </p:cSld>
  <p:clrMapOvr>
    <a:masterClrMapping/>
  </p:clrMapOvr>
  <p:transition spd="slow">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1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SHARED MEANING</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A recommendation is credible when the evidence, audience need, channel choice, behaviour, owner, and measure all point in the same direction.</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58</a:t>
            </a:r>
          </a:p>
        </p:txBody>
      </p:sp>
    </p:spTree>
  </p:cSld>
  <p:clrMapOvr>
    <a:masterClrMapping/>
  </p:clrMapOvr>
  <p:transition spd="slow">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48840"/>
            <a:ext cx="12191695" cy="1051560"/>
          </a:xfrm>
          <a:prstGeom prst="rect">
            <a:avLst/>
          </a:prstGeom>
          <a:noFill/>
        </p:spPr>
        <p:txBody>
          <a:bodyPr wrap="square" lIns="54864" rIns="54864" tIns="54864" bIns="54864" anchor="t">
            <a:spAutoFit/>
          </a:bodyPr>
          <a:lstStyle/>
          <a:p>
            <a:pPr algn="ctr"/>
            <a:r>
              <a:rPr sz="4400" b="1" i="0">
                <a:solidFill>
                  <a:srgbClr val="0E2A47"/>
                </a:solidFill>
                <a:latin typeface="Arial"/>
              </a:rPr>
              <a:t>Lunch Break</a:t>
            </a:r>
          </a:p>
        </p:txBody>
      </p:sp>
      <p:sp>
        <p:nvSpPr>
          <p:cNvPr id="6" name="TextBox 5"/>
          <p:cNvSpPr txBox="1"/>
          <p:nvPr/>
        </p:nvSpPr>
        <p:spPr>
          <a:xfrm>
            <a:off x="0" y="3520440"/>
            <a:ext cx="12191695" cy="548640"/>
          </a:xfrm>
          <a:prstGeom prst="rect">
            <a:avLst/>
          </a:prstGeom>
          <a:noFill/>
        </p:spPr>
        <p:txBody>
          <a:bodyPr wrap="square" lIns="54864" rIns="54864" tIns="54864" bIns="54864" anchor="t">
            <a:spAutoFit/>
          </a:bodyPr>
          <a:lstStyle/>
          <a:p>
            <a:pPr algn="ctr"/>
            <a:r>
              <a:rPr sz="1900" b="1" i="0">
                <a:solidFill>
                  <a:srgbClr val="E68300"/>
                </a:solidFill>
                <a:latin typeface="Arial"/>
              </a:rPr>
              <a:t>60 minutes</a:t>
            </a:r>
          </a:p>
        </p:txBody>
      </p:sp>
      <p:sp>
        <p:nvSpPr>
          <p:cNvPr id="7" name="TextBox 6"/>
          <p:cNvSpPr txBox="1"/>
          <p:nvPr/>
        </p:nvSpPr>
        <p:spPr>
          <a:xfrm>
            <a:off x="1965960" y="4617720"/>
            <a:ext cx="8229600" cy="502920"/>
          </a:xfrm>
          <a:prstGeom prst="rect">
            <a:avLst/>
          </a:prstGeom>
          <a:noFill/>
        </p:spPr>
        <p:txBody>
          <a:bodyPr wrap="square" lIns="54864" rIns="54864" tIns="54864" bIns="54864" anchor="t">
            <a:spAutoFit/>
          </a:bodyPr>
          <a:lstStyle/>
          <a:p>
            <a:pPr algn="ctr"/>
            <a:r>
              <a:rPr sz="1500" b="0" i="1">
                <a:solidFill>
                  <a:srgbClr val="5C6677"/>
                </a:solidFill>
                <a:latin typeface="Arial"/>
              </a:rPr>
              <a:t>Pause the noise. Return with attention.</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59</a:t>
            </a:r>
          </a:p>
        </p:txBody>
      </p:sp>
    </p:spTree>
  </p:cSld>
  <p:clrMapOvr>
    <a:masterClrMapping/>
  </p:clrMapOvr>
  <p:transition spd="slow">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lan-launch-v10.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02</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Develop a Communications Plan</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goals | audiences | messages | channels | cadence | measures | K3, K4, A2, A3</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The conversation is the work—make it observable, repeatable, and trustworthy.</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60</a:t>
            </a:r>
          </a:p>
        </p:txBody>
      </p:sp>
    </p:spTree>
  </p:cSld>
  <p:clrMapOvr>
    <a:masterClrMapping/>
  </p:clrMapOvr>
  <p:transition spd="slow">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 Plan Is a Behaviour-Change System</a:t>
            </a:r>
          </a:p>
        </p:txBody>
      </p:sp>
      <p:pic>
        <p:nvPicPr>
          <p:cNvPr id="5" name="Picture 4" descr="plan-launch-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communication plan is not a calendar of messages; it is an architecture for coordinated action.</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Business outcome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Audience behaviour</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Message and proof</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Channel and cadence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61</a:t>
            </a:r>
          </a:p>
        </p:txBody>
      </p:sp>
    </p:spTree>
  </p:cSld>
  <p:clrMapOvr>
    <a:masterClrMapping/>
  </p:clrMapOvr>
  <p:transition spd="slow">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 Plan Is a Behaviour-Change System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Business outcome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Audience behaviour</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Message and proof</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Channel and cadence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62</a:t>
            </a:r>
          </a:p>
        </p:txBody>
      </p:sp>
    </p:spTree>
  </p:cSld>
  <p:clrMapOvr>
    <a:masterClrMapping/>
  </p:clrMapOvr>
  <p:transition spd="slow">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 Plan Is a Behaviour-Change System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announcement-only plan: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Start with the behaviour that must change, not the channel you want to use.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63</a:t>
            </a:r>
          </a:p>
        </p:txBody>
      </p:sp>
    </p:spTree>
  </p:cSld>
  <p:clrMapOvr>
    <a:masterClrMapping/>
  </p:clrMapOvr>
  <p:transition spd="slow">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“A communication plan is not a calendar of messages; it is an architecture for coordinated action.”</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start with the behaviour that must change, not the channel you want to use.</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64</a:t>
            </a:r>
          </a:p>
        </p:txBody>
      </p:sp>
    </p:spTree>
  </p:cSld>
  <p:clrMapOvr>
    <a:masterClrMapping/>
  </p:clrMapOvr>
  <p:transition spd="slow">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Set Outcome-Based Objectives</a:t>
            </a:r>
          </a:p>
        </p:txBody>
      </p:sp>
      <p:pic>
        <p:nvPicPr>
          <p:cNvPr id="5" name="Picture 4" descr="team-handoff-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If the objective cannot be observed, the message cannot be improved.</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Specific audience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Observable action</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Measurable result</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Time boundary</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65</a:t>
            </a:r>
          </a:p>
        </p:txBody>
      </p:sp>
    </p:spTree>
  </p:cSld>
  <p:clrMapOvr>
    <a:masterClrMapping/>
  </p:clrMapOvr>
  <p:transition spd="slow">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Set Outcome-Based Objectives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Specific audience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Observable action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Measurable result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Time boundary</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66</a:t>
            </a:r>
          </a:p>
        </p:txBody>
      </p:sp>
    </p:spTree>
  </p:cSld>
  <p:clrMapOvr>
    <a:masterClrMapping/>
  </p:clrMapOvr>
  <p:transition spd="slow">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Set Outcome-Based Objectives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67</a:t>
            </a:r>
          </a:p>
        </p:txBody>
      </p:sp>
    </p:spTree>
  </p:cSld>
  <p:clrMapOvr>
    <a:masterClrMapping/>
  </p:clrMapOvr>
  <p:transition spd="slow">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“If the objective cannot be observed, the message cannot be improved.”</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write objectives as audience + behaviour + measure + deadline.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68</a:t>
            </a:r>
          </a:p>
        </p:txBody>
      </p:sp>
    </p:spTree>
  </p:cSld>
  <p:clrMapOvr>
    <a:masterClrMapping/>
  </p:clrMapOvr>
  <p:transition spd="slow">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Read the Environment</a:t>
            </a:r>
          </a:p>
        </p:txBody>
      </p:sp>
      <p:pic>
        <p:nvPicPr>
          <p:cNvPr id="5" name="Picture 4" descr="communication-audit-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Context is the invisible audience in every message.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External trends and customer expectations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Workforce composition and engagement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Technology and channel patterns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Operational risk and change load</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69</a:t>
            </a:r>
          </a:p>
        </p:txBody>
      </p:sp>
    </p:spTree>
  </p:cSld>
  <p:clrMapOvr>
    <a:masterClrMapping/>
  </p:clrMapOvr>
  <p:transition spd="slow">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Read the Environment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External trends and customer expectations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Workforce composition and engagement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Technology and channel patterns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Operational risk and change load</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70</a:t>
            </a:r>
          </a:p>
        </p:txBody>
      </p:sp>
    </p:spTree>
  </p:cSld>
  <p:clrMapOvr>
    <a:masterClrMapping/>
  </p:clrMapOvr>
  <p:transition spd="slow">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Read the Environment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trend blind spot: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evidence to decide what employees need, fear, and can realistically absorb.</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71</a:t>
            </a:r>
          </a:p>
        </p:txBody>
      </p:sp>
    </p:spTree>
  </p:cSld>
  <p:clrMapOvr>
    <a:masterClrMapping/>
  </p:clrMapOvr>
  <p:transition spd="slow">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COMMUNICATION GURU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Context is the invisible audience in every message.</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use evidence to decide what employees need, fear, and can realistically absorb.</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72</a:t>
            </a:r>
          </a:p>
        </p:txBody>
      </p:sp>
    </p:spTree>
  </p:cSld>
  <p:clrMapOvr>
    <a:masterClrMapping/>
  </p:clrMapOvr>
  <p:transition spd="slow">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Segment Audiences by Need and Influence</a:t>
            </a:r>
          </a:p>
        </p:txBody>
      </p:sp>
      <p:pic>
        <p:nvPicPr>
          <p:cNvPr id="5" name="Picture 4" descr="plan-launch-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There is no such thing as a general audience—only people with different stakes.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Decision makers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People who implement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People affected</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Advocates and resistors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73</a:t>
            </a:r>
          </a:p>
        </p:txBody>
      </p:sp>
    </p:spTree>
  </p:cSld>
  <p:clrMapOvr>
    <a:masterClrMapping/>
  </p:clrMapOvr>
  <p:transition spd="slow">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Segment Audiences by Need and Influence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Decision makers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People who implement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People affected</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Advocates and resistors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74</a:t>
            </a:r>
          </a:p>
        </p:txBody>
      </p:sp>
    </p:spTree>
  </p:cSld>
  <p:clrMapOvr>
    <a:masterClrMapping/>
  </p:clrMapOvr>
  <p:transition spd="slow">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Segment Audiences by Need and Influence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75</a:t>
            </a:r>
          </a:p>
        </p:txBody>
      </p:sp>
    </p:spTree>
  </p:cSld>
  <p:clrMapOvr>
    <a:masterClrMapping/>
  </p:clrMapOvr>
  <p:transition spd="slow">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“There is no such thing as a general audience—only people with different stakes.”</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map influence, impact, current belief, desired action, and preferred channel.</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76</a:t>
            </a:r>
          </a:p>
        </p:txBody>
      </p:sp>
    </p:spTree>
  </p:cSld>
  <p:clrMapOvr>
    <a:masterClrMapping/>
  </p:clrMapOvr>
  <p:transition spd="slow">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Design a Message House</a:t>
            </a:r>
          </a:p>
        </p:txBody>
      </p:sp>
      <p:pic>
        <p:nvPicPr>
          <p:cNvPr id="5" name="Picture 4" descr="team-handoff-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Strong messages are simple enough to repeat and substantial enough to trust.</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Core promise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Three proof pillars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Audience relevance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Clear call to action</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77</a:t>
            </a:r>
          </a:p>
        </p:txBody>
      </p:sp>
    </p:spTree>
  </p:cSld>
  <p:clrMapOvr>
    <a:masterClrMapping/>
  </p:clrMapOvr>
  <p:transition spd="slow">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Design a Message House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Core promise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Three proof pillars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Audience relevance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Clear call to action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78</a:t>
            </a:r>
          </a:p>
        </p:txBody>
      </p:sp>
    </p:spTree>
  </p:cSld>
  <p:clrMapOvr>
    <a:masterClrMapping/>
  </p:clrMapOvr>
  <p:transition spd="slow">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Design a Message House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inconsistent messaging: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Create one spine; tailor examples and tone without changing the truth.</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79</a:t>
            </a:r>
          </a:p>
        </p:txBody>
      </p:sp>
    </p:spTree>
  </p:cSld>
  <p:clrMapOvr>
    <a:masterClrMapping/>
  </p:clrMapOvr>
  <p:transition spd="slow">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“Strong messages are simple enough to repeat and substantial enough to trust.”</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create one spine; tailor examples and tone without changing the truth.</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80</a:t>
            </a:r>
          </a:p>
        </p:txBody>
      </p:sp>
    </p:spTree>
  </p:cSld>
  <p:clrMapOvr>
    <a:masterClrMapping/>
  </p:clrMapOvr>
  <p:transition spd="slow">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Build a Channel Portfolio</a:t>
            </a:r>
          </a:p>
        </p:txBody>
      </p:sp>
      <p:pic>
        <p:nvPicPr>
          <p:cNvPr id="5" name="Picture 4" descr="communication-audit-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One message, many moments: repetition works when each channel adds value.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Face-to-face for ambiguity and trust</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Video/voice for nuance at distance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Written channels for scale and record</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Visuals for patterns and recall</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81</a:t>
            </a:r>
          </a:p>
        </p:txBody>
      </p:sp>
    </p:spTree>
  </p:cSld>
  <p:clrMapOvr>
    <a:masterClrMapping/>
  </p:clrMapOvr>
  <p:transition spd="slow">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Build a Channel Portfolio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Face-to-face for ambiguity and trust</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Video/voice for nuance at distance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Written channels for scale and record</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Visuals for patterns and recall</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82</a:t>
            </a:r>
          </a:p>
        </p:txBody>
      </p:sp>
    </p:spTree>
  </p:cSld>
  <p:clrMapOvr>
    <a:masterClrMapping/>
  </p:clrMapOvr>
  <p:transition spd="slow">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Build a Channel Portfolio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83</a:t>
            </a:r>
          </a:p>
        </p:txBody>
      </p:sp>
    </p:spTree>
  </p:cSld>
  <p:clrMapOvr>
    <a:masterClrMapping/>
  </p:clrMapOvr>
  <p:transition spd="slow">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COMMUNICATION GURU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One message, many moments: repetition works when each channel adds value.</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assign each channel a role; remove duplicate noise.</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84</a:t>
            </a:r>
          </a:p>
        </p:txBody>
      </p:sp>
    </p:spTree>
  </p:cSld>
  <p:clrMapOvr>
    <a:masterClrMapping/>
  </p:clrMapOvr>
  <p:transition spd="slow">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Assign Cadence, Ownership, and Escalation</a:t>
            </a:r>
          </a:p>
        </p:txBody>
      </p:sp>
      <p:pic>
        <p:nvPicPr>
          <p:cNvPr id="5" name="Picture 4" descr="plan-launch-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plan without ownership is a wish with formatting.</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Owner and approver</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Send date and response window</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Listening mechanism</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Escalation trigger</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85</a:t>
            </a:r>
          </a:p>
        </p:txBody>
      </p:sp>
    </p:spTree>
  </p:cSld>
  <p:clrMapOvr>
    <a:masterClrMapping/>
  </p:clrMapOvr>
  <p:transition spd="slow">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Assign Cadence, Ownership, and Escalation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Owner and approver</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Send date and response window</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Listening mechanism</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Escalation trigger</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86</a:t>
            </a:r>
          </a:p>
        </p:txBody>
      </p:sp>
    </p:spTree>
  </p:cSld>
  <p:clrMapOvr>
    <a:masterClrMapping/>
  </p:clrMapOvr>
  <p:transition spd="slow">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Assign Cadence, Ownership, and Escalation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ownerless update: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a RACI-like operating rhythm and pre-agreed escalation path.</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87</a:t>
            </a:r>
          </a:p>
        </p:txBody>
      </p:sp>
    </p:spTree>
  </p:cSld>
  <p:clrMapOvr>
    <a:masterClrMapping/>
  </p:clrMapOvr>
  <p:transition spd="slow">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“A plan without ownership is a wish with formatting.”</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use a raci-like operating rhythm and pre-agreed escalation path.</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88</a:t>
            </a:r>
          </a:p>
        </p:txBody>
      </p:sp>
    </p:spTree>
  </p:cSld>
  <p:clrMapOvr>
    <a:masterClrMapping/>
  </p:clrMapOvr>
  <p:transition spd="slow">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Measure Reach, Understanding, Action, and Trust</a:t>
            </a:r>
          </a:p>
        </p:txBody>
      </p:sp>
      <p:pic>
        <p:nvPicPr>
          <p:cNvPr id="5" name="Picture 4" descr="team-handoff-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Clicks measure contact; behaviour measures communication.</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Reach: who received it?</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Understanding: what did they take away?</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Action: what changed?</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Trust: do they believe and speak up?</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89</a:t>
            </a:r>
          </a:p>
        </p:txBody>
      </p:sp>
    </p:spTree>
  </p:cSld>
  <p:clrMapOvr>
    <a:masterClrMapping/>
  </p:clrMapOvr>
  <p:transition spd="slow">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Measure Reach, Understanding, Action, and Trust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Reach: who received it?</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Understanding: what did they take away?</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Action: what changed?</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Trust: do they believe and speak up?</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90</a:t>
            </a:r>
          </a:p>
        </p:txBody>
      </p:sp>
    </p:spTree>
  </p:cSld>
  <p:clrMapOvr>
    <a:masterClrMapping/>
  </p:clrMapOvr>
  <p:transition spd="slow">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Measure Reach, Understanding, Action, and Trust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91</a:t>
            </a:r>
          </a:p>
        </p:txBody>
      </p:sp>
    </p:spTree>
  </p:cSld>
  <p:clrMapOvr>
    <a:masterClrMapping/>
  </p:clrMapOvr>
  <p:transition spd="slow">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“Clicks measure contact; behaviour measures communication.”</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use leading and lagging indicators with a learning loop.</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92</a:t>
            </a:r>
          </a:p>
        </p:txBody>
      </p:sp>
    </p:spTree>
  </p:cSld>
  <p:clrMapOvr>
    <a:masterClrMapping/>
  </p:clrMapOvr>
  <p:transition spd="slow">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04 | Audience and Objective Design for GreenLoop Logistics</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K3, K4, A2,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GreenLoop Logistics is introducing route-optimisation software that changes driver schedules and customer delivery windows. Union representatives worry about workload, dispatchers fear losing autonomy, drivers want practical support, and key customers want reliability. Engagement data shows lower trust among night-shift employees and higher mobile usage than email readership.</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Change communication lead, Operations sponsor, Driver representative.</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trend and statistics interpretation and audience map.</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Uses provided evidence rather than stereotypes.</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scenario, role cards, playbook, questions, worksheets,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93</a:t>
            </a:r>
          </a:p>
        </p:txBody>
      </p:sp>
    </p:spTree>
  </p:cSld>
  <p:clrMapOvr>
    <a:masterClrMapping/>
  </p:clrMapOvr>
  <p:transition spd="slow">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05 | Build the HarborCare Communications Plan</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K2, K3, K4, A2,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HarborCare Home Services is consolidating two service teams while launching a same-day customer callback standard. Employees need clarity on roles; supervisors need coaching tools; customers need confidence that continuity will improve. The launch is six weeks away, and previous changes suffered from announcement-heavy communication with little listening.</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Communication planner, Executive sponsor, People manager.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one-page communication plan and message house.</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All plan fields have owners.</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scenario, role cards, playbook, questions, worksheets,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94</a:t>
            </a:r>
          </a:p>
        </p:txBody>
      </p:sp>
    </p:spTree>
  </p:cSld>
  <p:clrMapOvr>
    <a:masterClrMapping/>
  </p:clrMapOvr>
  <p:transition spd="slow">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2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SHARED MEANING</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A recommendation is credible when the evidence, audience need, channel choice, behaviour, owner, and measure all point in the same direction.</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95</a:t>
            </a:r>
          </a:p>
        </p:txBody>
      </p:sp>
    </p:spTree>
  </p:cSld>
  <p:clrMapOvr>
    <a:masterClrMapping/>
  </p:clrMapOvr>
  <p:transition spd="slow">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48840"/>
            <a:ext cx="12191695" cy="1051560"/>
          </a:xfrm>
          <a:prstGeom prst="rect">
            <a:avLst/>
          </a:prstGeom>
          <a:noFill/>
        </p:spPr>
        <p:txBody>
          <a:bodyPr wrap="square" lIns="54864" rIns="54864" tIns="54864" bIns="54864" anchor="t">
            <a:spAutoFit/>
          </a:bodyPr>
          <a:lstStyle/>
          <a:p>
            <a:pPr algn="ctr"/>
            <a:r>
              <a:rPr sz="4400" b="1" i="0">
                <a:solidFill>
                  <a:srgbClr val="0E2A47"/>
                </a:solidFill>
                <a:latin typeface="Arial"/>
              </a:rPr>
              <a:t>Afternoon Break</a:t>
            </a:r>
          </a:p>
        </p:txBody>
      </p:sp>
      <p:sp>
        <p:nvSpPr>
          <p:cNvPr id="6" name="TextBox 5"/>
          <p:cNvSpPr txBox="1"/>
          <p:nvPr/>
        </p:nvSpPr>
        <p:spPr>
          <a:xfrm>
            <a:off x="0" y="3520440"/>
            <a:ext cx="12191695" cy="548640"/>
          </a:xfrm>
          <a:prstGeom prst="rect">
            <a:avLst/>
          </a:prstGeom>
          <a:noFill/>
        </p:spPr>
        <p:txBody>
          <a:bodyPr wrap="square" lIns="54864" rIns="54864" tIns="54864" bIns="54864" anchor="t">
            <a:spAutoFit/>
          </a:bodyPr>
          <a:lstStyle/>
          <a:p>
            <a:pPr algn="ctr"/>
            <a:r>
              <a:rPr sz="1900" b="1" i="0">
                <a:solidFill>
                  <a:srgbClr val="E68300"/>
                </a:solidFill>
                <a:latin typeface="Arial"/>
              </a:rPr>
              <a:t>10 minutes</a:t>
            </a:r>
          </a:p>
        </p:txBody>
      </p:sp>
      <p:sp>
        <p:nvSpPr>
          <p:cNvPr id="7" name="TextBox 6"/>
          <p:cNvSpPr txBox="1"/>
          <p:nvPr/>
        </p:nvSpPr>
        <p:spPr>
          <a:xfrm>
            <a:off x="1965960" y="4617720"/>
            <a:ext cx="8229600" cy="502920"/>
          </a:xfrm>
          <a:prstGeom prst="rect">
            <a:avLst/>
          </a:prstGeom>
          <a:noFill/>
        </p:spPr>
        <p:txBody>
          <a:bodyPr wrap="square" lIns="54864" rIns="54864" tIns="54864" bIns="54864" anchor="t">
            <a:spAutoFit/>
          </a:bodyPr>
          <a:lstStyle/>
          <a:p>
            <a:pPr algn="ctr"/>
            <a:r>
              <a:rPr sz="1500" b="0" i="1">
                <a:solidFill>
                  <a:srgbClr val="5C6677"/>
                </a:solidFill>
                <a:latin typeface="Arial"/>
              </a:rPr>
              <a:t>Pause the noise. Return with attention.</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96</a:t>
            </a:r>
          </a:p>
        </p:txBody>
      </p:sp>
    </p:spTree>
  </p:cSld>
  <p:clrMapOvr>
    <a:masterClrMapping/>
  </p:clrMapOvr>
  <p:transition spd="slow">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ybrid-repair-v10.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03</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Address Communication Gaps and Barriers</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diagnosis | difficult conversations | coaching | solutions | K5, A3</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The conversation is the work—make it observable, repeatable, and trustworthy.</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97</a:t>
            </a:r>
          </a:p>
        </p:txBody>
      </p:sp>
    </p:spTree>
  </p:cSld>
  <p:clrMapOvr>
    <a:masterClrMapping/>
  </p:clrMapOvr>
  <p:transition spd="slow">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Diagnose the Barrier Before Prescribing</a:t>
            </a:r>
          </a:p>
        </p:txBody>
      </p:sp>
      <p:pic>
        <p:nvPicPr>
          <p:cNvPr id="5" name="Picture 4" descr="hybrid-repair-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Miscommunication is a symptom; diagnosis finds the system that produced it.</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Physical and access barriers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Language and knowledge barriers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Emotional and psychological barriers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Structural and cultural barriers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98</a:t>
            </a:r>
          </a:p>
        </p:txBody>
      </p:sp>
    </p:spTree>
  </p:cSld>
  <p:clrMapOvr>
    <a:masterClrMapping/>
  </p:clrMapOvr>
  <p:transition spd="slow">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Diagnose the Barrier Before Prescribing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Physical and access barriers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Language and knowledge barriers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Emotional and psychological barriers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Structural and cultural barriers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99</a:t>
            </a:r>
          </a:p>
        </p:txBody>
      </p:sp>
    </p:spTree>
  </p:cSld>
  <p:clrMapOvr>
    <a:masterClrMapping/>
  </p:clrMapOvr>
  <p:transition spd="slow">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Diagnose the Barrier Before Prescribing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quick-fix training: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Locate where meaning broke: sender, message, channel, receiver, feedback, or context.</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100</a:t>
            </a:r>
          </a:p>
        </p:txBody>
      </p:sp>
    </p:spTree>
  </p:cSld>
  <p:clrMapOvr>
    <a:masterClrMapping/>
  </p:clrMapOvr>
  <p:transition spd="slow">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“Miscommunication is a symptom; diagnosis finds the system that produced it.”</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locate where meaning broke: sender, message, channel, receiver, feedback, or context.</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101</a:t>
            </a:r>
          </a:p>
        </p:txBody>
      </p:sp>
    </p:spTree>
  </p:cSld>
  <p:clrMapOvr>
    <a:masterClrMapping/>
  </p:clrMapOvr>
  <p:transition spd="slow">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Regulate Before You Communicate</a:t>
            </a:r>
          </a:p>
        </p:txBody>
      </p:sp>
      <p:pic>
        <p:nvPicPr>
          <p:cNvPr id="5" name="Picture 4" descr="customer-recovery-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You cannot de-escalate a room you are still escalating inside yourself.</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Notice the trigger</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Name the emotion</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Pause and breathe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Choose the next useful move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102</a:t>
            </a:r>
          </a:p>
        </p:txBody>
      </p:sp>
    </p:spTree>
  </p:cSld>
  <p:clrMapOvr>
    <a:masterClrMapping/>
  </p:clrMapOvr>
  <p:transition spd="slow">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Regulate Before You Communicate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Notice the trigger</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Name the emotion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Pause and breathe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Choose the next useful move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103</a:t>
            </a:r>
          </a:p>
        </p:txBody>
      </p:sp>
    </p:spTree>
  </p:cSld>
  <p:clrMapOvr>
    <a:masterClrMapping/>
  </p:clrMapOvr>
  <p:transition spd="slow">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Regulate Before You Communicate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104</a:t>
            </a:r>
          </a:p>
        </p:txBody>
      </p:sp>
    </p:spTree>
  </p:cSld>
  <p:clrMapOvr>
    <a:masterClrMapping/>
  </p:clrMapOvr>
  <p:transition spd="slow">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COMMUNICATION GURU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You cannot de-escalate a room you are still escalating inside yourself.</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pause, clarify, make one point, and check the response.</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105</a:t>
            </a:r>
          </a:p>
        </p:txBody>
      </p:sp>
    </p:spTree>
  </p:cSld>
  <p:clrMapOvr>
    <a:masterClrMapping/>
  </p:clrMapOvr>
  <p:transition spd="slow">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Bridge Cultural and Language Differences</a:t>
            </a:r>
          </a:p>
        </p:txBody>
      </p:sp>
      <p:pic>
        <p:nvPicPr>
          <p:cNvPr id="5" name="Picture 4" descr="coaching-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Curiosity is the shortest bridge across difference.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Use plain language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Avoid idioms and assumptions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Invite clarification without shame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Confirm shared interpretation</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106</a:t>
            </a:r>
          </a:p>
        </p:txBody>
      </p:sp>
    </p:spTree>
  </p:cSld>
  <p:clrMapOvr>
    <a:masterClrMapping/>
  </p:clrMapOvr>
  <p:transition spd="slow">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Bridge Cultural and Language Differences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Use plain language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Avoid idioms and assumptions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Invite clarification without shame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Confirm shared interpretation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107</a:t>
            </a:r>
          </a:p>
        </p:txBody>
      </p:sp>
    </p:spTree>
  </p:cSld>
  <p:clrMapOvr>
    <a:masterClrMapping/>
  </p:clrMapOvr>
  <p:transition spd="slow">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Bridge Cultural and Language Differences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cross-cultural misread: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Ask what the message means in context; offer multiple ways to respond.</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108</a:t>
            </a:r>
          </a:p>
        </p:txBody>
      </p:sp>
    </p:spTree>
  </p:cSld>
  <p:clrMapOvr>
    <a:masterClrMapping/>
  </p:clrMapOvr>
  <p:transition spd="slow">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“Curiosity is the shortest bridge across difference.”</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ask what the message means in context; offer multiple ways to respond.</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109</a:t>
            </a:r>
          </a:p>
        </p:txBody>
      </p:sp>
    </p:spTree>
  </p:cSld>
  <p:clrMapOvr>
    <a:masterClrMapping/>
  </p:clrMapOvr>
  <p:transition spd="slow">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Assertive Communication with I-Statements</a:t>
            </a:r>
          </a:p>
        </p:txBody>
      </p:sp>
      <p:pic>
        <p:nvPicPr>
          <p:cNvPr id="5" name="Picture 4" descr="hybrid-repair-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Assertiveness is clarity with respect—for yourself and the relationship.</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State observable behaviour</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Name the impact or feeling</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Explain why it matters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Request a specific alternative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110</a:t>
            </a:r>
          </a:p>
        </p:txBody>
      </p:sp>
    </p:spTree>
  </p:cSld>
  <p:clrMapOvr>
    <a:masterClrMapping/>
  </p:clrMapOvr>
  <p:transition spd="slow">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Assertive Communication with I-Statements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State observable behaviour</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Name the impact or feeling</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Explain why it matters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Request a specific alternative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111</a:t>
            </a:r>
          </a:p>
        </p:txBody>
      </p:sp>
    </p:spTree>
  </p:cSld>
  <p:clrMapOvr>
    <a:masterClrMapping/>
  </p:clrMapOvr>
  <p:transition spd="slow">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Assertive Communication with I-Statements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112</a:t>
            </a:r>
          </a:p>
        </p:txBody>
      </p:sp>
    </p:spTree>
  </p:cSld>
  <p:clrMapOvr>
    <a:masterClrMapping/>
  </p:clrMapOvr>
  <p:transition spd="slow">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“Assertiveness is clarity with respect—for yourself and the relationship.”</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use: when x happens, i feel/observe y because z. i request a.</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113</a:t>
            </a:r>
          </a:p>
        </p:txBody>
      </p:sp>
    </p:spTree>
  </p:cSld>
  <p:clrMapOvr>
    <a:masterClrMapping/>
  </p:clrMapOvr>
  <p:transition spd="slow">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WATCH | NOTICE | DEBRIEF</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How to Speak So That People Want to Listen | Julian Treasure | TED</a:t>
            </a:r>
          </a:p>
        </p:txBody>
      </p:sp>
      <p:sp>
        <p:nvSpPr>
          <p:cNvPr id="5" name="Rounded Rectangle 4"/>
          <p:cNvSpPr/>
          <p:nvPr/>
        </p:nvSpPr>
        <p:spPr>
          <a:xfrm>
            <a:off x="731520" y="1572768"/>
            <a:ext cx="10725912" cy="4251960"/>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34440" y="2286000"/>
            <a:ext cx="1691640" cy="1691640"/>
          </a:xfrm>
          <a:prstGeom prst="ellipse">
            <a:avLst/>
          </a:prstGeom>
          <a:solidFill>
            <a:srgbClr val="B42318"/>
          </a:solidFill>
          <a:ln>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Triangle 6"/>
          <p:cNvSpPr/>
          <p:nvPr/>
        </p:nvSpPr>
        <p:spPr>
          <a:xfrm>
            <a:off x="1847088" y="2743200"/>
            <a:ext cx="530352" cy="658368"/>
          </a:xfrm>
          <a:prstGeom prst="rtTriangl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46120" y="2075688"/>
            <a:ext cx="7269480" cy="502920"/>
          </a:xfrm>
          <a:prstGeom prst="rect">
            <a:avLst/>
          </a:prstGeom>
          <a:noFill/>
        </p:spPr>
        <p:txBody>
          <a:bodyPr wrap="square" lIns="54864" rIns="54864" tIns="54864" bIns="54864" anchor="t">
            <a:spAutoFit/>
          </a:bodyPr>
          <a:lstStyle/>
          <a:p>
            <a:pPr algn="l"/>
            <a:r>
              <a:rPr sz="1200" b="1" i="0">
                <a:solidFill>
                  <a:srgbClr val="6DDAD7"/>
                </a:solidFill>
                <a:latin typeface="Arial"/>
              </a:rPr>
              <a:t>CLICK TO PLAY ON YOUTUBE</a:t>
            </a:r>
          </a:p>
        </p:txBody>
      </p:sp>
      <p:sp>
        <p:nvSpPr>
          <p:cNvPr id="9" name="TextBox 8">
            <a:hlinkClick r:id="rId2"/>
          </p:cNvPr>
          <p:cNvSpPr txBox="1"/>
          <p:nvPr/>
        </p:nvSpPr>
        <p:spPr>
          <a:xfrm>
            <a:off x="3246120" y="2697480"/>
            <a:ext cx="7269480" cy="914400"/>
          </a:xfrm>
          <a:prstGeom prst="rect">
            <a:avLst/>
          </a:prstGeom>
          <a:noFill/>
        </p:spPr>
        <p:txBody>
          <a:bodyPr wrap="square" lIns="54864" rIns="54864" tIns="54864" bIns="54864" anchor="t">
            <a:spAutoFit/>
          </a:bodyPr>
          <a:lstStyle/>
          <a:p>
            <a:pPr algn="l"/>
            <a:r>
              <a:rPr sz="2300" b="1" i="0">
                <a:solidFill>
                  <a:srgbClr val="FFFFFF"/>
                </a:solidFill>
                <a:latin typeface="Arial"/>
              </a:rPr>
              <a:t>How to Speak So That People Want to Listen | Julian Treasure | TED</a:t>
            </a:r>
          </a:p>
        </p:txBody>
      </p:sp>
      <p:sp>
        <p:nvSpPr>
          <p:cNvPr id="10" name="TextBox 9"/>
          <p:cNvSpPr txBox="1"/>
          <p:nvPr/>
        </p:nvSpPr>
        <p:spPr>
          <a:xfrm>
            <a:off x="3246120" y="3840480"/>
            <a:ext cx="7040880" cy="685800"/>
          </a:xfrm>
          <a:prstGeom prst="rect">
            <a:avLst/>
          </a:prstGeom>
          <a:noFill/>
        </p:spPr>
        <p:txBody>
          <a:bodyPr wrap="square" lIns="54864" rIns="54864" tIns="54864" bIns="54864" anchor="t">
            <a:spAutoFit/>
          </a:bodyPr>
          <a:lstStyle/>
          <a:p>
            <a:pPr algn="l"/>
            <a:r>
              <a:rPr sz="1400" b="0" i="0">
                <a:solidFill>
                  <a:srgbClr val="D7E0EA"/>
                </a:solidFill>
                <a:latin typeface="Arial"/>
              </a:rPr>
              <a:t>Duration 9:59 | Notice how vocal variety, intention, and empathy shape credibility.</a:t>
            </a:r>
          </a:p>
        </p:txBody>
      </p:sp>
      <p:sp>
        <p:nvSpPr>
          <p:cNvPr id="11" name="TextBox 10"/>
          <p:cNvSpPr txBox="1"/>
          <p:nvPr/>
        </p:nvSpPr>
        <p:spPr>
          <a:xfrm>
            <a:off x="1234440" y="5166360"/>
            <a:ext cx="9646920" cy="310896"/>
          </a:xfrm>
          <a:prstGeom prst="rect">
            <a:avLst/>
          </a:prstGeom>
          <a:noFill/>
        </p:spPr>
        <p:txBody>
          <a:bodyPr wrap="square" lIns="54864" rIns="54864" tIns="54864" bIns="54864" anchor="t">
            <a:spAutoFit/>
          </a:bodyPr>
          <a:lstStyle/>
          <a:p>
            <a:pPr algn="l"/>
            <a:r>
              <a:rPr sz="900" b="1" i="0">
                <a:solidFill>
                  <a:srgbClr val="6DDAD7"/>
                </a:solidFill>
                <a:latin typeface="Arial"/>
              </a:rPr>
              <a:t>https://www.youtube.com/watch?v=eIho2S0ZahI</a:t>
            </a:r>
          </a:p>
        </p:txBody>
      </p:sp>
      <p:sp>
        <p:nvSpPr>
          <p:cNvPr id="12" name="TextBox 11"/>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3" name="TextBox 12"/>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114</a:t>
            </a:r>
          </a:p>
        </p:txBody>
      </p:sp>
    </p:spTree>
  </p:cSld>
  <p:clrMapOvr>
    <a:masterClrMapping/>
  </p:clrMapOvr>
  <p:transition spd="slow">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Difficult Conversations: Facts, Meaning, Relationship</a:t>
            </a:r>
          </a:p>
        </p:txBody>
      </p:sp>
      <p:pic>
        <p:nvPicPr>
          <p:cNvPr id="5" name="Picture 4" descr="customer-recovery-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hard conversation becomes productive when the problem is placed between people—not inside one person.</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Separate observations from stories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Surface each person's meaning</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Protect dignity</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Agree the next testable action</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115</a:t>
            </a:r>
          </a:p>
        </p:txBody>
      </p:sp>
    </p:spTree>
  </p:cSld>
  <p:clrMapOvr>
    <a:masterClrMapping/>
  </p:clrMapOvr>
  <p:transition spd="slow">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Difficult Conversations: Facts, Meaning, Relationship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Separate observations from stories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Surface each person's meaning</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Protect dignity</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Agree the next testable action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116</a:t>
            </a:r>
          </a:p>
        </p:txBody>
      </p:sp>
    </p:spTree>
  </p:cSld>
  <p:clrMapOvr>
    <a:masterClrMapping/>
  </p:clrMapOvr>
  <p:transition spd="slow">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Difficult Conversations: Facts, Meaning, Relationship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blame cycle: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Open with shared purpose; compare views; decide actions; follow up.</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117</a:t>
            </a:r>
          </a:p>
        </p:txBody>
      </p:sp>
    </p:spTree>
  </p:cSld>
  <p:clrMapOvr>
    <a:masterClrMapping/>
  </p:clrMapOvr>
  <p:transition spd="slow">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“A hard conversation becomes productive when the problem is placed between people—not inside one person.”</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open with shared purpose; compare views; decide actions; follow up.</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118</a:t>
            </a:r>
          </a:p>
        </p:txBody>
      </p:sp>
    </p:spTree>
  </p:cSld>
  <p:clrMapOvr>
    <a:masterClrMapping/>
  </p:clrMapOvr>
  <p:transition spd="slow">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De-escalate Without Surrendering the Standard</a:t>
            </a:r>
          </a:p>
        </p:txBody>
      </p:sp>
      <p:pic>
        <p:nvPicPr>
          <p:cNvPr id="5" name="Picture 4" descr="coaching-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Calm is not weakness; it is control made visible.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Lower pace and volume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Acknowledge emotion</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Set respectful boundaries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Offer choices and next steps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119</a:t>
            </a:r>
          </a:p>
        </p:txBody>
      </p:sp>
    </p:spTree>
  </p:cSld>
  <p:clrMapOvr>
    <a:masterClrMapping/>
  </p:clrMapOvr>
  <p:transition spd="slow">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De-escalate Without Surrendering the Standard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Lower pace and volume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Acknowledge emotion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Set respectful boundaries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Offer choices and next steps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120</a:t>
            </a:r>
          </a:p>
        </p:txBody>
      </p:sp>
    </p:spTree>
  </p:cSld>
  <p:clrMapOvr>
    <a:masterClrMapping/>
  </p:clrMapOvr>
  <p:transition spd="slow">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De-escalate Without Surrendering the Standard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121</a:t>
            </a:r>
          </a:p>
        </p:txBody>
      </p:sp>
    </p:spTree>
  </p:cSld>
  <p:clrMapOvr>
    <a:masterClrMapping/>
  </p:clrMapOvr>
  <p:transition spd="slow">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COMMUNICATION GURU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“Calm is not weakness; it is control made visible.”</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pitch line, then prove it through the acknowledge, clarify, boundary, option, ownership, update.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122</a:t>
            </a:r>
          </a:p>
        </p:txBody>
      </p:sp>
    </p:spTree>
  </p:cSld>
  <p:clrMapOvr>
    <a:masterClrMapping/>
  </p:clrMapOvr>
  <p:transition spd="slow">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Coach Communication with GROW and SBI</a:t>
            </a:r>
          </a:p>
        </p:txBody>
      </p:sp>
      <p:pic>
        <p:nvPicPr>
          <p:cNvPr id="5" name="Picture 4" descr="hybrid-repair-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Coaching turns feedback from a verdict into a rehearsal for better performance.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Goal: define the outcome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Reality: inspect examples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Options: rehearse alternatives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Way forward: commit and review</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123</a:t>
            </a:r>
          </a:p>
        </p:txBody>
      </p:sp>
    </p:spTree>
  </p:cSld>
  <p:clrMapOvr>
    <a:masterClrMapping/>
  </p:clrMapOvr>
  <p:transition spd="slow">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Coach Communication with GROW and SBI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Goal: define the outcome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Reality: inspect examples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Options: rehearse alternatives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Way forward: commit and review</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124</a:t>
            </a:r>
          </a:p>
        </p:txBody>
      </p:sp>
    </p:spTree>
  </p:cSld>
  <p:clrMapOvr>
    <a:masterClrMapping/>
  </p:clrMapOvr>
  <p:transition spd="slow">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Coach Communication with GROW and SBI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the generic feedback: a small cue that shared meaning is breaking.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Uncorrected ambiguity becomes rework, silence, conflict, or a broken customer promise.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Situation-Behaviour-Impact, then rehearse the next conversation.</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125</a:t>
            </a:r>
          </a:p>
        </p:txBody>
      </p:sp>
    </p:spTree>
  </p:cSld>
  <p:clrMapOvr>
    <a:masterClrMapping/>
  </p:clrMapOvr>
  <p:transition spd="slow">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COMMUNICATION GURU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Coaching turns feedback from a verdict into a rehearsal for better performance.</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use situation-behaviour-impact, then rehearse the next conversation.</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126</a:t>
            </a:r>
          </a:p>
        </p:txBody>
      </p:sp>
    </p:spTree>
  </p:cSld>
  <p:clrMapOvr>
    <a:masterClrMapping/>
  </p:clrMapOvr>
  <p:transition spd="slow">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Engineer Solutions and Sustain the Loop</a:t>
            </a:r>
          </a:p>
        </p:txBody>
      </p:sp>
      <p:pic>
        <p:nvPicPr>
          <p:cNvPr id="5" name="Picture 4" descr="customer-recovery-v10.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Training changes capability; systems decide whether capability survives.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Redesign process and channel</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Build skill and scripts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Clarify roles and decision rights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Measure and reinforce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127</a:t>
            </a:r>
          </a:p>
        </p:txBody>
      </p:sp>
    </p:spTree>
  </p:cSld>
  <p:clrMapOvr>
    <a:masterClrMapping/>
  </p:clrMapOvr>
  <p:transition spd="slow">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Engineer Solutions and Sustain the Loop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Redesign process and channel</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Build skill and scripts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Clarify roles and decision rights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Measure and reinforce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observable signal. Choose the response. Confirm what the receiver understood.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128</a:t>
            </a:r>
          </a:p>
        </p:txBody>
      </p:sp>
    </p:spTree>
  </p:cSld>
  <p:clrMapOvr>
    <a:masterClrMapping/>
  </p:clrMapOvr>
  <p:transition spd="slow">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Engineer Solutions and Sustain the Loop | Meaning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Clarify</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Respond</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Confirm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129</a:t>
            </a:r>
          </a:p>
        </p:txBody>
      </p:sp>
    </p:spTree>
  </p:cSld>
  <p:clrMapOvr>
    <a:masterClrMapping/>
  </p:clrMapOvr>
  <p:transition spd="slow">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COMMUNICATION GURU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“Training changes capability; systems decide whether capability survives.”</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pitch line, then prove it through the combine people, process, channel, governance, and measurement interventions.</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130</a:t>
            </a:r>
          </a:p>
        </p:txBody>
      </p:sp>
    </p:spTree>
  </p:cSld>
  <p:clrMapOvr>
    <a:masterClrMapping/>
  </p:clrMapOvr>
  <p:transition spd="slow">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06 | Repair a Cross-Cultural Hybrid-Team Misunderstanding</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K3, K5,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Singapore-based product manager tells a regional colleague that a proposal is 'quite ambitious'. The colleague interprets this as approval and commits the date to a customer. Text messages become defensive, two team members stop contributing, and the weekly video meeting now avoids the issue.</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Product manager, Regional account lead, Facilitator.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barrier diagnosis and facilitated conversation playbook.</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Names multiple plausible barriers.</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scenario, role cards, playbook, questions, worksheets,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131</a:t>
            </a:r>
          </a:p>
        </p:txBody>
      </p:sp>
    </p:spTree>
  </p:cSld>
  <p:clrMapOvr>
    <a:masterClrMapping/>
  </p:clrMapOvr>
  <p:transition spd="slow">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Activity 07 | Coach a Team Leader Using SBI and GROW</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K5,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technically strong team leader regularly gives long, rapid instructions in operations meetings and answers their own questions before staff can respond. Rework is increasing, but the leader believes the team is simply not attentive. The manager must coach without undermining confidence.</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Coach/manager, Team leader, Employee witness.</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sbi feedback note and grow coaching record.</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Feedback is behaviour-specific.</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scenario, role cards, playbook, questions, worksheets,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132</a:t>
            </a:r>
          </a:p>
        </p:txBody>
      </p:sp>
    </p:spTree>
  </p:cSld>
  <p:clrMapOvr>
    <a:masterClrMapping/>
  </p:clrMapOvr>
  <p:transition spd="slow">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Activity 08 | Capstone - Northstar Mobility Collaboration and Customer Trust</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K1-K5, A1-A3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Northstar Mobility launches an accessible on-demand transport service. A pilot receives strong demand but also driver confusion, inconsistent customer updates, and poor escalation of accessibility needs. Leaders need an evidence-based benchmark, an engagement-aware communication plan, and a coaching solution before the city-wide launch.</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Programme sponsor, Communication audit lead, Workforce engagement lead.</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audit and suitability benchmark and trend and engagement analysis.</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Covers A1, A2, and A3 with traceable evidence.</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scenario, role cards, playbook, questions, worksheets,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133</a:t>
            </a:r>
          </a:p>
        </p:txBody>
      </p:sp>
    </p:spTree>
  </p:cSld>
  <p:clrMapOvr>
    <a:masterClrMapping/>
  </p:clrMapOvr>
  <p:transition spd="slow">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3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SHARED MEANING</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A recommendation is credible when the evidence, audience need, channel choice, behaviour, owner, and measure all point in the same direction.</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134</a:t>
            </a:r>
          </a:p>
        </p:txBody>
      </p:sp>
    </p:spTree>
  </p:cSld>
  <p:clrMapOvr>
    <a:masterClrMapping/>
  </p:clrMapOvr>
  <p:transition spd="slow">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eam-handoff-v10.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99</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Integration</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From isolated techniques to a communication operating system</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The conversation is the work—make it observable, repeatable, and trustworthy.</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135</a:t>
            </a:r>
          </a:p>
        </p:txBody>
      </p:sp>
    </p:spTree>
  </p:cSld>
  <p:clrMapOvr>
    <a:masterClrMapping/>
  </p:clrMapOvr>
  <p:transition spd="slow">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ONE SYSTEM | MANY CONVERSATIONS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The Communication Operating System</a:t>
            </a:r>
          </a:p>
        </p:txBody>
      </p:sp>
      <p:sp>
        <p:nvSpPr>
          <p:cNvPr id="5" name="Rounded Rectangle 4"/>
          <p:cNvSpPr/>
          <p:nvPr/>
        </p:nvSpPr>
        <p:spPr>
          <a:xfrm>
            <a:off x="621792"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Purpose</a:t>
            </a:r>
          </a:p>
        </p:txBody>
      </p:sp>
      <p:cxnSp>
        <p:nvCxnSpPr>
          <p:cNvPr id="9" name="Connector 8"/>
          <p:cNvCxnSpPr/>
          <p:nvPr/>
        </p:nvCxnSpPr>
        <p:spPr>
          <a:xfrm>
            <a:off x="2252472"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90216"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54808"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48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2746248"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Audience</a:t>
            </a:r>
          </a:p>
        </p:txBody>
      </p:sp>
      <p:cxnSp>
        <p:nvCxnSpPr>
          <p:cNvPr id="14" name="Connector 13"/>
          <p:cNvCxnSpPr/>
          <p:nvPr/>
        </p:nvCxnSpPr>
        <p:spPr>
          <a:xfrm>
            <a:off x="4120896"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58640"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23232"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323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4614672"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Meaning</a:t>
            </a:r>
          </a:p>
        </p:txBody>
      </p:sp>
      <p:cxnSp>
        <p:nvCxnSpPr>
          <p:cNvPr id="19" name="Connector 18"/>
          <p:cNvCxnSpPr/>
          <p:nvPr/>
        </p:nvCxnSpPr>
        <p:spPr>
          <a:xfrm>
            <a:off x="5989320"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6483096"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Mechanism</a:t>
            </a:r>
          </a:p>
        </p:txBody>
      </p:sp>
      <p:cxnSp>
        <p:nvCxnSpPr>
          <p:cNvPr id="24" name="Connector 23"/>
          <p:cNvCxnSpPr/>
          <p:nvPr/>
        </p:nvCxnSpPr>
        <p:spPr>
          <a:xfrm>
            <a:off x="7857744"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095488"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60080"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8351520"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Feedback</a:t>
            </a:r>
          </a:p>
        </p:txBody>
      </p:sp>
      <p:cxnSp>
        <p:nvCxnSpPr>
          <p:cNvPr id="29" name="Connector 28"/>
          <p:cNvCxnSpPr/>
          <p:nvPr/>
        </p:nvCxnSpPr>
        <p:spPr>
          <a:xfrm>
            <a:off x="9726168"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963912"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28504"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850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6</a:t>
            </a:r>
          </a:p>
        </p:txBody>
      </p:sp>
      <p:sp>
        <p:nvSpPr>
          <p:cNvPr id="33" name="TextBox 32"/>
          <p:cNvSpPr txBox="1"/>
          <p:nvPr/>
        </p:nvSpPr>
        <p:spPr>
          <a:xfrm>
            <a:off x="10219944"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Measure</a:t>
            </a:r>
          </a:p>
        </p:txBody>
      </p:sp>
      <p:sp>
        <p:nvSpPr>
          <p:cNvPr id="34" name="TextBox 33"/>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5" name="TextBox 34"/>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136</a:t>
            </a:r>
          </a:p>
        </p:txBody>
      </p:sp>
    </p:spTree>
  </p:cSld>
  <p:clrMapOvr>
    <a:masterClrMapping/>
  </p:clrMapOvr>
  <p:transition spd="slow">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COURSE SUMMARY</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What You Achieved</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EVALUATE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Diagnose communication practice with evidence and benchmarks.</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DESIGN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Build outcome-led plans for distinct audiences.</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REPAIR</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Address barriers with calm, clarity and respect.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COACH</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Turn feedback into rehearsed workplace behaviour.</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137</a:t>
            </a:r>
          </a:p>
        </p:txBody>
      </p:sp>
    </p:spTree>
  </p:cSld>
  <p:clrMapOvr>
    <a:masterClrMapping/>
  </p:clrMapOvr>
  <p:transition spd="slow">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FINAL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The customer hears the echo of every internal conversation.</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Build collaboration upstream, and satisfaction becomes easier to deliver downstream.</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138</a:t>
            </a:r>
          </a:p>
        </p:txBody>
      </p:sp>
    </p:spTree>
  </p:cSld>
  <p:clrMapOvr>
    <a:masterClrMapping/>
  </p:clrMapOvr>
  <p:transition spd="slow">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LEARNER PORTAL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Courseware and Assessment on the LMS</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Download the learner slides, Learner Guide and activity pack</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Complete the WA and Case Study using the approved materials</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Upload the completed documents to the LMS</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https://lms-tms.tertiaryinfotech.com/</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139</a:t>
            </a:r>
          </a:p>
        </p:txBody>
      </p:sp>
    </p:spTree>
  </p:cSld>
  <p:clrMapOvr>
    <a:masterClrMapping/>
  </p:clrMapOvr>
  <p:transition spd="slow">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FINAL REMINDER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WA | 1 HOUR</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Open-ended knowledge questions K1-K5.</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CASE STUDY | 1 HOUR</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Integrated application questions A1-A3.</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SUBMIT</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Assessment attendance, LMS upload, and summary-record signature.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140</a:t>
            </a:r>
          </a:p>
        </p:txBody>
      </p:sp>
    </p:spTree>
  </p:cSld>
  <p:clrMapOvr>
    <a:masterClrMapping/>
  </p:clrMapOvr>
  <p:transition spd="slow">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FINAL ASSESSMENT PROCESS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Flow</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TRAQOM</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Assessment attendance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WA then CS</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Submit on LMS</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Sign summary record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141</a:t>
            </a:r>
          </a:p>
        </p:txBody>
      </p:sp>
    </p:spTree>
  </p:cSld>
  <p:clrMapOvr>
    <a:masterClrMapping/>
  </p:clrMapOvr>
  <p:transition spd="slow">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TRAQOM · SSG</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Digital Attendance | Mandatory</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AM</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Morning attendance recorded.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PM</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Afternoon attendance recorded.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ASSESSMENT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Assessment attendance recorded separately.</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COMPLETE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Confirm submission with the trainer before leaving.</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142</a:t>
            </a:r>
          </a:p>
        </p:txBody>
      </p:sp>
    </p:spTree>
  </p:cSld>
  <p:clrMapOvr>
    <a:masterClrMapping/>
  </p:clrMapOvr>
  <p:transition spd="slow">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188720"/>
            <a:ext cx="10789920" cy="914400"/>
          </a:xfrm>
          <a:prstGeom prst="rect">
            <a:avLst/>
          </a:prstGeom>
          <a:noFill/>
        </p:spPr>
        <p:txBody>
          <a:bodyPr wrap="square" lIns="54864" rIns="54864" tIns="54864" bIns="54864" anchor="t">
            <a:spAutoFit/>
          </a:bodyPr>
          <a:lstStyle/>
          <a:p>
            <a:pPr algn="ctr"/>
            <a:r>
              <a:rPr sz="4800" b="1" i="0">
                <a:solidFill>
                  <a:srgbClr val="FFFFFF"/>
                </a:solidFill>
                <a:latin typeface="Arial"/>
              </a:rPr>
              <a:t>Thank You</a:t>
            </a:r>
          </a:p>
        </p:txBody>
      </p:sp>
      <p:sp>
        <p:nvSpPr>
          <p:cNvPr id="4" name="TextBox 3"/>
          <p:cNvSpPr txBox="1"/>
          <p:nvPr/>
        </p:nvSpPr>
        <p:spPr>
          <a:xfrm>
            <a:off x="1097280" y="2423160"/>
            <a:ext cx="9966960" cy="1097280"/>
          </a:xfrm>
          <a:prstGeom prst="rect">
            <a:avLst/>
          </a:prstGeom>
          <a:noFill/>
        </p:spPr>
        <p:txBody>
          <a:bodyPr wrap="square" lIns="54864" rIns="54864" tIns="54864" bIns="54864" anchor="t">
            <a:spAutoFit/>
          </a:bodyPr>
          <a:lstStyle/>
          <a:p>
            <a:pPr algn="ctr"/>
            <a:r>
              <a:rPr sz="2500" b="1" i="0">
                <a:solidFill>
                  <a:srgbClr val="6DDAD7"/>
                </a:solidFill>
                <a:latin typeface="Arial"/>
              </a:rPr>
              <a:t>Speak with clarity. Listen for meaning. Close the loop.</a:t>
            </a:r>
          </a:p>
        </p:txBody>
      </p:sp>
      <p:sp>
        <p:nvSpPr>
          <p:cNvPr id="5" name="TextBox 4"/>
          <p:cNvSpPr txBox="1"/>
          <p:nvPr/>
        </p:nvSpPr>
        <p:spPr>
          <a:xfrm>
            <a:off x="1097280" y="4160520"/>
            <a:ext cx="9966960" cy="685800"/>
          </a:xfrm>
          <a:prstGeom prst="rect">
            <a:avLst/>
          </a:prstGeom>
          <a:noFill/>
        </p:spPr>
        <p:txBody>
          <a:bodyPr wrap="square" lIns="54864" rIns="54864" tIns="54864" bIns="54864" anchor="t">
            <a:spAutoFit/>
          </a:bodyPr>
          <a:lstStyle/>
          <a:p>
            <a:pPr algn="ctr"/>
            <a:r>
              <a:rPr sz="1400" b="0" i="0">
                <a:solidFill>
                  <a:srgbClr val="D7E0EA"/>
                </a:solidFill>
                <a:latin typeface="Arial"/>
              </a:rPr>
              <a:t>enquiry@tertiaryinfotech.com | +65 6100 0613 | www.tertiarycourses.com.sg</a:t>
            </a:r>
          </a:p>
        </p:txBody>
      </p:sp>
      <p:sp>
        <p:nvSpPr>
          <p:cNvPr id="6" name="TextBox 5"/>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Mastering the Art of Communication to Enhance Team Collaboration and Customer Satisfaction | TGS-2023037467 | © Tertiary Infotech Academy Pte Ltd</a:t>
            </a:r>
          </a:p>
        </p:txBody>
      </p:sp>
      <p:sp>
        <p:nvSpPr>
          <p:cNvPr id="7" name="TextBox 6"/>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143</a:t>
            </a:r>
          </a:p>
        </p:txBody>
      </p:sp>
    </p:spTree>
  </p:cSld>
  <p:clrMapOvr>
    <a:masterClrMapping/>
  </p:clrMapOvr>
  <p:transition spd="slow">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COURSE PORTAL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Login to LMS and Download Course Material</a:t>
            </a:r>
          </a:p>
        </p:txBody>
      </p:sp>
      <p:sp>
        <p:nvSpPr>
          <p:cNvPr id="15" name="TextBox 14"/>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the Art of Communication to Enhance Team Collaboration and Customer Satisfaction | TGS-2023037467 | © Tertiary Infotech Academy Pte Ltd</a:t>
            </a:r>
          </a:p>
        </p:txBody>
      </p:sp>
      <p:sp>
        <p:nvSpPr>
          <p:cNvPr id="16" name="TextBox 15"/>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15</a:t>
            </a:r>
          </a:p>
        </p:txBody>
      </p:sp>
      <p:pic>
        <p:nvPicPr>
          <p:cNvPr id="17" name="Picture 16" descr="ref_login.png"/>
          <p:cNvPicPr>
            <a:picLocks noChangeAspect="1"/>
          </p:cNvPicPr>
          <p:nvPr/>
        </p:nvPicPr>
        <p:blipFill>
          <a:blip r:embed="rId3"/>
          <a:stretch>
            <a:fillRect/>
          </a:stretch>
        </p:blipFill>
        <p:spPr>
          <a:xfrm>
            <a:off x="1900635" y="1668780"/>
            <a:ext cx="8390424" cy="4174236"/>
          </a:xfrm>
          <a:prstGeom prst="rect">
            <a:avLst/>
          </a:prstGeom>
          <a:ln w="12700">
            <a:solidFill>
              <a:srgbClr val="E2E8F0"/>
            </a:solidFill>
          </a:ln>
        </p:spPr>
      </p:pic>
      <p:sp>
        <p:nvSpPr>
          <p:cNvPr id="18" name="TextBox 17"/>
          <p:cNvSpPr txBox="1"/>
          <p:nvPr/>
        </p:nvSpPr>
        <p:spPr>
          <a:xfrm>
            <a:off x="609584" y="5925312"/>
            <a:ext cx="10972527"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